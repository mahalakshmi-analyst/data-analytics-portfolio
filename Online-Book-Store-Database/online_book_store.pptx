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88" r:id="rId4"/>
    <p:sldId id="285" r:id="rId5"/>
    <p:sldId id="274" r:id="rId6"/>
    <p:sldId id="257" r:id="rId7"/>
    <p:sldId id="258" r:id="rId8"/>
    <p:sldId id="279" r:id="rId9"/>
    <p:sldId id="281" r:id="rId10"/>
    <p:sldId id="275" r:id="rId11"/>
    <p:sldId id="264" r:id="rId12"/>
    <p:sldId id="282" r:id="rId13"/>
    <p:sldId id="280" r:id="rId14"/>
    <p:sldId id="276" r:id="rId15"/>
    <p:sldId id="267" r:id="rId16"/>
    <p:sldId id="266" r:id="rId17"/>
    <p:sldId id="278" r:id="rId18"/>
    <p:sldId id="277" r:id="rId19"/>
    <p:sldId id="269" r:id="rId20"/>
    <p:sldId id="270" r:id="rId21"/>
    <p:sldId id="271" r:id="rId22"/>
    <p:sldId id="287" r:id="rId23"/>
    <p:sldId id="286" r:id="rId24"/>
    <p:sldId id="28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09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56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35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3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95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19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167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31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00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049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855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316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2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605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033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607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091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1565C3C-0386-4F35-890D-D7651FCAA9DE}" type="datetimeFigureOut">
              <a:rPr lang="en-IN" smtClean="0"/>
              <a:t>02-07-2026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05BD62-64AA-454E-9B2E-09BFFD4C40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69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Excel_Worksheet7.xlsx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9EB2-F8DB-A58E-462D-F94E0138C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Online Book Store Database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A3749-22B5-9C80-2ADE-7112B2541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946277" cy="1648921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latin typeface="Aptos Narrow" panose="020B0004020202020204" pitchFamily="34" charset="0"/>
              </a:rPr>
              <a:t>By : Mahalakshmi</a:t>
            </a:r>
          </a:p>
          <a:p>
            <a:pPr algn="l"/>
            <a:r>
              <a:rPr lang="en-US" sz="1800" dirty="0">
                <a:latin typeface="Aptos Narrow" panose="020B0004020202020204" pitchFamily="34" charset="0"/>
              </a:rPr>
              <a:t>Course  : Managing and Querying Database</a:t>
            </a:r>
          </a:p>
          <a:p>
            <a:pPr algn="l"/>
            <a:r>
              <a:rPr lang="en-US" sz="1800" dirty="0">
                <a:latin typeface="Aptos Narrow" panose="020B0004020202020204" pitchFamily="34" charset="0"/>
              </a:rPr>
              <a:t>Batch Code: DA644S64</a:t>
            </a:r>
          </a:p>
          <a:p>
            <a:pPr algn="l"/>
            <a:r>
              <a:rPr lang="en-US" sz="1800" dirty="0">
                <a:latin typeface="Aptos Narrow" panose="020B0004020202020204" pitchFamily="34" charset="0"/>
              </a:rPr>
              <a:t>Project Guide: Priya Shanmugam </a:t>
            </a:r>
          </a:p>
          <a:p>
            <a:pPr algn="l"/>
            <a:endParaRPr lang="en-US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31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E8FBA2-D654-993A-9CE7-F4A9CA9D0CD0}"/>
              </a:ext>
            </a:extLst>
          </p:cNvPr>
          <p:cNvSpPr txBox="1"/>
          <p:nvPr/>
        </p:nvSpPr>
        <p:spPr>
          <a:xfrm>
            <a:off x="999832" y="914400"/>
            <a:ext cx="4103110" cy="5847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1" dirty="0"/>
              <a:t>Problem Statement :</a:t>
            </a:r>
            <a:endParaRPr lang="en-IN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BA1BA5-6D53-E264-210D-732518FBB1F4}"/>
              </a:ext>
            </a:extLst>
          </p:cNvPr>
          <p:cNvSpPr txBox="1"/>
          <p:nvPr/>
        </p:nvSpPr>
        <p:spPr>
          <a:xfrm>
            <a:off x="1248697" y="2104102"/>
            <a:ext cx="86917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There is no easy system that helps customers buy books online while allowing store owners to manage stock, orders, and coupons smoothly . This project solves the problem by building an organized and automated online book store database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270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D83F1F-7137-E754-D814-D8B420DDF7EF}"/>
              </a:ext>
            </a:extLst>
          </p:cNvPr>
          <p:cNvSpPr txBox="1"/>
          <p:nvPr/>
        </p:nvSpPr>
        <p:spPr>
          <a:xfrm>
            <a:off x="654571" y="1270255"/>
            <a:ext cx="5086662" cy="49215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Database Name : online_book_store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Total Components:</a:t>
            </a:r>
          </a:p>
          <a:p>
            <a:r>
              <a:rPr lang="en-IN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15 Tables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Platform used : MySQL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15 Analytical Queries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4 Stored Procedures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2  Triggers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 1 Scheduled Event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1 Temporary Table Task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FBAC4-8679-F63F-F4D7-F3AE3BB9D4B0}"/>
              </a:ext>
            </a:extLst>
          </p:cNvPr>
          <p:cNvSpPr txBox="1"/>
          <p:nvPr/>
        </p:nvSpPr>
        <p:spPr>
          <a:xfrm>
            <a:off x="654571" y="808590"/>
            <a:ext cx="5671279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N" sz="2400" b="1" dirty="0"/>
              <a:t>  Project Components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142C9B-F110-AB98-DFE3-AD43E14CB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029" y="659242"/>
            <a:ext cx="6446609" cy="556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49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13D46C-5A5D-A925-CD86-7EFF600BC3DD}"/>
              </a:ext>
            </a:extLst>
          </p:cNvPr>
          <p:cNvSpPr txBox="1"/>
          <p:nvPr/>
        </p:nvSpPr>
        <p:spPr>
          <a:xfrm>
            <a:off x="669561" y="1708879"/>
            <a:ext cx="542643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Top Customers by spending and purchases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City-Wise Buyer Audience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Top-Rated Book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Most Used Coupon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the Most Cart-Added Book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 the Lowest Stock Book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Most Reviewed Books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400" b="1" dirty="0">
                <a:latin typeface="Arial" panose="020B0604020202020204" pitchFamily="34" charset="0"/>
              </a:rPr>
              <a:t>Analyze Payment Method Usage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400" b="1" dirty="0">
                <a:latin typeface="Arial" panose="020B0604020202020204" pitchFamily="34" charset="0"/>
              </a:rPr>
              <a:t>Summarize Customer Activity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400" b="1" dirty="0">
                <a:latin typeface="Arial" panose="020B0604020202020204" pitchFamily="34" charset="0"/>
              </a:rPr>
              <a:t>Simplify Order Creation</a:t>
            </a:r>
            <a:r>
              <a:rPr lang="en-US" altLang="en-US" sz="1400" dirty="0">
                <a:latin typeface="Arial" panose="020B0604020202020204" pitchFamily="34" charset="0"/>
              </a:rPr>
              <a:t> using a </a:t>
            </a:r>
            <a:r>
              <a:rPr lang="en-US" altLang="en-US" sz="1400" b="1" dirty="0">
                <a:latin typeface="Arial" panose="020B0604020202020204" pitchFamily="34" charset="0"/>
              </a:rPr>
              <a:t>Stored Procedure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2E9DB-B60B-90A5-46FA-AFB5DF20F09C}"/>
              </a:ext>
            </a:extLst>
          </p:cNvPr>
          <p:cNvSpPr txBox="1"/>
          <p:nvPr/>
        </p:nvSpPr>
        <p:spPr>
          <a:xfrm>
            <a:off x="5736236" y="1915712"/>
            <a:ext cx="564129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Most Wish listed Books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Category-Wise Revenue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Best-Selling Books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Customer Order History Overview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Mark Expired Coupons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daily using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Scheduled Event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Reduce Book Stock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orders using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Temporary Sales Reports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Temporary Tables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Successful User Logins Automatically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FAC7E-EABE-61AF-AF08-6340FE8DE236}"/>
              </a:ext>
            </a:extLst>
          </p:cNvPr>
          <p:cNvSpPr txBox="1"/>
          <p:nvPr/>
        </p:nvSpPr>
        <p:spPr>
          <a:xfrm>
            <a:off x="5231568" y="886416"/>
            <a:ext cx="2638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OBJECTIVES</a:t>
            </a:r>
            <a:r>
              <a:rPr lang="en-US" sz="1800" b="1" dirty="0"/>
              <a:t> 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61180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CADE041-A5CA-7AF8-7948-BC9644AD80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888998"/>
              </p:ext>
            </p:extLst>
          </p:nvPr>
        </p:nvGraphicFramePr>
        <p:xfrm>
          <a:off x="994972" y="952500"/>
          <a:ext cx="4129478" cy="5067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38203" imgH="2295381" progId="Excel.Sheet.12">
                  <p:embed/>
                </p:oleObj>
              </mc:Choice>
              <mc:Fallback>
                <p:oleObj name="Worksheet" r:id="rId2" imgW="1838203" imgH="22953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4972" y="952500"/>
                        <a:ext cx="4129478" cy="5067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15E54EE-764F-17CF-9069-92AFFDAE888D}"/>
              </a:ext>
            </a:extLst>
          </p:cNvPr>
          <p:cNvSpPr txBox="1"/>
          <p:nvPr/>
        </p:nvSpPr>
        <p:spPr>
          <a:xfrm>
            <a:off x="5917520" y="838201"/>
            <a:ext cx="4702855" cy="9541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Top Customers: Spending &amp; Purchases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0CF33-B650-47EE-6A05-7C3C88A3035F}"/>
              </a:ext>
            </a:extLst>
          </p:cNvPr>
          <p:cNvSpPr txBox="1"/>
          <p:nvPr/>
        </p:nvSpPr>
        <p:spPr>
          <a:xfrm>
            <a:off x="6367225" y="2323474"/>
            <a:ext cx="437712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Rajesh Kumar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highest-spending user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orders totaling 14,096.88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Ananya Reddy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Vikram Singh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 with strong spending and activity.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top users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active cart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wish lists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consistent engagement.</a:t>
            </a:r>
          </a:p>
        </p:txBody>
      </p:sp>
    </p:spTree>
    <p:extLst>
      <p:ext uri="{BB962C8B-B14F-4D97-AF65-F5344CB8AC3E}">
        <p14:creationId xmlns:p14="http://schemas.microsoft.com/office/powerpoint/2010/main" val="2219038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61FE332-A425-0189-99D2-C712702D6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74621"/>
              </p:ext>
            </p:extLst>
          </p:nvPr>
        </p:nvGraphicFramePr>
        <p:xfrm>
          <a:off x="786581" y="1184223"/>
          <a:ext cx="4909456" cy="478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000086" imgH="1352364" progId="Excel.Sheet.12">
                  <p:embed/>
                </p:oleObj>
              </mc:Choice>
              <mc:Fallback>
                <p:oleObj name="Worksheet" r:id="rId2" imgW="2000086" imgH="135236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6581" y="1184223"/>
                        <a:ext cx="4909456" cy="4781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AD4CB6E-78AE-818A-06C3-1FBB7F5A708C}"/>
              </a:ext>
            </a:extLst>
          </p:cNvPr>
          <p:cNvSpPr txBox="1"/>
          <p:nvPr/>
        </p:nvSpPr>
        <p:spPr>
          <a:xfrm>
            <a:off x="6278075" y="1396881"/>
            <a:ext cx="4909456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Cities with the Most Buyers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AEE4D-C867-F20F-D310-224DBA307C9A}"/>
              </a:ext>
            </a:extLst>
          </p:cNvPr>
          <p:cNvSpPr txBox="1"/>
          <p:nvPr/>
        </p:nvSpPr>
        <p:spPr>
          <a:xfrm>
            <a:off x="6495965" y="2559491"/>
            <a:ext cx="44736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Mumbai (3)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Ahmedabad (3)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top cities by customer count.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Bangalore (2)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next.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locations indicate where most of the customers come from.</a:t>
            </a:r>
          </a:p>
        </p:txBody>
      </p:sp>
    </p:spTree>
    <p:extLst>
      <p:ext uri="{BB962C8B-B14F-4D97-AF65-F5344CB8AC3E}">
        <p14:creationId xmlns:p14="http://schemas.microsoft.com/office/powerpoint/2010/main" val="260936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5BEA8EA-00D6-59F0-1F6F-ED22DDA94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048296"/>
              </p:ext>
            </p:extLst>
          </p:nvPr>
        </p:nvGraphicFramePr>
        <p:xfrm>
          <a:off x="1001487" y="1625601"/>
          <a:ext cx="4339770" cy="4195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000086" imgH="1914460" progId="Excel.Sheet.12">
                  <p:embed/>
                </p:oleObj>
              </mc:Choice>
              <mc:Fallback>
                <p:oleObj name="Worksheet" r:id="rId2" imgW="2000086" imgH="1914460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661036-A6AB-37FE-1FBA-296B200134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1487" y="1625601"/>
                        <a:ext cx="4339770" cy="4195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BD66D4-32C4-77F5-FF02-723BD49C1839}"/>
              </a:ext>
            </a:extLst>
          </p:cNvPr>
          <p:cNvSpPr txBox="1"/>
          <p:nvPr/>
        </p:nvSpPr>
        <p:spPr>
          <a:xfrm>
            <a:off x="6850745" y="1180379"/>
            <a:ext cx="3185373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Top-Rated Book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08CA9-8C85-DF57-22C1-4D4DD9A39E34}"/>
              </a:ext>
            </a:extLst>
          </p:cNvPr>
          <p:cNvSpPr txBox="1"/>
          <p:nvPr/>
        </p:nvSpPr>
        <p:spPr>
          <a:xfrm>
            <a:off x="6096000" y="2292079"/>
            <a:ext cx="44670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Midnight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highest average rating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showing strong reader appreciation.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Harry Potter and the Philosopher’s Stone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with an average rating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4.67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Educated: A Memoir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comes next with a strong rating as well.</a:t>
            </a:r>
          </a:p>
        </p:txBody>
      </p:sp>
    </p:spTree>
    <p:extLst>
      <p:ext uri="{BB962C8B-B14F-4D97-AF65-F5344CB8AC3E}">
        <p14:creationId xmlns:p14="http://schemas.microsoft.com/office/powerpoint/2010/main" val="186323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5EE83AE-6484-54FE-AE24-ACC393786E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839107"/>
              </p:ext>
            </p:extLst>
          </p:nvPr>
        </p:nvGraphicFramePr>
        <p:xfrm>
          <a:off x="1024327" y="1016000"/>
          <a:ext cx="5071673" cy="4823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429000" imgH="2295381" progId="Excel.Sheet.12">
                  <p:embed/>
                </p:oleObj>
              </mc:Choice>
              <mc:Fallback>
                <p:oleObj name="Worksheet" r:id="rId2" imgW="2429000" imgH="2295381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888CD00-BD86-88F1-18A5-8DC23A517D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4327" y="1016000"/>
                        <a:ext cx="5071673" cy="48232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CF2A81-7EBA-DDD0-9E01-92A915A3A0F5}"/>
              </a:ext>
            </a:extLst>
          </p:cNvPr>
          <p:cNvSpPr txBox="1"/>
          <p:nvPr/>
        </p:nvSpPr>
        <p:spPr>
          <a:xfrm>
            <a:off x="7088684" y="1560317"/>
            <a:ext cx="3209559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Most Used Coupon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5E26B-A046-A0A5-3899-4CCCFC838055}"/>
              </a:ext>
            </a:extLst>
          </p:cNvPr>
          <p:cNvSpPr txBox="1"/>
          <p:nvPr/>
        </p:nvSpPr>
        <p:spPr>
          <a:xfrm>
            <a:off x="6908801" y="2742962"/>
            <a:ext cx="40789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WELCOME10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most-used coupon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uses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BOOK15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next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uses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SAVE20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uses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these coupons were also popular.</a:t>
            </a:r>
          </a:p>
        </p:txBody>
      </p:sp>
    </p:spTree>
    <p:extLst>
      <p:ext uri="{BB962C8B-B14F-4D97-AF65-F5344CB8AC3E}">
        <p14:creationId xmlns:p14="http://schemas.microsoft.com/office/powerpoint/2010/main" val="253094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E38D0A7-E610-2560-8644-872AF612B9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20740"/>
              </p:ext>
            </p:extLst>
          </p:nvPr>
        </p:nvGraphicFramePr>
        <p:xfrm>
          <a:off x="876300" y="1285875"/>
          <a:ext cx="4635500" cy="434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019335" imgH="2202377" progId="Excel.Sheet.12">
                  <p:embed/>
                </p:oleObj>
              </mc:Choice>
              <mc:Fallback>
                <p:oleObj name="Worksheet" r:id="rId2" imgW="2019335" imgH="2202377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C8A9E9C-4A0D-D95C-F555-9D32182361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6300" y="1285875"/>
                        <a:ext cx="4635500" cy="434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82E1C3-112F-BAA6-0A79-7C9103F5FF20}"/>
              </a:ext>
            </a:extLst>
          </p:cNvPr>
          <p:cNvSpPr txBox="1"/>
          <p:nvPr/>
        </p:nvSpPr>
        <p:spPr>
          <a:xfrm>
            <a:off x="6680202" y="1285875"/>
            <a:ext cx="3711509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Top Cart-Added Book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F94F6-6A3A-CB29-A480-F5B74569CFF9}"/>
              </a:ext>
            </a:extLst>
          </p:cNvPr>
          <p:cNvSpPr txBox="1"/>
          <p:nvPr/>
        </p:nvSpPr>
        <p:spPr>
          <a:xfrm>
            <a:off x="6301921" y="2179799"/>
            <a:ext cx="46355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Sapiens: A Brief History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most added-to-cart book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adds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following books were each added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times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Midnight Library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Atomic Habits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Psychology of Money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Educated: A Memoir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titles show strong buying interest from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379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C789D0D-F906-7B54-94F6-103FEE256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187188"/>
              </p:ext>
            </p:extLst>
          </p:nvPr>
        </p:nvGraphicFramePr>
        <p:xfrm>
          <a:off x="990599" y="1027907"/>
          <a:ext cx="4960496" cy="4953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762179" imgH="1533539" progId="Excel.Sheet.12">
                  <p:embed/>
                </p:oleObj>
              </mc:Choice>
              <mc:Fallback>
                <p:oleObj name="Worksheet" r:id="rId2" imgW="1762179" imgH="15335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0599" y="1027907"/>
                        <a:ext cx="4960496" cy="4953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1EF949A-48DD-1CBD-A741-46BBCDC2F1F0}"/>
              </a:ext>
            </a:extLst>
          </p:cNvPr>
          <p:cNvSpPr txBox="1"/>
          <p:nvPr/>
        </p:nvSpPr>
        <p:spPr>
          <a:xfrm>
            <a:off x="7027559" y="1444859"/>
            <a:ext cx="3137941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Lowest Stock Book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30268-6DAB-8E5F-5F23-76051E7B7E2C}"/>
              </a:ext>
            </a:extLst>
          </p:cNvPr>
          <p:cNvSpPr txBox="1"/>
          <p:nvPr/>
        </p:nvSpPr>
        <p:spPr>
          <a:xfrm>
            <a:off x="6680615" y="2420990"/>
            <a:ext cx="44014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Atomic Habits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lowest stock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copies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left.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Harry Potter and the Philosopher’s Stone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copies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Midnight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copies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left.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books may need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restocking soon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805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5F72461-C24A-8224-010D-E359A8FC91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503095"/>
              </p:ext>
            </p:extLst>
          </p:nvPr>
        </p:nvGraphicFramePr>
        <p:xfrm>
          <a:off x="876300" y="1181100"/>
          <a:ext cx="4400549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590840" imgH="1724189" progId="Excel.Sheet.12">
                  <p:embed/>
                </p:oleObj>
              </mc:Choice>
              <mc:Fallback>
                <p:oleObj name="Worksheet" r:id="rId2" imgW="1590840" imgH="1724189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87BA702-D64B-14D8-963A-8C31A7344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6300" y="1181100"/>
                        <a:ext cx="4400549" cy="449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7A3DA3-8985-2367-F1CF-92E535BC4211}"/>
              </a:ext>
            </a:extLst>
          </p:cNvPr>
          <p:cNvSpPr txBox="1"/>
          <p:nvPr/>
        </p:nvSpPr>
        <p:spPr>
          <a:xfrm>
            <a:off x="7105338" y="1181100"/>
            <a:ext cx="3573102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Top Reviewed 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BDD1D-39F8-8903-9BA9-94EA809476F0}"/>
              </a:ext>
            </a:extLst>
          </p:cNvPr>
          <p:cNvSpPr txBox="1"/>
          <p:nvPr/>
        </p:nvSpPr>
        <p:spPr>
          <a:xfrm>
            <a:off x="7105338" y="2338227"/>
            <a:ext cx="40923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Harry Potter and the Philosopher’s Stone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most reviews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Midnight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Educated: A Memoir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books show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reader engagement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95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594E1C4-7DEE-B99A-D126-7A69DCB68B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782243"/>
              </p:ext>
            </p:extLst>
          </p:nvPr>
        </p:nvGraphicFramePr>
        <p:xfrm>
          <a:off x="876300" y="876300"/>
          <a:ext cx="5473700" cy="464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398591" imgH="2384878" progId="Excel.Sheet.12">
                  <p:embed/>
                </p:oleObj>
              </mc:Choice>
              <mc:Fallback>
                <p:oleObj name="Worksheet" r:id="rId2" imgW="3398591" imgH="2384878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CA2A75A-261F-3743-A37C-B445F5C706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6300" y="876300"/>
                        <a:ext cx="5473700" cy="4649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ACFDC19-ACEE-202F-795C-0A173156707E}"/>
              </a:ext>
            </a:extLst>
          </p:cNvPr>
          <p:cNvSpPr txBox="1"/>
          <p:nvPr/>
        </p:nvSpPr>
        <p:spPr>
          <a:xfrm>
            <a:off x="7453391" y="1089094"/>
            <a:ext cx="3084695" cy="9541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Payment Method Frequency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DFE36-A634-FB6E-9013-CF18E5C807CA}"/>
              </a:ext>
            </a:extLst>
          </p:cNvPr>
          <p:cNvSpPr txBox="1"/>
          <p:nvPr/>
        </p:nvSpPr>
        <p:spPr>
          <a:xfrm>
            <a:off x="6746276" y="2386767"/>
            <a:ext cx="476687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Harry Potter and the Philosopher’s Stone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most reviews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Midnight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Educated: A Memoir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books show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reader engagement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501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ECAF143-DD19-2318-00A5-0C11B39D3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162915"/>
              </p:ext>
            </p:extLst>
          </p:nvPr>
        </p:nvGraphicFramePr>
        <p:xfrm>
          <a:off x="1104900" y="952500"/>
          <a:ext cx="5325880" cy="5193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42973" imgH="2866952" progId="Excel.Sheet.12">
                  <p:embed/>
                </p:oleObj>
              </mc:Choice>
              <mc:Fallback>
                <p:oleObj name="Worksheet" r:id="rId2" imgW="1942973" imgH="2866952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A657D3D-5154-DD0D-FBAD-E01A76F2A4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4900" y="952500"/>
                        <a:ext cx="5325880" cy="51934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E1B529-24DF-BA1D-705E-98F2561354B8}"/>
              </a:ext>
            </a:extLst>
          </p:cNvPr>
          <p:cNvSpPr txBox="1"/>
          <p:nvPr/>
        </p:nvSpPr>
        <p:spPr>
          <a:xfrm>
            <a:off x="7496020" y="952500"/>
            <a:ext cx="3132005" cy="9541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Most Wish listed books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3AABD-BBD4-C7EE-6EFD-A87FD420D545}"/>
              </a:ext>
            </a:extLst>
          </p:cNvPr>
          <p:cNvSpPr txBox="1"/>
          <p:nvPr/>
        </p:nvSpPr>
        <p:spPr>
          <a:xfrm>
            <a:off x="6686552" y="2251873"/>
            <a:ext cx="47509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Becoming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highest Wishlist count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adds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Steve Jobs Biography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adds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Harry Potter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Hobbit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adds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titles are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wanted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users.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512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2F1D7F3-304D-CC01-6A69-7CA8CDEC8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848670"/>
              </p:ext>
            </p:extLst>
          </p:nvPr>
        </p:nvGraphicFramePr>
        <p:xfrm>
          <a:off x="828674" y="869950"/>
          <a:ext cx="7465881" cy="523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28295" imgH="2560130" progId="Excel.Sheet.12">
                  <p:embed/>
                </p:oleObj>
              </mc:Choice>
              <mc:Fallback>
                <p:oleObj name="Worksheet" r:id="rId2" imgW="5128295" imgH="256013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8674" y="869950"/>
                        <a:ext cx="7465881" cy="5230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D4921F4-B78E-6DD5-AD68-C9E5F09B3837}"/>
              </a:ext>
            </a:extLst>
          </p:cNvPr>
          <p:cNvSpPr txBox="1"/>
          <p:nvPr/>
        </p:nvSpPr>
        <p:spPr>
          <a:xfrm>
            <a:off x="8448503" y="757937"/>
            <a:ext cx="2914992" cy="9541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Customer Activity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80359-EF6F-2AB1-D145-E2047827A92C}"/>
              </a:ext>
            </a:extLst>
          </p:cNvPr>
          <p:cNvSpPr txBox="1"/>
          <p:nvPr/>
        </p:nvSpPr>
        <p:spPr>
          <a:xfrm>
            <a:off x="8294556" y="1957039"/>
            <a:ext cx="322288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Rajesh Kumar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highest-spending user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orders totaling 14,096.88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Ananya Reddy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Vikram Singh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 with strong spending and activity.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top users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active cart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wish lists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consistent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531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162392D-8BD5-A328-976D-73385EF1C0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556684"/>
              </p:ext>
            </p:extLst>
          </p:nvPr>
        </p:nvGraphicFramePr>
        <p:xfrm>
          <a:off x="790575" y="749300"/>
          <a:ext cx="5622925" cy="527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887803" imgH="3291840" progId="Excel.Sheet.12">
                  <p:embed/>
                </p:oleObj>
              </mc:Choice>
              <mc:Fallback>
                <p:oleObj name="Worksheet" r:id="rId2" imgW="2887803" imgH="3291840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C548B86-7E35-4A64-AB16-36DF19958E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0575" y="749300"/>
                        <a:ext cx="5622925" cy="527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04FB0D8-A786-19E2-D3CD-4DEA779DE1C8}"/>
              </a:ext>
            </a:extLst>
          </p:cNvPr>
          <p:cNvSpPr txBox="1"/>
          <p:nvPr/>
        </p:nvSpPr>
        <p:spPr>
          <a:xfrm>
            <a:off x="7562169" y="954705"/>
            <a:ext cx="3192917" cy="1077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3600" b="1" dirty="0"/>
              <a:t>Category-wise </a:t>
            </a:r>
            <a:r>
              <a:rPr lang="en-IN" sz="2800" b="1" dirty="0"/>
              <a:t>Revenue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271B5-0723-CE4D-EF25-EFB831BB6199}"/>
              </a:ext>
            </a:extLst>
          </p:cNvPr>
          <p:cNvSpPr txBox="1"/>
          <p:nvPr/>
        </p:nvSpPr>
        <p:spPr>
          <a:xfrm>
            <a:off x="7269866" y="2480952"/>
            <a:ext cx="377752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top-performing category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29 books sold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13,898.37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 Literature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Mystery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 with strong sales and revenue.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categories generate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income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19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F18F6D8-8EB7-80F1-B41D-2F634CA64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695862"/>
              </p:ext>
            </p:extLst>
          </p:nvPr>
        </p:nvGraphicFramePr>
        <p:xfrm>
          <a:off x="762000" y="754063"/>
          <a:ext cx="5923613" cy="5391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659415" imgH="2758408" progId="Excel.Sheet.12">
                  <p:embed/>
                </p:oleObj>
              </mc:Choice>
              <mc:Fallback>
                <p:oleObj name="Worksheet" r:id="rId2" imgW="2659415" imgH="275840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3070AF1-16EE-03A8-F7FD-45A534066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754063"/>
                        <a:ext cx="5923613" cy="5391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B23F3BA-047F-EE03-853E-519FB1C97044}"/>
              </a:ext>
            </a:extLst>
          </p:cNvPr>
          <p:cNvSpPr txBox="1"/>
          <p:nvPr/>
        </p:nvSpPr>
        <p:spPr>
          <a:xfrm>
            <a:off x="7514713" y="923337"/>
            <a:ext cx="3078691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Best-Selling 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DEFE5-1F4F-003F-2FAE-70C43966FD29}"/>
              </a:ext>
            </a:extLst>
          </p:cNvPr>
          <p:cNvSpPr txBox="1"/>
          <p:nvPr/>
        </p:nvSpPr>
        <p:spPr>
          <a:xfrm>
            <a:off x="6940447" y="1995123"/>
            <a:ext cx="42272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Atomic Habits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best-selling title.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Midnight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next top seller.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Silent Patient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closely.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books show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demand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generate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044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9EAB2C-9F80-966A-3F44-CC81996F7449}"/>
              </a:ext>
            </a:extLst>
          </p:cNvPr>
          <p:cNvSpPr txBox="1"/>
          <p:nvPr/>
        </p:nvSpPr>
        <p:spPr>
          <a:xfrm>
            <a:off x="812018" y="1305341"/>
            <a:ext cx="611598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To automatically mark expired coupons as ‘Expired’ every day using a SCHEDULED EVENT. </a:t>
            </a:r>
          </a:p>
          <a:p>
            <a:endParaRPr lang="en-IN" sz="1800" dirty="0"/>
          </a:p>
          <a:p>
            <a:r>
              <a:rPr lang="en-IN" sz="2400" dirty="0"/>
              <a:t>CREATE EVENT update_expired_coupons</a:t>
            </a:r>
          </a:p>
          <a:p>
            <a:r>
              <a:rPr lang="en-IN" sz="2400" dirty="0"/>
              <a:t>ON SCHEDULE EVERY 1 DAY</a:t>
            </a:r>
          </a:p>
          <a:p>
            <a:r>
              <a:rPr lang="en-IN" sz="2400" dirty="0"/>
              <a:t>DO</a:t>
            </a:r>
          </a:p>
          <a:p>
            <a:r>
              <a:rPr lang="en-IN" sz="2400" dirty="0"/>
              <a:t>UPDATE coupons</a:t>
            </a:r>
          </a:p>
          <a:p>
            <a:r>
              <a:rPr lang="en-IN" sz="2400" dirty="0"/>
              <a:t>SET status = 'Expired'</a:t>
            </a:r>
          </a:p>
          <a:p>
            <a:r>
              <a:rPr lang="en-IN" sz="2400" dirty="0"/>
              <a:t>WHERE expiry date &lt; CURDATE();</a:t>
            </a:r>
          </a:p>
          <a:p>
            <a:endParaRPr lang="en-IN" sz="1800" b="1" dirty="0"/>
          </a:p>
          <a:p>
            <a:endParaRPr lang="en-IN" sz="1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C29387-C187-128E-230E-968CA112FDAE}"/>
              </a:ext>
            </a:extLst>
          </p:cNvPr>
          <p:cNvSpPr txBox="1"/>
          <p:nvPr/>
        </p:nvSpPr>
        <p:spPr>
          <a:xfrm>
            <a:off x="6659857" y="1962993"/>
            <a:ext cx="4517571" cy="224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The event runs daily to keep coupon statuses up to date. Any coupon older than today is set to Expired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923250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DAC7F9-8404-29C2-C663-CF1367B59DE8}"/>
              </a:ext>
            </a:extLst>
          </p:cNvPr>
          <p:cNvSpPr txBox="1"/>
          <p:nvPr/>
        </p:nvSpPr>
        <p:spPr>
          <a:xfrm>
            <a:off x="875383" y="1036612"/>
            <a:ext cx="58882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To automatically reduce book stock after an order is placed using a TRIGGER.</a:t>
            </a:r>
            <a:endParaRPr lang="en-IN" sz="2800" dirty="0"/>
          </a:p>
          <a:p>
            <a:endParaRPr lang="en-IN" sz="1800" dirty="0"/>
          </a:p>
          <a:p>
            <a:r>
              <a:rPr lang="en-IN" sz="2400" dirty="0"/>
              <a:t>CREATE TRIGGER reduce_stock_after_order</a:t>
            </a:r>
          </a:p>
          <a:p>
            <a:r>
              <a:rPr lang="en-IN" sz="2400" dirty="0"/>
              <a:t>AFTER INSERT ON order_details</a:t>
            </a:r>
          </a:p>
          <a:p>
            <a:r>
              <a:rPr lang="en-IN" sz="2400" dirty="0"/>
              <a:t>FOR EACH ROW</a:t>
            </a:r>
          </a:p>
          <a:p>
            <a:r>
              <a:rPr lang="en-IN" sz="2400" dirty="0"/>
              <a:t>UPDATE books</a:t>
            </a:r>
          </a:p>
          <a:p>
            <a:r>
              <a:rPr lang="en-IN" sz="2400" dirty="0"/>
              <a:t>SET stock = stock - NEW.quantity</a:t>
            </a:r>
          </a:p>
          <a:p>
            <a:r>
              <a:rPr lang="en-IN" sz="2400" dirty="0"/>
              <a:t>WHERE book_id = NEW.book_id;</a:t>
            </a:r>
          </a:p>
          <a:p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7C528-F122-C870-0F41-0A5FC78DCB58}"/>
              </a:ext>
            </a:extLst>
          </p:cNvPr>
          <p:cNvSpPr txBox="1"/>
          <p:nvPr/>
        </p:nvSpPr>
        <p:spPr>
          <a:xfrm rot="10800000" flipV="1">
            <a:off x="7291167" y="1443841"/>
            <a:ext cx="3788228" cy="3970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This trigger automatically reduces the book’s stock after an order is placed. Whenever a new order detail is added, the book’s stock decreases by the quantity purchased.</a:t>
            </a:r>
          </a:p>
        </p:txBody>
      </p:sp>
    </p:spTree>
    <p:extLst>
      <p:ext uri="{BB962C8B-B14F-4D97-AF65-F5344CB8AC3E}">
        <p14:creationId xmlns:p14="http://schemas.microsoft.com/office/powerpoint/2010/main" val="4047859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9BE335-0CCB-B735-EAF3-CB12550DD529}"/>
              </a:ext>
            </a:extLst>
          </p:cNvPr>
          <p:cNvSpPr txBox="1"/>
          <p:nvPr/>
        </p:nvSpPr>
        <p:spPr>
          <a:xfrm>
            <a:off x="939801" y="1526348"/>
            <a:ext cx="611777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To generate a temporary sales report using a TEMPORARY TABLE. </a:t>
            </a:r>
          </a:p>
          <a:p>
            <a:endParaRPr lang="en-IN" sz="1800" dirty="0"/>
          </a:p>
          <a:p>
            <a:r>
              <a:rPr lang="en-IN" sz="2400" dirty="0"/>
              <a:t>CREATE TEMPORARY TABLE today_sales AS</a:t>
            </a:r>
          </a:p>
          <a:p>
            <a:r>
              <a:rPr lang="en-IN" sz="2400" dirty="0"/>
              <a:t>SELECT order_id, total_amount, order_date</a:t>
            </a:r>
          </a:p>
          <a:p>
            <a:r>
              <a:rPr lang="en-IN" sz="2400" dirty="0"/>
              <a:t>FROM orders</a:t>
            </a:r>
          </a:p>
          <a:p>
            <a:r>
              <a:rPr lang="en-IN" sz="2400" dirty="0"/>
              <a:t>WHERE DATE(order_date) = CURDATE();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09191-EA3E-8E23-7D1D-8CC7822F5862}"/>
              </a:ext>
            </a:extLst>
          </p:cNvPr>
          <p:cNvSpPr txBox="1"/>
          <p:nvPr/>
        </p:nvSpPr>
        <p:spPr>
          <a:xfrm>
            <a:off x="7010400" y="2090172"/>
            <a:ext cx="4241799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The query captures all orders from the current day into a temporary table. This helps quickly view and analyse today’s sales activity.</a:t>
            </a:r>
          </a:p>
        </p:txBody>
      </p:sp>
    </p:spTree>
    <p:extLst>
      <p:ext uri="{BB962C8B-B14F-4D97-AF65-F5344CB8AC3E}">
        <p14:creationId xmlns:p14="http://schemas.microsoft.com/office/powerpoint/2010/main" val="774949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AC77E-B48F-6623-5B8A-88F3E5593865}"/>
              </a:ext>
            </a:extLst>
          </p:cNvPr>
          <p:cNvSpPr txBox="1"/>
          <p:nvPr/>
        </p:nvSpPr>
        <p:spPr>
          <a:xfrm>
            <a:off x="910772" y="1311816"/>
            <a:ext cx="61177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To simplify the order creation process using a STORED PROCEDURE</a:t>
            </a:r>
            <a:endParaRPr lang="en-IN" sz="2400" dirty="0"/>
          </a:p>
          <a:p>
            <a:endParaRPr lang="en-IN" sz="1800" dirty="0"/>
          </a:p>
          <a:p>
            <a:r>
              <a:rPr lang="en-IN" sz="2400" dirty="0"/>
              <a:t>DELIMITER //</a:t>
            </a:r>
          </a:p>
          <a:p>
            <a:r>
              <a:rPr lang="en-IN" sz="2400" dirty="0"/>
              <a:t>CREATE PROCEDURE place_order(    </a:t>
            </a:r>
          </a:p>
          <a:p>
            <a:r>
              <a:rPr lang="en-IN" sz="2400" dirty="0"/>
              <a:t>IN cust_id INT,    </a:t>
            </a:r>
          </a:p>
          <a:p>
            <a:r>
              <a:rPr lang="en-IN" sz="2400" dirty="0"/>
              <a:t>IN amount DECIMAL(10,2))</a:t>
            </a:r>
          </a:p>
          <a:p>
            <a:r>
              <a:rPr lang="en-IN" sz="2400" dirty="0"/>
              <a:t>BEGIN  </a:t>
            </a:r>
          </a:p>
          <a:p>
            <a:r>
              <a:rPr lang="en-IN" sz="2400" dirty="0"/>
              <a:t>INSERT INTO orders (customer_id, total_amount, status)    </a:t>
            </a:r>
          </a:p>
          <a:p>
            <a:r>
              <a:rPr lang="en-IN" sz="2400" dirty="0"/>
              <a:t>VALUES (cust_id, amount, 'Processing');</a:t>
            </a:r>
          </a:p>
          <a:p>
            <a:r>
              <a:rPr lang="en-IN" sz="2400" dirty="0"/>
              <a:t>END //</a:t>
            </a:r>
          </a:p>
          <a:p>
            <a:r>
              <a:rPr lang="en-IN" sz="1800" dirty="0"/>
              <a:t>DELIMITER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FC9CA-67C4-A5F2-31D7-9F83CCF7FC40}"/>
              </a:ext>
            </a:extLst>
          </p:cNvPr>
          <p:cNvSpPr txBox="1"/>
          <p:nvPr/>
        </p:nvSpPr>
        <p:spPr>
          <a:xfrm>
            <a:off x="7164288" y="2090172"/>
            <a:ext cx="3733799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The procedure simplifies order creation. When called, it inserts a new order for the customer with the given total amount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934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F00819-2C8E-0BE4-8DD1-1477F0982C76}"/>
              </a:ext>
            </a:extLst>
          </p:cNvPr>
          <p:cNvSpPr txBox="1"/>
          <p:nvPr/>
        </p:nvSpPr>
        <p:spPr>
          <a:xfrm>
            <a:off x="1070429" y="1660996"/>
            <a:ext cx="611777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To track successful user logins automatically using a TRIGGERCREATE TRIGGER log_successful_login</a:t>
            </a:r>
          </a:p>
          <a:p>
            <a:endParaRPr lang="en-IN" sz="1800" dirty="0"/>
          </a:p>
          <a:p>
            <a:r>
              <a:rPr lang="en-IN" sz="2400" dirty="0"/>
              <a:t>AFTER INSERT ON login_attempts</a:t>
            </a:r>
          </a:p>
          <a:p>
            <a:r>
              <a:rPr lang="en-IN" sz="2400" dirty="0"/>
              <a:t>FOR EACH ROW</a:t>
            </a:r>
          </a:p>
          <a:p>
            <a:r>
              <a:rPr lang="en-IN" sz="2400" dirty="0"/>
              <a:t>INSERT INTO login_history (user_id, login_time)</a:t>
            </a:r>
          </a:p>
          <a:p>
            <a:r>
              <a:rPr lang="en-IN" sz="2400" dirty="0"/>
              <a:t>VALUES (NEW.user_id, NOW());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7437A-37D3-391F-980B-BE86BE88175A}"/>
              </a:ext>
            </a:extLst>
          </p:cNvPr>
          <p:cNvSpPr txBox="1"/>
          <p:nvPr/>
        </p:nvSpPr>
        <p:spPr>
          <a:xfrm>
            <a:off x="6897320" y="2165796"/>
            <a:ext cx="4096657" cy="224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The trigger keeps track of user logins. Each time someone logs in, their login time is added to the history table.</a:t>
            </a:r>
          </a:p>
        </p:txBody>
      </p:sp>
    </p:spTree>
    <p:extLst>
      <p:ext uri="{BB962C8B-B14F-4D97-AF65-F5344CB8AC3E}">
        <p14:creationId xmlns:p14="http://schemas.microsoft.com/office/powerpoint/2010/main" val="2329502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D71878-56D8-E371-6751-314AAFC2E12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37017" y="1334725"/>
            <a:ext cx="1071796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customers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Rajesh Kumar, contribute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spending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(up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14,096.88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show strong engagement.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Mumbai and Ahmedabad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 in customer presence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customers each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books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drive most activity: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Atomic Habits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–  11 copies sold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Midnight Library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8 copies sold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Harry Potter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12 reviews (highest)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highest-earning category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generating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13,898.37 revenue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used payment method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transactions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>
                  <a:lumMod val="50000"/>
                </a:schemeClr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processes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(triggers and events) efficiently handle: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Pct val="107000"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reduction after orders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Pct val="107000"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Coupon expiry updates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Pct val="107000"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tracking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Pct val="107000"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sales reporting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07DD1-6F39-C1EF-2B4B-9A8354A355A4}"/>
              </a:ext>
            </a:extLst>
          </p:cNvPr>
          <p:cNvSpPr txBox="1"/>
          <p:nvPr/>
        </p:nvSpPr>
        <p:spPr>
          <a:xfrm>
            <a:off x="4946755" y="811504"/>
            <a:ext cx="2038662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  Analysis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162314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B4060BE-0C9D-A716-5811-208B8B185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074" y="1344630"/>
            <a:ext cx="1050785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shows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customer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many active users frequently browsing, purchasing, reviewing, and adding books to wish 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cities have higher customer activity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key regions with strong buyer presence.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Fiction is the most popular category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consistently attracting the highest interest and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few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top-performing books repeatedly appear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orders, carts, reviews, and wish lists, proving high reader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reading trends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customer preferences help guide future stocking and marketing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method patterns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region-wise activity provide insights to improve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features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reduction triggers, coupon expiry events, login tracking triggers, and sales reporting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smooth and efficient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well-organized and scalable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ready for further growth by focusing on customer interests and enhancing satisfaction.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E1BE7-B288-533A-7FBC-43CCA0EEF2DF}"/>
              </a:ext>
            </a:extLst>
          </p:cNvPr>
          <p:cNvSpPr txBox="1"/>
          <p:nvPr/>
        </p:nvSpPr>
        <p:spPr>
          <a:xfrm>
            <a:off x="4219414" y="742833"/>
            <a:ext cx="5048571" cy="5232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Key Findings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1499173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F69917-1A89-C835-70F3-CDF2B3A5DEA6}"/>
              </a:ext>
            </a:extLst>
          </p:cNvPr>
          <p:cNvSpPr txBox="1"/>
          <p:nvPr/>
        </p:nvSpPr>
        <p:spPr>
          <a:xfrm>
            <a:off x="2220687" y="2028616"/>
            <a:ext cx="801188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chemeClr val="accent5">
                    <a:lumMod val="50000"/>
                  </a:schemeClr>
                </a:solidFill>
              </a:rPr>
              <a:t>THANK </a:t>
            </a:r>
          </a:p>
          <a:p>
            <a:r>
              <a:rPr lang="en-US" sz="8800" b="1" dirty="0">
                <a:solidFill>
                  <a:schemeClr val="accent5">
                    <a:lumMod val="50000"/>
                  </a:schemeClr>
                </a:solidFill>
              </a:rPr>
              <a:t>                 YOU</a:t>
            </a:r>
            <a:endParaRPr lang="en-IN" sz="88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406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371</TotalTime>
  <Words>1324</Words>
  <Application>Microsoft Office PowerPoint</Application>
  <PresentationFormat>Widescreen</PresentationFormat>
  <Paragraphs>224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 Narrow</vt:lpstr>
      <vt:lpstr>Arial</vt:lpstr>
      <vt:lpstr>Garamond</vt:lpstr>
      <vt:lpstr>Wingdings</vt:lpstr>
      <vt:lpstr>Organic</vt:lpstr>
      <vt:lpstr>Worksheet</vt:lpstr>
      <vt:lpstr>Online Book Store 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Kumar Choubey</dc:creator>
  <cp:lastModifiedBy>Baskar Arunachala madhan</cp:lastModifiedBy>
  <cp:revision>7</cp:revision>
  <dcterms:created xsi:type="dcterms:W3CDTF">2025-11-23T09:13:05Z</dcterms:created>
  <dcterms:modified xsi:type="dcterms:W3CDTF">2026-07-02T16:34:34Z</dcterms:modified>
</cp:coreProperties>
</file>