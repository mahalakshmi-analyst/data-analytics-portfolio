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24"/>
  </p:notesMasterIdLst>
  <p:sldIdLst>
    <p:sldId id="274" r:id="rId3"/>
    <p:sldId id="257" r:id="rId4"/>
    <p:sldId id="258" r:id="rId5"/>
    <p:sldId id="276" r:id="rId6"/>
    <p:sldId id="289" r:id="rId7"/>
    <p:sldId id="281" r:id="rId8"/>
    <p:sldId id="260" r:id="rId9"/>
    <p:sldId id="285" r:id="rId10"/>
    <p:sldId id="262" r:id="rId11"/>
    <p:sldId id="256" r:id="rId12"/>
    <p:sldId id="292" r:id="rId13"/>
    <p:sldId id="259" r:id="rId14"/>
    <p:sldId id="291" r:id="rId15"/>
    <p:sldId id="261" r:id="rId16"/>
    <p:sldId id="265" r:id="rId17"/>
    <p:sldId id="266" r:id="rId18"/>
    <p:sldId id="267" r:id="rId19"/>
    <p:sldId id="268" r:id="rId20"/>
    <p:sldId id="271" r:id="rId21"/>
    <p:sldId id="272" r:id="rId22"/>
    <p:sldId id="288"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7DDDFF"/>
    <a:srgbClr val="4FC3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99" autoAdjust="0"/>
    <p:restoredTop sz="94610"/>
  </p:normalViewPr>
  <p:slideViewPr>
    <p:cSldViewPr snapToGrid="0" snapToObjects="1">
      <p:cViewPr varScale="1">
        <p:scale>
          <a:sx n="109" d="100"/>
          <a:sy n="109" d="100"/>
        </p:scale>
        <p:origin x="73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icontext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dgm:fillClrLst>
    <dgm:linClrLst meth="repeat">
      <a:schemeClr val="lt1">
        <a:alpha val="0"/>
      </a:schemeClr>
    </dgm:linClrLst>
    <dgm:effectClrLst/>
    <dgm:txLinClrLst/>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477CA755-2247-46C3-9EE8-2C6E965AC659}" type="doc">
      <dgm:prSet loTypeId="urn:microsoft.com/office/officeart/2018/2/layout/IconVerticalSolidList" loCatId="icon" qsTypeId="urn:microsoft.com/office/officeart/2005/8/quickstyle/simple1" qsCatId="simple" csTypeId="urn:microsoft.com/office/officeart/2018/5/colors/Iconchunking_neutralicontext_accent6_2" csCatId="accent6" phldr="1"/>
      <dgm:spPr/>
      <dgm:t>
        <a:bodyPr/>
        <a:lstStyle/>
        <a:p>
          <a:endParaRPr lang="en-US"/>
        </a:p>
      </dgm:t>
    </dgm:pt>
    <dgm:pt modelId="{79D822A4-1DED-4B39-8756-949A878606A2}">
      <dgm:prSet/>
      <dgm:spPr/>
      <dgm:t>
        <a:bodyPr/>
        <a:lstStyle/>
        <a:p>
          <a:pPr>
            <a:lnSpc>
              <a:spcPct val="100000"/>
            </a:lnSpc>
          </a:pPr>
          <a:r>
            <a:rPr lang="en-IN"/>
            <a:t>Model Used: Multiple Linear Regression </a:t>
          </a:r>
          <a:br>
            <a:rPr lang="en-IN"/>
          </a:br>
          <a:r>
            <a:rPr lang="en-IN"/>
            <a:t>Target Variable: Usage_kWh </a:t>
          </a:r>
          <a:br>
            <a:rPr lang="en-IN"/>
          </a:br>
          <a:endParaRPr lang="en-US"/>
        </a:p>
      </dgm:t>
    </dgm:pt>
    <dgm:pt modelId="{AA126F3D-01E5-498A-B79A-7916CEAAA509}" type="parTrans" cxnId="{1514BC33-C929-457C-B93E-9F59EF3814E7}">
      <dgm:prSet/>
      <dgm:spPr/>
      <dgm:t>
        <a:bodyPr/>
        <a:lstStyle/>
        <a:p>
          <a:endParaRPr lang="en-US"/>
        </a:p>
      </dgm:t>
    </dgm:pt>
    <dgm:pt modelId="{8E1DFE14-E3CF-40E8-8101-74C1EFADAC35}" type="sibTrans" cxnId="{1514BC33-C929-457C-B93E-9F59EF3814E7}">
      <dgm:prSet/>
      <dgm:spPr/>
      <dgm:t>
        <a:bodyPr/>
        <a:lstStyle/>
        <a:p>
          <a:endParaRPr lang="en-US"/>
        </a:p>
      </dgm:t>
    </dgm:pt>
    <dgm:pt modelId="{9025131E-A2FF-4230-8CAA-E54740AB0792}">
      <dgm:prSet/>
      <dgm:spPr/>
      <dgm:t>
        <a:bodyPr/>
        <a:lstStyle/>
        <a:p>
          <a:pPr>
            <a:lnSpc>
              <a:spcPct val="100000"/>
            </a:lnSpc>
          </a:pPr>
          <a:r>
            <a:rPr lang="en-IN" dirty="0"/>
            <a:t>Key Drivers:</a:t>
          </a:r>
          <a:br>
            <a:rPr lang="en-IN" dirty="0"/>
          </a:br>
          <a:r>
            <a:rPr lang="en-IN" dirty="0"/>
            <a:t>CO2 → Strong positive relationship </a:t>
          </a:r>
          <a:br>
            <a:rPr lang="en-IN" dirty="0"/>
          </a:br>
          <a:r>
            <a:rPr lang="en-IN" dirty="0"/>
            <a:t>Lagging Current Power → High impact </a:t>
          </a:r>
          <a:br>
            <a:rPr lang="en-IN" dirty="0"/>
          </a:br>
          <a:r>
            <a:rPr lang="en-IN" dirty="0"/>
            <a:t>High Usage Flag → Significant predictor </a:t>
          </a:r>
          <a:br>
            <a:rPr lang="en-IN" dirty="0"/>
          </a:br>
          <a:endParaRPr lang="en-US" dirty="0"/>
        </a:p>
      </dgm:t>
    </dgm:pt>
    <dgm:pt modelId="{2C64BDF7-3EB9-4A40-BA1D-FE36B8D33B7F}" type="parTrans" cxnId="{AA57DD21-81FD-4E1C-9B6F-7A79CE5605B7}">
      <dgm:prSet/>
      <dgm:spPr/>
      <dgm:t>
        <a:bodyPr/>
        <a:lstStyle/>
        <a:p>
          <a:endParaRPr lang="en-US"/>
        </a:p>
      </dgm:t>
    </dgm:pt>
    <dgm:pt modelId="{45C4A0EF-FFB0-4740-96B9-9D77DE78CF39}" type="sibTrans" cxnId="{AA57DD21-81FD-4E1C-9B6F-7A79CE5605B7}">
      <dgm:prSet/>
      <dgm:spPr/>
      <dgm:t>
        <a:bodyPr/>
        <a:lstStyle/>
        <a:p>
          <a:endParaRPr lang="en-US"/>
        </a:p>
      </dgm:t>
    </dgm:pt>
    <dgm:pt modelId="{9EA742A9-A47B-44D7-9D40-9B14928A6DB7}">
      <dgm:prSet/>
      <dgm:spPr/>
      <dgm:t>
        <a:bodyPr/>
        <a:lstStyle/>
        <a:p>
          <a:pPr>
            <a:lnSpc>
              <a:spcPct val="100000"/>
            </a:lnSpc>
          </a:pPr>
          <a:r>
            <a:rPr lang="en-IN" dirty="0" err="1"/>
            <a:t>Preprocessing</a:t>
          </a:r>
          <a:r>
            <a:rPr lang="en-IN" dirty="0"/>
            <a:t> Steps:</a:t>
          </a:r>
          <a:br>
            <a:rPr lang="en-IN" dirty="0"/>
          </a:br>
          <a:r>
            <a:rPr lang="en-IN" dirty="0"/>
            <a:t>One-hot encoding for categorical variables </a:t>
          </a:r>
          <a:br>
            <a:rPr lang="en-IN" dirty="0"/>
          </a:br>
          <a:r>
            <a:rPr lang="en-IN" dirty="0"/>
            <a:t>Feature scaling applied </a:t>
          </a:r>
          <a:br>
            <a:rPr lang="en-IN" dirty="0"/>
          </a:br>
          <a:r>
            <a:rPr lang="en-IN" dirty="0"/>
            <a:t>Train-test split (80:20)</a:t>
          </a:r>
          <a:endParaRPr lang="en-US" dirty="0"/>
        </a:p>
      </dgm:t>
    </dgm:pt>
    <dgm:pt modelId="{B2BE7F9C-86E5-454B-AF4D-7248A27AAF73}" type="parTrans" cxnId="{A4E411E6-A248-41E3-BE66-F325BD56D184}">
      <dgm:prSet/>
      <dgm:spPr/>
      <dgm:t>
        <a:bodyPr/>
        <a:lstStyle/>
        <a:p>
          <a:endParaRPr lang="en-US"/>
        </a:p>
      </dgm:t>
    </dgm:pt>
    <dgm:pt modelId="{432664DC-612A-4AD3-B714-D19C3849F261}" type="sibTrans" cxnId="{A4E411E6-A248-41E3-BE66-F325BD56D184}">
      <dgm:prSet/>
      <dgm:spPr/>
      <dgm:t>
        <a:bodyPr/>
        <a:lstStyle/>
        <a:p>
          <a:endParaRPr lang="en-US"/>
        </a:p>
      </dgm:t>
    </dgm:pt>
    <dgm:pt modelId="{6CCE18CE-6D82-43A6-A09D-9B65336A19C8}" type="pres">
      <dgm:prSet presAssocID="{477CA755-2247-46C3-9EE8-2C6E965AC659}" presName="root" presStyleCnt="0">
        <dgm:presLayoutVars>
          <dgm:dir/>
          <dgm:resizeHandles val="exact"/>
        </dgm:presLayoutVars>
      </dgm:prSet>
      <dgm:spPr/>
    </dgm:pt>
    <dgm:pt modelId="{F4DC4E54-1347-4424-BC1B-579AC41499D7}" type="pres">
      <dgm:prSet presAssocID="{79D822A4-1DED-4B39-8756-949A878606A2}" presName="compNode" presStyleCnt="0"/>
      <dgm:spPr/>
    </dgm:pt>
    <dgm:pt modelId="{08538CA8-C7DD-4CAC-9B09-8316AFCA66D4}" type="pres">
      <dgm:prSet presAssocID="{79D822A4-1DED-4B39-8756-949A878606A2}" presName="bgRect" presStyleLbl="bgShp" presStyleIdx="0" presStyleCnt="3"/>
      <dgm:spPr/>
    </dgm:pt>
    <dgm:pt modelId="{29975EB0-89E5-4FEE-A4A2-FD36C9800EFB}" type="pres">
      <dgm:prSet presAssocID="{79D822A4-1DED-4B39-8756-949A878606A2}"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Venn Diagram"/>
        </a:ext>
      </dgm:extLst>
    </dgm:pt>
    <dgm:pt modelId="{73EE8475-882C-43C7-9B5C-D72C08C3E712}" type="pres">
      <dgm:prSet presAssocID="{79D822A4-1DED-4B39-8756-949A878606A2}" presName="spaceRect" presStyleCnt="0"/>
      <dgm:spPr/>
    </dgm:pt>
    <dgm:pt modelId="{6A4DAF40-80E6-4A09-8167-87D1CCB8772E}" type="pres">
      <dgm:prSet presAssocID="{79D822A4-1DED-4B39-8756-949A878606A2}" presName="parTx" presStyleLbl="revTx" presStyleIdx="0" presStyleCnt="3">
        <dgm:presLayoutVars>
          <dgm:chMax val="0"/>
          <dgm:chPref val="0"/>
        </dgm:presLayoutVars>
      </dgm:prSet>
      <dgm:spPr/>
    </dgm:pt>
    <dgm:pt modelId="{8B11EA65-DA0E-4EC7-93DA-857251626717}" type="pres">
      <dgm:prSet presAssocID="{8E1DFE14-E3CF-40E8-8101-74C1EFADAC35}" presName="sibTrans" presStyleCnt="0"/>
      <dgm:spPr/>
    </dgm:pt>
    <dgm:pt modelId="{1F1F07EE-B9BD-4E30-AE6E-6ECD58BDBBDE}" type="pres">
      <dgm:prSet presAssocID="{9025131E-A2FF-4230-8CAA-E54740AB0792}" presName="compNode" presStyleCnt="0"/>
      <dgm:spPr/>
    </dgm:pt>
    <dgm:pt modelId="{1CD8ABAF-5BBB-48D0-9EFA-BE26AF053935}" type="pres">
      <dgm:prSet presAssocID="{9025131E-A2FF-4230-8CAA-E54740AB0792}" presName="bgRect" presStyleLbl="bgShp" presStyleIdx="1" presStyleCnt="3"/>
      <dgm:spPr/>
    </dgm:pt>
    <dgm:pt modelId="{EBA5A125-FF92-46C4-B66A-623C6E59554C}" type="pres">
      <dgm:prSet presAssocID="{9025131E-A2FF-4230-8CAA-E54740AB079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01B7F9CB-04CC-4081-B14C-369F605C3428}" type="pres">
      <dgm:prSet presAssocID="{9025131E-A2FF-4230-8CAA-E54740AB0792}" presName="spaceRect" presStyleCnt="0"/>
      <dgm:spPr/>
    </dgm:pt>
    <dgm:pt modelId="{25488BED-4AFF-41D3-A211-3FA6B8801294}" type="pres">
      <dgm:prSet presAssocID="{9025131E-A2FF-4230-8CAA-E54740AB0792}" presName="parTx" presStyleLbl="revTx" presStyleIdx="1" presStyleCnt="3">
        <dgm:presLayoutVars>
          <dgm:chMax val="0"/>
          <dgm:chPref val="0"/>
        </dgm:presLayoutVars>
      </dgm:prSet>
      <dgm:spPr/>
    </dgm:pt>
    <dgm:pt modelId="{DA0B5A91-6E90-49E3-A56B-529E19F5E3A5}" type="pres">
      <dgm:prSet presAssocID="{45C4A0EF-FFB0-4740-96B9-9D77DE78CF39}" presName="sibTrans" presStyleCnt="0"/>
      <dgm:spPr/>
    </dgm:pt>
    <dgm:pt modelId="{7286E5F4-E7C7-4D67-900D-D85364F0EDD9}" type="pres">
      <dgm:prSet presAssocID="{9EA742A9-A47B-44D7-9D40-9B14928A6DB7}" presName="compNode" presStyleCnt="0"/>
      <dgm:spPr/>
    </dgm:pt>
    <dgm:pt modelId="{1434A2B4-D7E0-4838-80C7-7D72D19301F5}" type="pres">
      <dgm:prSet presAssocID="{9EA742A9-A47B-44D7-9D40-9B14928A6DB7}" presName="bgRect" presStyleLbl="bgShp" presStyleIdx="2" presStyleCnt="3"/>
      <dgm:spPr/>
    </dgm:pt>
    <dgm:pt modelId="{92B621F4-AE04-4F31-9FB9-E316D735416B}" type="pres">
      <dgm:prSet presAssocID="{9EA742A9-A47B-44D7-9D40-9B14928A6DB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atistics"/>
        </a:ext>
      </dgm:extLst>
    </dgm:pt>
    <dgm:pt modelId="{E6ABA1CA-411F-49D6-9E62-3353B343320F}" type="pres">
      <dgm:prSet presAssocID="{9EA742A9-A47B-44D7-9D40-9B14928A6DB7}" presName="spaceRect" presStyleCnt="0"/>
      <dgm:spPr/>
    </dgm:pt>
    <dgm:pt modelId="{DFC487CA-793F-4D56-A9B7-F61E1BD4E51A}" type="pres">
      <dgm:prSet presAssocID="{9EA742A9-A47B-44D7-9D40-9B14928A6DB7}" presName="parTx" presStyleLbl="revTx" presStyleIdx="2" presStyleCnt="3">
        <dgm:presLayoutVars>
          <dgm:chMax val="0"/>
          <dgm:chPref val="0"/>
        </dgm:presLayoutVars>
      </dgm:prSet>
      <dgm:spPr/>
    </dgm:pt>
  </dgm:ptLst>
  <dgm:cxnLst>
    <dgm:cxn modelId="{E0B2A013-DBA3-46FB-8590-AD4AC3385CA5}" type="presOf" srcId="{9025131E-A2FF-4230-8CAA-E54740AB0792}" destId="{25488BED-4AFF-41D3-A211-3FA6B8801294}" srcOrd="0" destOrd="0" presId="urn:microsoft.com/office/officeart/2018/2/layout/IconVerticalSolidList"/>
    <dgm:cxn modelId="{AA57DD21-81FD-4E1C-9B6F-7A79CE5605B7}" srcId="{477CA755-2247-46C3-9EE8-2C6E965AC659}" destId="{9025131E-A2FF-4230-8CAA-E54740AB0792}" srcOrd="1" destOrd="0" parTransId="{2C64BDF7-3EB9-4A40-BA1D-FE36B8D33B7F}" sibTransId="{45C4A0EF-FFB0-4740-96B9-9D77DE78CF39}"/>
    <dgm:cxn modelId="{1514BC33-C929-457C-B93E-9F59EF3814E7}" srcId="{477CA755-2247-46C3-9EE8-2C6E965AC659}" destId="{79D822A4-1DED-4B39-8756-949A878606A2}" srcOrd="0" destOrd="0" parTransId="{AA126F3D-01E5-498A-B79A-7916CEAAA509}" sibTransId="{8E1DFE14-E3CF-40E8-8101-74C1EFADAC35}"/>
    <dgm:cxn modelId="{2A03595B-5468-499F-A234-4743F22408CE}" type="presOf" srcId="{79D822A4-1DED-4B39-8756-949A878606A2}" destId="{6A4DAF40-80E6-4A09-8167-87D1CCB8772E}" srcOrd="0" destOrd="0" presId="urn:microsoft.com/office/officeart/2018/2/layout/IconVerticalSolidList"/>
    <dgm:cxn modelId="{46B0716A-F5AD-4D71-8FF7-777C19A5CF9D}" type="presOf" srcId="{477CA755-2247-46C3-9EE8-2C6E965AC659}" destId="{6CCE18CE-6D82-43A6-A09D-9B65336A19C8}" srcOrd="0" destOrd="0" presId="urn:microsoft.com/office/officeart/2018/2/layout/IconVerticalSolidList"/>
    <dgm:cxn modelId="{49B7B4AD-B704-467D-83AE-6C7424AE7BA4}" type="presOf" srcId="{9EA742A9-A47B-44D7-9D40-9B14928A6DB7}" destId="{DFC487CA-793F-4D56-A9B7-F61E1BD4E51A}" srcOrd="0" destOrd="0" presId="urn:microsoft.com/office/officeart/2018/2/layout/IconVerticalSolidList"/>
    <dgm:cxn modelId="{A4E411E6-A248-41E3-BE66-F325BD56D184}" srcId="{477CA755-2247-46C3-9EE8-2C6E965AC659}" destId="{9EA742A9-A47B-44D7-9D40-9B14928A6DB7}" srcOrd="2" destOrd="0" parTransId="{B2BE7F9C-86E5-454B-AF4D-7248A27AAF73}" sibTransId="{432664DC-612A-4AD3-B714-D19C3849F261}"/>
    <dgm:cxn modelId="{5D0FD1CF-BB5B-412D-A025-8E1596DD1E61}" type="presParOf" srcId="{6CCE18CE-6D82-43A6-A09D-9B65336A19C8}" destId="{F4DC4E54-1347-4424-BC1B-579AC41499D7}" srcOrd="0" destOrd="0" presId="urn:microsoft.com/office/officeart/2018/2/layout/IconVerticalSolidList"/>
    <dgm:cxn modelId="{23230182-1DFF-4E6E-853E-F56ED0A068C2}" type="presParOf" srcId="{F4DC4E54-1347-4424-BC1B-579AC41499D7}" destId="{08538CA8-C7DD-4CAC-9B09-8316AFCA66D4}" srcOrd="0" destOrd="0" presId="urn:microsoft.com/office/officeart/2018/2/layout/IconVerticalSolidList"/>
    <dgm:cxn modelId="{1440D054-975C-4DC4-9C3B-F32BDA3F548D}" type="presParOf" srcId="{F4DC4E54-1347-4424-BC1B-579AC41499D7}" destId="{29975EB0-89E5-4FEE-A4A2-FD36C9800EFB}" srcOrd="1" destOrd="0" presId="urn:microsoft.com/office/officeart/2018/2/layout/IconVerticalSolidList"/>
    <dgm:cxn modelId="{D6C6149E-F45F-42F8-99D5-C690324D0FCA}" type="presParOf" srcId="{F4DC4E54-1347-4424-BC1B-579AC41499D7}" destId="{73EE8475-882C-43C7-9B5C-D72C08C3E712}" srcOrd="2" destOrd="0" presId="urn:microsoft.com/office/officeart/2018/2/layout/IconVerticalSolidList"/>
    <dgm:cxn modelId="{2660C03F-7036-4FE1-96E4-A38A94F65A2F}" type="presParOf" srcId="{F4DC4E54-1347-4424-BC1B-579AC41499D7}" destId="{6A4DAF40-80E6-4A09-8167-87D1CCB8772E}" srcOrd="3" destOrd="0" presId="urn:microsoft.com/office/officeart/2018/2/layout/IconVerticalSolidList"/>
    <dgm:cxn modelId="{7158186F-2679-436E-95AE-6FAC90631632}" type="presParOf" srcId="{6CCE18CE-6D82-43A6-A09D-9B65336A19C8}" destId="{8B11EA65-DA0E-4EC7-93DA-857251626717}" srcOrd="1" destOrd="0" presId="urn:microsoft.com/office/officeart/2018/2/layout/IconVerticalSolidList"/>
    <dgm:cxn modelId="{DE1F08A8-FA93-4716-A67C-8C05385C23ED}" type="presParOf" srcId="{6CCE18CE-6D82-43A6-A09D-9B65336A19C8}" destId="{1F1F07EE-B9BD-4E30-AE6E-6ECD58BDBBDE}" srcOrd="2" destOrd="0" presId="urn:microsoft.com/office/officeart/2018/2/layout/IconVerticalSolidList"/>
    <dgm:cxn modelId="{DD715D6A-AC47-4AAC-B018-D309B85C9ADE}" type="presParOf" srcId="{1F1F07EE-B9BD-4E30-AE6E-6ECD58BDBBDE}" destId="{1CD8ABAF-5BBB-48D0-9EFA-BE26AF053935}" srcOrd="0" destOrd="0" presId="urn:microsoft.com/office/officeart/2018/2/layout/IconVerticalSolidList"/>
    <dgm:cxn modelId="{828605DD-BEBF-4BD8-9907-0C95919F75F9}" type="presParOf" srcId="{1F1F07EE-B9BD-4E30-AE6E-6ECD58BDBBDE}" destId="{EBA5A125-FF92-46C4-B66A-623C6E59554C}" srcOrd="1" destOrd="0" presId="urn:microsoft.com/office/officeart/2018/2/layout/IconVerticalSolidList"/>
    <dgm:cxn modelId="{DFA8F9ED-13BE-4315-9CD2-48F2403EDDD9}" type="presParOf" srcId="{1F1F07EE-B9BD-4E30-AE6E-6ECD58BDBBDE}" destId="{01B7F9CB-04CC-4081-B14C-369F605C3428}" srcOrd="2" destOrd="0" presId="urn:microsoft.com/office/officeart/2018/2/layout/IconVerticalSolidList"/>
    <dgm:cxn modelId="{CEEEDF4C-B3F9-4771-A898-B38DEC760F1B}" type="presParOf" srcId="{1F1F07EE-B9BD-4E30-AE6E-6ECD58BDBBDE}" destId="{25488BED-4AFF-41D3-A211-3FA6B8801294}" srcOrd="3" destOrd="0" presId="urn:microsoft.com/office/officeart/2018/2/layout/IconVerticalSolidList"/>
    <dgm:cxn modelId="{5523AC22-E607-4E83-A175-3564D69151CC}" type="presParOf" srcId="{6CCE18CE-6D82-43A6-A09D-9B65336A19C8}" destId="{DA0B5A91-6E90-49E3-A56B-529E19F5E3A5}" srcOrd="3" destOrd="0" presId="urn:microsoft.com/office/officeart/2018/2/layout/IconVerticalSolidList"/>
    <dgm:cxn modelId="{028F704B-0714-409F-B700-62A88E44C0DB}" type="presParOf" srcId="{6CCE18CE-6D82-43A6-A09D-9B65336A19C8}" destId="{7286E5F4-E7C7-4D67-900D-D85364F0EDD9}" srcOrd="4" destOrd="0" presId="urn:microsoft.com/office/officeart/2018/2/layout/IconVerticalSolidList"/>
    <dgm:cxn modelId="{38627707-2502-4657-AD9E-2DA2B5CA3DD8}" type="presParOf" srcId="{7286E5F4-E7C7-4D67-900D-D85364F0EDD9}" destId="{1434A2B4-D7E0-4838-80C7-7D72D19301F5}" srcOrd="0" destOrd="0" presId="urn:microsoft.com/office/officeart/2018/2/layout/IconVerticalSolidList"/>
    <dgm:cxn modelId="{9AE5BA18-259B-4E26-BA0F-CF933E608774}" type="presParOf" srcId="{7286E5F4-E7C7-4D67-900D-D85364F0EDD9}" destId="{92B621F4-AE04-4F31-9FB9-E316D735416B}" srcOrd="1" destOrd="0" presId="urn:microsoft.com/office/officeart/2018/2/layout/IconVerticalSolidList"/>
    <dgm:cxn modelId="{E45FA3EC-F3B2-489F-BE5E-05689A3E6B9D}" type="presParOf" srcId="{7286E5F4-E7C7-4D67-900D-D85364F0EDD9}" destId="{E6ABA1CA-411F-49D6-9E62-3353B343320F}" srcOrd="2" destOrd="0" presId="urn:microsoft.com/office/officeart/2018/2/layout/IconVerticalSolidList"/>
    <dgm:cxn modelId="{22A585CA-5B24-4CBA-80E0-D2A32B4C6E1E}" type="presParOf" srcId="{7286E5F4-E7C7-4D67-900D-D85364F0EDD9}" destId="{DFC487CA-793F-4D56-A9B7-F61E1BD4E51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538CA8-C7DD-4CAC-9B09-8316AFCA66D4}">
      <dsp:nvSpPr>
        <dsp:cNvPr id="0" name=""/>
        <dsp:cNvSpPr/>
      </dsp:nvSpPr>
      <dsp:spPr>
        <a:xfrm>
          <a:off x="0" y="4029"/>
          <a:ext cx="4697730" cy="850674"/>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975EB0-89E5-4FEE-A4A2-FD36C9800EFB}">
      <dsp:nvSpPr>
        <dsp:cNvPr id="0" name=""/>
        <dsp:cNvSpPr/>
      </dsp:nvSpPr>
      <dsp:spPr>
        <a:xfrm>
          <a:off x="257329" y="195431"/>
          <a:ext cx="468328" cy="467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4DAF40-80E6-4A09-8167-87D1CCB8772E}">
      <dsp:nvSpPr>
        <dsp:cNvPr id="0" name=""/>
        <dsp:cNvSpPr/>
      </dsp:nvSpPr>
      <dsp:spPr>
        <a:xfrm>
          <a:off x="982986" y="4029"/>
          <a:ext cx="3416212" cy="1196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604" tIns="126604" rIns="126604" bIns="126604" numCol="1" spcCol="1270" anchor="ctr" anchorCtr="0">
          <a:noAutofit/>
        </a:bodyPr>
        <a:lstStyle/>
        <a:p>
          <a:pPr marL="0" lvl="0" indent="0" algn="l" defTabSz="622300">
            <a:lnSpc>
              <a:spcPct val="100000"/>
            </a:lnSpc>
            <a:spcBef>
              <a:spcPct val="0"/>
            </a:spcBef>
            <a:spcAft>
              <a:spcPct val="35000"/>
            </a:spcAft>
            <a:buNone/>
          </a:pPr>
          <a:r>
            <a:rPr lang="en-IN" sz="1400" kern="1200"/>
            <a:t>Model Used: Multiple Linear Regression </a:t>
          </a:r>
          <a:br>
            <a:rPr lang="en-IN" sz="1400" kern="1200"/>
          </a:br>
          <a:r>
            <a:rPr lang="en-IN" sz="1400" kern="1200"/>
            <a:t>Target Variable: Usage_kWh </a:t>
          </a:r>
          <a:br>
            <a:rPr lang="en-IN" sz="1400" kern="1200"/>
          </a:br>
          <a:endParaRPr lang="en-US" sz="1400" kern="1200"/>
        </a:p>
      </dsp:txBody>
      <dsp:txXfrm>
        <a:off x="982986" y="4029"/>
        <a:ext cx="3416212" cy="1196261"/>
      </dsp:txXfrm>
    </dsp:sp>
    <dsp:sp modelId="{1CD8ABAF-5BBB-48D0-9EFA-BE26AF053935}">
      <dsp:nvSpPr>
        <dsp:cNvPr id="0" name=""/>
        <dsp:cNvSpPr/>
      </dsp:nvSpPr>
      <dsp:spPr>
        <a:xfrm>
          <a:off x="0" y="1466127"/>
          <a:ext cx="4697730" cy="850674"/>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A5A125-FF92-46C4-B66A-623C6E59554C}">
      <dsp:nvSpPr>
        <dsp:cNvPr id="0" name=""/>
        <dsp:cNvSpPr/>
      </dsp:nvSpPr>
      <dsp:spPr>
        <a:xfrm>
          <a:off x="257329" y="1657529"/>
          <a:ext cx="468328" cy="467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488BED-4AFF-41D3-A211-3FA6B8801294}">
      <dsp:nvSpPr>
        <dsp:cNvPr id="0" name=""/>
        <dsp:cNvSpPr/>
      </dsp:nvSpPr>
      <dsp:spPr>
        <a:xfrm>
          <a:off x="982986" y="1466127"/>
          <a:ext cx="3416212" cy="1196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604" tIns="126604" rIns="126604" bIns="126604" numCol="1" spcCol="1270" anchor="ctr" anchorCtr="0">
          <a:noAutofit/>
        </a:bodyPr>
        <a:lstStyle/>
        <a:p>
          <a:pPr marL="0" lvl="0" indent="0" algn="l" defTabSz="622300">
            <a:lnSpc>
              <a:spcPct val="100000"/>
            </a:lnSpc>
            <a:spcBef>
              <a:spcPct val="0"/>
            </a:spcBef>
            <a:spcAft>
              <a:spcPct val="35000"/>
            </a:spcAft>
            <a:buNone/>
          </a:pPr>
          <a:r>
            <a:rPr lang="en-IN" sz="1400" kern="1200" dirty="0"/>
            <a:t>Key Drivers:</a:t>
          </a:r>
          <a:br>
            <a:rPr lang="en-IN" sz="1400" kern="1200" dirty="0"/>
          </a:br>
          <a:r>
            <a:rPr lang="en-IN" sz="1400" kern="1200" dirty="0"/>
            <a:t>CO2 → Strong positive relationship </a:t>
          </a:r>
          <a:br>
            <a:rPr lang="en-IN" sz="1400" kern="1200" dirty="0"/>
          </a:br>
          <a:r>
            <a:rPr lang="en-IN" sz="1400" kern="1200" dirty="0"/>
            <a:t>Lagging Current Power → High impact </a:t>
          </a:r>
          <a:br>
            <a:rPr lang="en-IN" sz="1400" kern="1200" dirty="0"/>
          </a:br>
          <a:r>
            <a:rPr lang="en-IN" sz="1400" kern="1200" dirty="0"/>
            <a:t>High Usage Flag → Significant predictor </a:t>
          </a:r>
          <a:br>
            <a:rPr lang="en-IN" sz="1400" kern="1200" dirty="0"/>
          </a:br>
          <a:endParaRPr lang="en-US" sz="1400" kern="1200" dirty="0"/>
        </a:p>
      </dsp:txBody>
      <dsp:txXfrm>
        <a:off x="982986" y="1466127"/>
        <a:ext cx="3416212" cy="1196261"/>
      </dsp:txXfrm>
    </dsp:sp>
    <dsp:sp modelId="{1434A2B4-D7E0-4838-80C7-7D72D19301F5}">
      <dsp:nvSpPr>
        <dsp:cNvPr id="0" name=""/>
        <dsp:cNvSpPr/>
      </dsp:nvSpPr>
      <dsp:spPr>
        <a:xfrm>
          <a:off x="0" y="2928224"/>
          <a:ext cx="4697730" cy="850674"/>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B621F4-AE04-4F31-9FB9-E316D735416B}">
      <dsp:nvSpPr>
        <dsp:cNvPr id="0" name=""/>
        <dsp:cNvSpPr/>
      </dsp:nvSpPr>
      <dsp:spPr>
        <a:xfrm>
          <a:off x="257329" y="3119626"/>
          <a:ext cx="468328" cy="4678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C487CA-793F-4D56-A9B7-F61E1BD4E51A}">
      <dsp:nvSpPr>
        <dsp:cNvPr id="0" name=""/>
        <dsp:cNvSpPr/>
      </dsp:nvSpPr>
      <dsp:spPr>
        <a:xfrm>
          <a:off x="982986" y="2928224"/>
          <a:ext cx="3416212" cy="11962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604" tIns="126604" rIns="126604" bIns="126604" numCol="1" spcCol="1270" anchor="ctr" anchorCtr="0">
          <a:noAutofit/>
        </a:bodyPr>
        <a:lstStyle/>
        <a:p>
          <a:pPr marL="0" lvl="0" indent="0" algn="l" defTabSz="622300">
            <a:lnSpc>
              <a:spcPct val="100000"/>
            </a:lnSpc>
            <a:spcBef>
              <a:spcPct val="0"/>
            </a:spcBef>
            <a:spcAft>
              <a:spcPct val="35000"/>
            </a:spcAft>
            <a:buNone/>
          </a:pPr>
          <a:r>
            <a:rPr lang="en-IN" sz="1400" kern="1200" dirty="0" err="1"/>
            <a:t>Preprocessing</a:t>
          </a:r>
          <a:r>
            <a:rPr lang="en-IN" sz="1400" kern="1200" dirty="0"/>
            <a:t> Steps:</a:t>
          </a:r>
          <a:br>
            <a:rPr lang="en-IN" sz="1400" kern="1200" dirty="0"/>
          </a:br>
          <a:r>
            <a:rPr lang="en-IN" sz="1400" kern="1200" dirty="0"/>
            <a:t>One-hot encoding for categorical variables </a:t>
          </a:r>
          <a:br>
            <a:rPr lang="en-IN" sz="1400" kern="1200" dirty="0"/>
          </a:br>
          <a:r>
            <a:rPr lang="en-IN" sz="1400" kern="1200" dirty="0"/>
            <a:t>Feature scaling applied </a:t>
          </a:r>
          <a:br>
            <a:rPr lang="en-IN" sz="1400" kern="1200" dirty="0"/>
          </a:br>
          <a:r>
            <a:rPr lang="en-IN" sz="1400" kern="1200" dirty="0"/>
            <a:t>Train-test split (80:20)</a:t>
          </a:r>
          <a:endParaRPr lang="en-US" sz="1400" kern="1200" dirty="0"/>
        </a:p>
      </dsp:txBody>
      <dsp:txXfrm>
        <a:off x="982986" y="2928224"/>
        <a:ext cx="3416212" cy="119626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5150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6A268-9993-2193-D0F1-C84BEC6C9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7958C-8956-422C-DFDC-EFA9DFFBCD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66327-CC10-FA3C-2A3E-5C5AD164AF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E3496A-A806-8AB1-752A-4F4F49AE0D4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361942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47C71-C750-ECE4-4E60-1781C885BB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7DB2E07-8828-9500-98C5-7C616D726E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30A12A-FDEC-8AFF-21F8-6999790C30FB}"/>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5" name="Footer Placeholder 4">
            <a:extLst>
              <a:ext uri="{FF2B5EF4-FFF2-40B4-BE49-F238E27FC236}">
                <a16:creationId xmlns:a16="http://schemas.microsoft.com/office/drawing/2014/main" id="{3F6CA298-A500-829A-938F-A666C0299C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CE86CD-9B82-23BF-E441-BE3278691BBE}"/>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1730773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91311-F3A4-9758-560B-EE7072785D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3CF76E-DC72-83EF-A382-97494D7395E9}"/>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03C084D-3070-3236-2D89-90C8DC249D33}"/>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A80113-9ADA-58E6-119D-2733511EF8CC}"/>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6" name="Footer Placeholder 5">
            <a:extLst>
              <a:ext uri="{FF2B5EF4-FFF2-40B4-BE49-F238E27FC236}">
                <a16:creationId xmlns:a16="http://schemas.microsoft.com/office/drawing/2014/main" id="{35C17164-4636-CD6A-16FC-D409A50605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F2920C-0257-AF6B-287B-85E795BEBA47}"/>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171982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6954-4574-E1E0-C03C-F1F3E105EA83}"/>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E18B97D-97BB-B887-895C-3B716223DD90}"/>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10FCEA-17DA-9A5A-41A5-19BFAE449A2E}"/>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5" name="Footer Placeholder 4">
            <a:extLst>
              <a:ext uri="{FF2B5EF4-FFF2-40B4-BE49-F238E27FC236}">
                <a16:creationId xmlns:a16="http://schemas.microsoft.com/office/drawing/2014/main" id="{AB19441E-76EC-31FE-48D4-305B838FE7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E71B00-1633-5449-0F64-5CFC633B574D}"/>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222578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47C71-C750-ECE4-4E60-1781C885BB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7DB2E07-8828-9500-98C5-7C616D726E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30A12A-FDEC-8AFF-21F8-6999790C30FB}"/>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5" name="Footer Placeholder 4">
            <a:extLst>
              <a:ext uri="{FF2B5EF4-FFF2-40B4-BE49-F238E27FC236}">
                <a16:creationId xmlns:a16="http://schemas.microsoft.com/office/drawing/2014/main" id="{3F6CA298-A500-829A-938F-A666C0299C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CE86CD-9B82-23BF-E441-BE3278691BBE}"/>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409283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2F6AC-1D42-AED8-5017-6A9E3B9F86A7}"/>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42A71EB-2B0D-2513-11D9-79D11CFFEEA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380F42-6FA6-563E-1E09-344323A0F420}"/>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5" name="Footer Placeholder 4">
            <a:extLst>
              <a:ext uri="{FF2B5EF4-FFF2-40B4-BE49-F238E27FC236}">
                <a16:creationId xmlns:a16="http://schemas.microsoft.com/office/drawing/2014/main" id="{41D2FECF-04B4-EAA1-7A9F-2CD137873E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C09D08-B92C-5D98-F6FD-60377836F068}"/>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1909797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91311-F3A4-9758-560B-EE7072785D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3CF76E-DC72-83EF-A382-97494D7395E9}"/>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03C084D-3070-3236-2D89-90C8DC249D33}"/>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A80113-9ADA-58E6-119D-2733511EF8CC}"/>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6" name="Footer Placeholder 5">
            <a:extLst>
              <a:ext uri="{FF2B5EF4-FFF2-40B4-BE49-F238E27FC236}">
                <a16:creationId xmlns:a16="http://schemas.microsoft.com/office/drawing/2014/main" id="{35C17164-4636-CD6A-16FC-D409A50605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F2920C-0257-AF6B-287B-85E795BEBA47}"/>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1075512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6C44B-CF9E-FEC5-EC56-12E3290A4849}"/>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E63475-E1FB-DF16-114A-79F72E19C12C}"/>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07FFBEB8-4F9F-6398-2F20-BB81C447F722}"/>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11A115-8271-78E0-C5F6-3128B76B8FD1}"/>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15C59F8-8019-68BF-CF6B-E8BE8962801D}"/>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02A6EE-4974-CA4A-1C9D-1EE31A7CCEE3}"/>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8" name="Footer Placeholder 7">
            <a:extLst>
              <a:ext uri="{FF2B5EF4-FFF2-40B4-BE49-F238E27FC236}">
                <a16:creationId xmlns:a16="http://schemas.microsoft.com/office/drawing/2014/main" id="{96D06D32-B0A0-69CD-72E5-62E14BC520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9CE6FD-9222-0227-E841-147A7BC927E3}"/>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1763994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3AD79-6D8E-BFD1-A9E5-02B374D1084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DA55AF6-547A-9A5A-43D5-FBA0FEE571B6}"/>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4" name="Footer Placeholder 3">
            <a:extLst>
              <a:ext uri="{FF2B5EF4-FFF2-40B4-BE49-F238E27FC236}">
                <a16:creationId xmlns:a16="http://schemas.microsoft.com/office/drawing/2014/main" id="{D97C2C14-FF73-7976-D77C-BC1C17ABC25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AFD454-446C-4F2D-03FC-8FE295B86C06}"/>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3215369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B45FE9-68C8-1761-19B2-E1DE8C44434E}"/>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3" name="Footer Placeholder 2">
            <a:extLst>
              <a:ext uri="{FF2B5EF4-FFF2-40B4-BE49-F238E27FC236}">
                <a16:creationId xmlns:a16="http://schemas.microsoft.com/office/drawing/2014/main" id="{54F386D3-F123-7D54-F151-B9096ACF157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991FDB-A98E-4203-489A-BF276A59B4FF}"/>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3122296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D92FB-2706-1A02-A73E-92A4FB248B9B}"/>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1E85A9C-9E0D-AA9C-8734-C699CC14350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E23808-5BD2-1162-BD8E-0BB828371E8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41EA87C-68A3-C79E-54C4-D76A9E91B618}"/>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6" name="Footer Placeholder 5">
            <a:extLst>
              <a:ext uri="{FF2B5EF4-FFF2-40B4-BE49-F238E27FC236}">
                <a16:creationId xmlns:a16="http://schemas.microsoft.com/office/drawing/2014/main" id="{91C96122-34F3-72B6-B914-0C99EA9294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774C15-EBCA-D2DC-9661-61EC1154219A}"/>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2157660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07380-92C4-8469-A0DF-453BD4A666A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BDB63B-7C33-80DD-A0C6-C7923E21AC4E}"/>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804EF7DA-6785-F7C5-C327-717E4A5ADD6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42B3BB6-CDA0-30BD-8B5D-5CDE72B594DF}"/>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6" name="Footer Placeholder 5">
            <a:extLst>
              <a:ext uri="{FF2B5EF4-FFF2-40B4-BE49-F238E27FC236}">
                <a16:creationId xmlns:a16="http://schemas.microsoft.com/office/drawing/2014/main" id="{CD92FD46-5183-3B8E-7DB4-A296BB3483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99F06D-81D9-141F-8D7A-0E5A5A575BA1}"/>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1995334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CA277-2E03-09BD-AEAA-2124D90A648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F398A2-7D43-891D-1179-8C792CABE6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FA0FA8-BFCE-CC76-E27C-2F139BC4AAED}"/>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5" name="Footer Placeholder 4">
            <a:extLst>
              <a:ext uri="{FF2B5EF4-FFF2-40B4-BE49-F238E27FC236}">
                <a16:creationId xmlns:a16="http://schemas.microsoft.com/office/drawing/2014/main" id="{E3B6DFDA-A2FD-CB40-08DD-9508B1626E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49257D-72A9-57C1-238E-1BACD29495DF}"/>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21974552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231D2F-0366-1B5D-09D7-1B19A999487F}"/>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43B7F8-3EE2-2A00-B5AE-CCC3454EE4C2}"/>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193F42-7310-5F08-1178-042C73C7A5A3}"/>
              </a:ext>
            </a:extLst>
          </p:cNvPr>
          <p:cNvSpPr>
            <a:spLocks noGrp="1"/>
          </p:cNvSpPr>
          <p:nvPr>
            <p:ph type="dt" sz="half" idx="10"/>
          </p:nvPr>
        </p:nvSpPr>
        <p:spPr/>
        <p:txBody>
          <a:bodyPr/>
          <a:lstStyle/>
          <a:p>
            <a:fld id="{A66223B4-76BE-4FA8-9184-4B8AFBB01860}" type="datetimeFigureOut">
              <a:rPr lang="en-IN" smtClean="0"/>
              <a:t>02-07-2026</a:t>
            </a:fld>
            <a:endParaRPr lang="en-IN"/>
          </a:p>
        </p:txBody>
      </p:sp>
      <p:sp>
        <p:nvSpPr>
          <p:cNvPr id="5" name="Footer Placeholder 4">
            <a:extLst>
              <a:ext uri="{FF2B5EF4-FFF2-40B4-BE49-F238E27FC236}">
                <a16:creationId xmlns:a16="http://schemas.microsoft.com/office/drawing/2014/main" id="{636FC5A8-AE70-44D2-026A-687380A7E9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889013-4416-089D-3398-BDC82C2D9163}"/>
              </a:ext>
            </a:extLst>
          </p:cNvPr>
          <p:cNvSpPr>
            <a:spLocks noGrp="1"/>
          </p:cNvSpPr>
          <p:nvPr>
            <p:ph type="sldNum" sz="quarter" idx="12"/>
          </p:nvPr>
        </p:nvSpPr>
        <p:spPr/>
        <p:txBody>
          <a:bodyPr/>
          <a:lstStyle/>
          <a:p>
            <a:fld id="{88A27DF1-8E44-4F88-A15F-61D241458B37}" type="slidenum">
              <a:rPr lang="en-IN" smtClean="0"/>
              <a:t>‹#›</a:t>
            </a:fld>
            <a:endParaRPr lang="en-IN"/>
          </a:p>
        </p:txBody>
      </p:sp>
    </p:spTree>
    <p:extLst>
      <p:ext uri="{BB962C8B-B14F-4D97-AF65-F5344CB8AC3E}">
        <p14:creationId xmlns:p14="http://schemas.microsoft.com/office/powerpoint/2010/main" val="8296299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C7CE60-6AD4-C6E4-F766-B7673FD70F5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22BEDB-B5E8-1F43-C965-4B4E5859E38B}"/>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71F703-E4F7-AB89-8CD6-2B70362FA0D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66223B4-76BE-4FA8-9184-4B8AFBB01860}" type="datetimeFigureOut">
              <a:rPr lang="en-IN" smtClean="0"/>
              <a:t>02-07-2026</a:t>
            </a:fld>
            <a:endParaRPr lang="en-IN"/>
          </a:p>
        </p:txBody>
      </p:sp>
      <p:sp>
        <p:nvSpPr>
          <p:cNvPr id="5" name="Footer Placeholder 4">
            <a:extLst>
              <a:ext uri="{FF2B5EF4-FFF2-40B4-BE49-F238E27FC236}">
                <a16:creationId xmlns:a16="http://schemas.microsoft.com/office/drawing/2014/main" id="{92BA6745-8B31-6C76-00F5-3D37F67691B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7BDA641-0C75-273C-D351-F90186DBE721}"/>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8A27DF1-8E44-4F88-A15F-61D241458B37}" type="slidenum">
              <a:rPr lang="en-IN" smtClean="0"/>
              <a:t>‹#›</a:t>
            </a:fld>
            <a:endParaRPr lang="en-IN"/>
          </a:p>
        </p:txBody>
      </p:sp>
    </p:spTree>
    <p:extLst>
      <p:ext uri="{BB962C8B-B14F-4D97-AF65-F5344CB8AC3E}">
        <p14:creationId xmlns:p14="http://schemas.microsoft.com/office/powerpoint/2010/main" val="2045011995"/>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A3E"/>
        </a:solidFill>
        <a:effectLst/>
      </p:bgPr>
    </p:bg>
    <p:spTree>
      <p:nvGrpSpPr>
        <p:cNvPr id="1" name=""/>
        <p:cNvGrpSpPr/>
        <p:nvPr/>
      </p:nvGrpSpPr>
      <p:grpSpPr>
        <a:xfrm>
          <a:off x="0" y="0"/>
          <a:ext cx="0" cy="0"/>
          <a:chOff x="0" y="0"/>
          <a:chExt cx="0" cy="0"/>
        </a:xfrm>
      </p:grpSpPr>
      <p:sp>
        <p:nvSpPr>
          <p:cNvPr id="2" name="Shape 0"/>
          <p:cNvSpPr/>
          <p:nvPr/>
        </p:nvSpPr>
        <p:spPr>
          <a:xfrm>
            <a:off x="0" y="0"/>
            <a:ext cx="342900" cy="5143500"/>
          </a:xfrm>
          <a:prstGeom prst="rect">
            <a:avLst/>
          </a:prstGeom>
          <a:solidFill>
            <a:srgbClr val="4FC3F7"/>
          </a:solidFill>
          <a:ln w="12700">
            <a:solidFill>
              <a:srgbClr val="4FC3F7"/>
            </a:solidFill>
            <a:prstDash val="solid"/>
          </a:ln>
        </p:spPr>
      </p:sp>
      <p:sp>
        <p:nvSpPr>
          <p:cNvPr id="3" name="Shape 1"/>
          <p:cNvSpPr/>
          <p:nvPr/>
        </p:nvSpPr>
        <p:spPr>
          <a:xfrm>
            <a:off x="342900" y="0"/>
            <a:ext cx="8778240" cy="41148"/>
          </a:xfrm>
          <a:prstGeom prst="rect">
            <a:avLst/>
          </a:prstGeom>
          <a:solidFill>
            <a:srgbClr val="F9A825"/>
          </a:solidFill>
          <a:ln w="12700">
            <a:solidFill>
              <a:srgbClr val="F9A825"/>
            </a:solidFill>
            <a:prstDash val="solid"/>
          </a:ln>
        </p:spPr>
      </p:sp>
      <p:sp>
        <p:nvSpPr>
          <p:cNvPr id="4" name="Shape 2"/>
          <p:cNvSpPr/>
          <p:nvPr/>
        </p:nvSpPr>
        <p:spPr>
          <a:xfrm>
            <a:off x="342900" y="5102352"/>
            <a:ext cx="8778240" cy="41148"/>
          </a:xfrm>
          <a:prstGeom prst="rect">
            <a:avLst/>
          </a:prstGeom>
          <a:solidFill>
            <a:srgbClr val="00BCD4"/>
          </a:solidFill>
          <a:ln w="12700">
            <a:solidFill>
              <a:srgbClr val="00BCD4"/>
            </a:solidFill>
            <a:prstDash val="solid"/>
          </a:ln>
        </p:spPr>
      </p:sp>
      <p:sp>
        <p:nvSpPr>
          <p:cNvPr id="5" name="Shape 3"/>
          <p:cNvSpPr/>
          <p:nvPr/>
        </p:nvSpPr>
        <p:spPr>
          <a:xfrm>
            <a:off x="5829300" y="-685800"/>
            <a:ext cx="3429000" cy="3429000"/>
          </a:xfrm>
          <a:prstGeom prst="ellipse">
            <a:avLst/>
          </a:prstGeom>
          <a:solidFill>
            <a:srgbClr val="4FC3F7">
              <a:alpha val="12000"/>
            </a:srgbClr>
          </a:solidFill>
          <a:ln w="12700">
            <a:solidFill>
              <a:srgbClr val="4FC3F7">
                <a:alpha val="30000"/>
              </a:srgbClr>
            </a:solidFill>
            <a:prstDash val="solid"/>
          </a:ln>
        </p:spPr>
      </p:sp>
      <p:sp>
        <p:nvSpPr>
          <p:cNvPr id="6" name="Shape 4"/>
          <p:cNvSpPr/>
          <p:nvPr/>
        </p:nvSpPr>
        <p:spPr>
          <a:xfrm>
            <a:off x="6309360" y="-205740"/>
            <a:ext cx="2606040" cy="2606040"/>
          </a:xfrm>
          <a:prstGeom prst="ellipse">
            <a:avLst/>
          </a:prstGeom>
          <a:solidFill>
            <a:srgbClr val="00BCD4">
              <a:alpha val="8000"/>
            </a:srgbClr>
          </a:solidFill>
          <a:ln w="12700">
            <a:solidFill>
              <a:srgbClr val="00BCD4">
                <a:alpha val="20000"/>
              </a:srgbClr>
            </a:solidFill>
            <a:prstDash val="solid"/>
          </a:ln>
        </p:spPr>
      </p:sp>
      <p:sp>
        <p:nvSpPr>
          <p:cNvPr id="7" name="Shape 5"/>
          <p:cNvSpPr/>
          <p:nvPr/>
        </p:nvSpPr>
        <p:spPr>
          <a:xfrm>
            <a:off x="617220" y="1028700"/>
            <a:ext cx="1920240" cy="219456"/>
          </a:xfrm>
          <a:prstGeom prst="rect">
            <a:avLst/>
          </a:prstGeom>
          <a:solidFill>
            <a:srgbClr val="F9A825"/>
          </a:solidFill>
          <a:ln w="12700">
            <a:solidFill>
              <a:srgbClr val="F9A825"/>
            </a:solidFill>
            <a:prstDash val="solid"/>
          </a:ln>
        </p:spPr>
      </p:sp>
      <p:sp>
        <p:nvSpPr>
          <p:cNvPr id="8" name="Text 6"/>
          <p:cNvSpPr/>
          <p:nvPr/>
        </p:nvSpPr>
        <p:spPr>
          <a:xfrm>
            <a:off x="617220" y="1028700"/>
            <a:ext cx="1920240" cy="219456"/>
          </a:xfrm>
          <a:prstGeom prst="rect">
            <a:avLst/>
          </a:prstGeom>
          <a:noFill/>
          <a:ln/>
        </p:spPr>
        <p:txBody>
          <a:bodyPr wrap="square" lIns="0" tIns="0" rIns="0" bIns="0" rtlCol="0" anchor="ctr"/>
          <a:lstStyle/>
          <a:p>
            <a:pPr algn="ctr" defTabSz="685800"/>
            <a:r>
              <a:rPr lang="en-US" sz="675" b="1" kern="0" spc="113" dirty="0">
                <a:solidFill>
                  <a:srgbClr val="1E2761"/>
                </a:solidFill>
                <a:latin typeface="Calibri" panose="020F0502020204030204"/>
              </a:rPr>
              <a:t>DATA ANALYTICS PROJECT</a:t>
            </a:r>
            <a:endParaRPr lang="en-US" sz="675" dirty="0">
              <a:solidFill>
                <a:prstClr val="black"/>
              </a:solidFill>
              <a:latin typeface="Calibri" panose="020F0502020204030204"/>
            </a:endParaRPr>
          </a:p>
        </p:txBody>
      </p:sp>
      <p:sp>
        <p:nvSpPr>
          <p:cNvPr id="9" name="Text 7"/>
          <p:cNvSpPr/>
          <p:nvPr/>
        </p:nvSpPr>
        <p:spPr>
          <a:xfrm>
            <a:off x="617220" y="1337310"/>
            <a:ext cx="6172200" cy="2057400"/>
          </a:xfrm>
          <a:prstGeom prst="rect">
            <a:avLst/>
          </a:prstGeom>
          <a:noFill/>
          <a:ln/>
        </p:spPr>
        <p:txBody>
          <a:bodyPr wrap="square" rtlCol="0" anchor="t"/>
          <a:lstStyle/>
          <a:p>
            <a:pPr defTabSz="685800">
              <a:lnSpc>
                <a:spcPct val="110000"/>
              </a:lnSpc>
            </a:pPr>
            <a:r>
              <a:rPr lang="en-US" sz="4050" b="1" dirty="0">
                <a:solidFill>
                  <a:srgbClr val="FFFFFF"/>
                </a:solidFill>
                <a:latin typeface="Calibri" pitchFamily="34" charset="0"/>
                <a:ea typeface="Calibri" pitchFamily="34" charset="-122"/>
                <a:cs typeface="Calibri" pitchFamily="34" charset="-120"/>
              </a:rPr>
              <a:t>Steel Industry</a:t>
            </a:r>
            <a:endParaRPr lang="en-US" sz="4050" dirty="0">
              <a:solidFill>
                <a:prstClr val="black"/>
              </a:solidFill>
              <a:latin typeface="Calibri" panose="020F0502020204030204"/>
            </a:endParaRPr>
          </a:p>
          <a:p>
            <a:pPr defTabSz="685800">
              <a:lnSpc>
                <a:spcPct val="110000"/>
              </a:lnSpc>
            </a:pPr>
            <a:r>
              <a:rPr lang="en-US" sz="4050" b="1" dirty="0">
                <a:solidFill>
                  <a:srgbClr val="FFFFFF"/>
                </a:solidFill>
                <a:latin typeface="Calibri" pitchFamily="34" charset="0"/>
                <a:ea typeface="Calibri" pitchFamily="34" charset="-122"/>
                <a:cs typeface="Calibri" pitchFamily="34" charset="-120"/>
              </a:rPr>
              <a:t>Electricity Usage</a:t>
            </a:r>
            <a:endParaRPr lang="en-US" sz="4050" dirty="0">
              <a:solidFill>
                <a:prstClr val="black"/>
              </a:solidFill>
              <a:latin typeface="Calibri" panose="020F0502020204030204"/>
            </a:endParaRPr>
          </a:p>
          <a:p>
            <a:pPr defTabSz="685800">
              <a:lnSpc>
                <a:spcPct val="110000"/>
              </a:lnSpc>
            </a:pPr>
            <a:r>
              <a:rPr lang="en-US" sz="4050" b="1" dirty="0">
                <a:solidFill>
                  <a:srgbClr val="FFFFFF"/>
                </a:solidFill>
                <a:latin typeface="Calibri" pitchFamily="34" charset="0"/>
                <a:ea typeface="Calibri" pitchFamily="34" charset="-122"/>
                <a:cs typeface="Calibri" pitchFamily="34" charset="-120"/>
              </a:rPr>
              <a:t>Analysis</a:t>
            </a:r>
            <a:endParaRPr lang="en-US" sz="4050" dirty="0">
              <a:solidFill>
                <a:prstClr val="black"/>
              </a:solidFill>
              <a:latin typeface="Calibri" panose="020F0502020204030204"/>
            </a:endParaRPr>
          </a:p>
        </p:txBody>
      </p:sp>
      <p:sp>
        <p:nvSpPr>
          <p:cNvPr id="10" name="Text 8"/>
          <p:cNvSpPr/>
          <p:nvPr/>
        </p:nvSpPr>
        <p:spPr>
          <a:xfrm>
            <a:off x="617220" y="3497580"/>
            <a:ext cx="6515100" cy="925830"/>
          </a:xfrm>
          <a:prstGeom prst="rect">
            <a:avLst/>
          </a:prstGeom>
          <a:noFill/>
          <a:ln/>
        </p:spPr>
        <p:txBody>
          <a:bodyPr wrap="square" rtlCol="0" anchor="ctr"/>
          <a:lstStyle/>
          <a:p>
            <a:pPr defTabSz="685800"/>
            <a:r>
              <a:rPr lang="en-US" sz="1200" dirty="0">
                <a:solidFill>
                  <a:schemeClr val="bg1"/>
                </a:solidFill>
                <a:latin typeface="Calibri Light" pitchFamily="34" charset="0"/>
                <a:ea typeface="Calibri Light" pitchFamily="34" charset="-122"/>
                <a:cs typeface="Calibri Light" pitchFamily="34" charset="-120"/>
              </a:rPr>
              <a:t>Understanding energy patterns to drive smarter operations, reduce costs &amp; build a sustainable future</a:t>
            </a:r>
          </a:p>
          <a:p>
            <a:pPr defTabSz="685800"/>
            <a:r>
              <a:rPr lang="en-US" sz="1200" dirty="0">
                <a:solidFill>
                  <a:schemeClr val="bg1"/>
                </a:solidFill>
                <a:latin typeface="Calibri Light" pitchFamily="34" charset="0"/>
                <a:cs typeface="Calibri Light" pitchFamily="34" charset="-120"/>
              </a:rPr>
              <a:t>By        :   Mahalakshmi </a:t>
            </a:r>
          </a:p>
          <a:p>
            <a:pPr defTabSz="685800"/>
            <a:r>
              <a:rPr lang="en-US" sz="1200" dirty="0">
                <a:solidFill>
                  <a:schemeClr val="bg1"/>
                </a:solidFill>
                <a:latin typeface="Calibri Light" pitchFamily="34" charset="0"/>
                <a:cs typeface="Calibri Light" pitchFamily="34" charset="-120"/>
              </a:rPr>
              <a:t>Mentor : Mrs. Priya Shanmugam </a:t>
            </a:r>
          </a:p>
          <a:p>
            <a:pPr defTabSz="685800"/>
            <a:r>
              <a:rPr lang="en-US" sz="1200" dirty="0">
                <a:solidFill>
                  <a:schemeClr val="bg1"/>
                </a:solidFill>
                <a:latin typeface="Calibri Light" pitchFamily="34" charset="0"/>
                <a:cs typeface="Calibri Light" pitchFamily="34" charset="-120"/>
              </a:rPr>
              <a:t>Batch :     DA644S64</a:t>
            </a:r>
          </a:p>
        </p:txBody>
      </p:sp>
      <p:sp>
        <p:nvSpPr>
          <p:cNvPr id="11" name="Text 9"/>
          <p:cNvSpPr/>
          <p:nvPr/>
        </p:nvSpPr>
        <p:spPr>
          <a:xfrm>
            <a:off x="617220" y="4766310"/>
            <a:ext cx="6858000" cy="274320"/>
          </a:xfrm>
          <a:prstGeom prst="rect">
            <a:avLst/>
          </a:prstGeom>
          <a:noFill/>
          <a:ln/>
        </p:spPr>
        <p:txBody>
          <a:bodyPr wrap="square" rtlCol="0" anchor="ctr"/>
          <a:lstStyle/>
          <a:p>
            <a:pPr defTabSz="685800"/>
            <a:r>
              <a:rPr lang="en-US" sz="825" dirty="0">
                <a:solidFill>
                  <a:srgbClr val="8FA8C8"/>
                </a:solidFill>
                <a:latin typeface="Calibri" panose="020F0502020204030204"/>
              </a:rPr>
              <a:t>Steel Industry  |  Energy &amp; Sustainability  |  2025</a:t>
            </a:r>
            <a:endParaRPr lang="en-US" sz="825" dirty="0">
              <a:solidFill>
                <a:prstClr val="black"/>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Problem Statement &amp; Objectives</a:t>
            </a:r>
            <a:endParaRPr lang="en-US" sz="2200" dirty="0"/>
          </a:p>
        </p:txBody>
      </p:sp>
      <p:sp>
        <p:nvSpPr>
          <p:cNvPr id="4" name="Shape 2"/>
          <p:cNvSpPr/>
          <p:nvPr/>
        </p:nvSpPr>
        <p:spPr>
          <a:xfrm>
            <a:off x="274320" y="770382"/>
            <a:ext cx="8503920" cy="1147572"/>
          </a:xfrm>
          <a:prstGeom prst="rect">
            <a:avLst/>
          </a:prstGeom>
          <a:solidFill>
            <a:srgbClr val="0D1B3E"/>
          </a:solidFill>
          <a:ln w="12700">
            <a:solidFill>
              <a:srgbClr val="0D1B3E"/>
            </a:solidFill>
            <a:prstDash val="solid"/>
          </a:ln>
          <a:effectLst>
            <a:outerShdw blurRad="101600" dist="38100" dir="8100000" algn="bl" rotWithShape="0">
              <a:srgbClr val="000000">
                <a:alpha val="12000"/>
              </a:srgbClr>
            </a:outerShdw>
          </a:effectLst>
        </p:spPr>
      </p:sp>
      <p:sp>
        <p:nvSpPr>
          <p:cNvPr id="5" name="Shape 3"/>
          <p:cNvSpPr/>
          <p:nvPr/>
        </p:nvSpPr>
        <p:spPr>
          <a:xfrm>
            <a:off x="320040" y="868680"/>
            <a:ext cx="109728" cy="960120"/>
          </a:xfrm>
          <a:prstGeom prst="rect">
            <a:avLst/>
          </a:prstGeom>
          <a:solidFill>
            <a:srgbClr val="F59E42"/>
          </a:solidFill>
          <a:ln w="12700">
            <a:solidFill>
              <a:srgbClr val="F59E42"/>
            </a:solidFill>
            <a:prstDash val="solid"/>
          </a:ln>
        </p:spPr>
      </p:sp>
      <p:sp>
        <p:nvSpPr>
          <p:cNvPr id="6" name="Text 4"/>
          <p:cNvSpPr/>
          <p:nvPr/>
        </p:nvSpPr>
        <p:spPr>
          <a:xfrm>
            <a:off x="548640" y="768096"/>
            <a:ext cx="1763636" cy="230886"/>
          </a:xfrm>
          <a:prstGeom prst="rect">
            <a:avLst/>
          </a:prstGeom>
          <a:noFill/>
          <a:ln/>
        </p:spPr>
        <p:txBody>
          <a:bodyPr wrap="square" lIns="0" tIns="0" rIns="0" bIns="0" rtlCol="0" anchor="ctr"/>
          <a:lstStyle/>
          <a:p>
            <a:pPr marL="0" indent="0">
              <a:buNone/>
            </a:pPr>
            <a:r>
              <a:rPr lang="en-US" sz="950" b="1" kern="0" spc="200" dirty="0">
                <a:solidFill>
                  <a:srgbClr val="F59E42"/>
                </a:solidFill>
              </a:rPr>
              <a:t>PROBLEM STATEMENT</a:t>
            </a:r>
            <a:endParaRPr lang="en-US" sz="950" dirty="0"/>
          </a:p>
        </p:txBody>
      </p:sp>
      <p:sp>
        <p:nvSpPr>
          <p:cNvPr id="7" name="Text 5"/>
          <p:cNvSpPr/>
          <p:nvPr/>
        </p:nvSpPr>
        <p:spPr>
          <a:xfrm>
            <a:off x="534924" y="1074524"/>
            <a:ext cx="8138160" cy="836571"/>
          </a:xfrm>
          <a:prstGeom prst="rect">
            <a:avLst/>
          </a:prstGeom>
          <a:noFill/>
          <a:ln/>
        </p:spPr>
        <p:txBody>
          <a:bodyPr wrap="square" lIns="0" tIns="0" rIns="0" bIns="0" rtlCol="0" anchor="ctr"/>
          <a:lstStyle/>
          <a:p>
            <a:pPr defTabSz="685800"/>
            <a:r>
              <a:rPr lang="en-US" sz="1050" dirty="0">
                <a:solidFill>
                  <a:schemeClr val="bg1"/>
                </a:solidFill>
              </a:rPr>
              <a:t>The steel manufacturing industry is one of the largest consumers of electrical energy. Managing energy consumption efficiently is critical for both cost reduction and environmental sustainability.
This project analyses electricity usage patterns across different times of the day, week, and load conditions — to uncover what drives high energy consumption and how it can be better managed.</a:t>
            </a:r>
          </a:p>
        </p:txBody>
      </p:sp>
      <p:sp>
        <p:nvSpPr>
          <p:cNvPr id="8" name="Shape 6"/>
          <p:cNvSpPr/>
          <p:nvPr/>
        </p:nvSpPr>
        <p:spPr>
          <a:xfrm>
            <a:off x="320040" y="1956816"/>
            <a:ext cx="2743200" cy="1188720"/>
          </a:xfrm>
          <a:prstGeom prst="rect">
            <a:avLst/>
          </a:prstGeom>
          <a:solidFill>
            <a:srgbClr val="FFFFFF"/>
          </a:solidFill>
          <a:ln w="19050">
            <a:solidFill>
              <a:srgbClr val="1A56DB"/>
            </a:solidFill>
            <a:prstDash val="solid"/>
          </a:ln>
          <a:effectLst>
            <a:outerShdw blurRad="101600" dist="38100" dir="8100000" algn="bl" rotWithShape="0">
              <a:srgbClr val="000000">
                <a:alpha val="12000"/>
              </a:srgbClr>
            </a:outerShdw>
          </a:effectLst>
        </p:spPr>
      </p:sp>
      <p:sp>
        <p:nvSpPr>
          <p:cNvPr id="9" name="Shape 7"/>
          <p:cNvSpPr/>
          <p:nvPr/>
        </p:nvSpPr>
        <p:spPr>
          <a:xfrm>
            <a:off x="320040" y="1956816"/>
            <a:ext cx="2743200" cy="274320"/>
          </a:xfrm>
          <a:prstGeom prst="rect">
            <a:avLst/>
          </a:prstGeom>
          <a:solidFill>
            <a:srgbClr val="1A56DB"/>
          </a:solidFill>
          <a:ln w="12700">
            <a:solidFill>
              <a:srgbClr val="1A56DB"/>
            </a:solidFill>
            <a:prstDash val="solid"/>
          </a:ln>
        </p:spPr>
      </p:sp>
      <p:sp>
        <p:nvSpPr>
          <p:cNvPr id="10" name="Text 8"/>
          <p:cNvSpPr/>
          <p:nvPr/>
        </p:nvSpPr>
        <p:spPr>
          <a:xfrm>
            <a:off x="393192" y="1956816"/>
            <a:ext cx="2606040" cy="274320"/>
          </a:xfrm>
          <a:prstGeom prst="rect">
            <a:avLst/>
          </a:prstGeom>
          <a:noFill/>
          <a:ln/>
        </p:spPr>
        <p:txBody>
          <a:bodyPr wrap="square" lIns="0" tIns="0" rIns="0" bIns="0" rtlCol="0" anchor="ctr"/>
          <a:lstStyle/>
          <a:p>
            <a:pPr marL="0" indent="0">
              <a:buNone/>
            </a:pPr>
            <a:r>
              <a:rPr lang="en-US" sz="950" b="1" dirty="0">
                <a:solidFill>
                  <a:srgbClr val="FFFFFF"/>
                </a:solidFill>
              </a:rPr>
              <a:t>📊  Understand Usage Patterns</a:t>
            </a:r>
            <a:endParaRPr lang="en-US" sz="950" dirty="0"/>
          </a:p>
        </p:txBody>
      </p:sp>
      <p:sp>
        <p:nvSpPr>
          <p:cNvPr id="11" name="Text 9"/>
          <p:cNvSpPr/>
          <p:nvPr/>
        </p:nvSpPr>
        <p:spPr>
          <a:xfrm>
            <a:off x="393192" y="2258568"/>
            <a:ext cx="2606040" cy="841248"/>
          </a:xfrm>
          <a:prstGeom prst="rect">
            <a:avLst/>
          </a:prstGeom>
          <a:noFill/>
          <a:ln/>
        </p:spPr>
        <p:txBody>
          <a:bodyPr wrap="square" lIns="0" tIns="0" rIns="0" bIns="0" rtlCol="0" anchor="t"/>
          <a:lstStyle/>
          <a:p>
            <a:pPr marL="0" indent="0">
              <a:buNone/>
            </a:pPr>
            <a:r>
              <a:rPr lang="en-US" sz="900" dirty="0">
                <a:solidFill>
                  <a:srgbClr val="1A1A2E"/>
                </a:solidFill>
              </a:rPr>
              <a:t>Find out how often high electricity usage happens and which hours/months are most expensive.</a:t>
            </a:r>
            <a:endParaRPr lang="en-US" sz="900" dirty="0"/>
          </a:p>
        </p:txBody>
      </p:sp>
      <p:sp>
        <p:nvSpPr>
          <p:cNvPr id="12" name="Shape 10"/>
          <p:cNvSpPr/>
          <p:nvPr/>
        </p:nvSpPr>
        <p:spPr>
          <a:xfrm>
            <a:off x="3200400" y="1956816"/>
            <a:ext cx="2743200" cy="1188720"/>
          </a:xfrm>
          <a:prstGeom prst="rect">
            <a:avLst/>
          </a:prstGeom>
          <a:solidFill>
            <a:srgbClr val="FFFFFF"/>
          </a:solidFill>
          <a:ln w="19050">
            <a:solidFill>
              <a:srgbClr val="0E9F9F"/>
            </a:solidFill>
            <a:prstDash val="solid"/>
          </a:ln>
          <a:effectLst>
            <a:outerShdw blurRad="101600" dist="38100" dir="8100000" algn="bl" rotWithShape="0">
              <a:srgbClr val="000000">
                <a:alpha val="12000"/>
              </a:srgbClr>
            </a:outerShdw>
          </a:effectLst>
        </p:spPr>
      </p:sp>
      <p:sp>
        <p:nvSpPr>
          <p:cNvPr id="13" name="Shape 11"/>
          <p:cNvSpPr/>
          <p:nvPr/>
        </p:nvSpPr>
        <p:spPr>
          <a:xfrm>
            <a:off x="3200400" y="1956816"/>
            <a:ext cx="2743200" cy="274320"/>
          </a:xfrm>
          <a:prstGeom prst="rect">
            <a:avLst/>
          </a:prstGeom>
          <a:solidFill>
            <a:srgbClr val="0E9F9F"/>
          </a:solidFill>
          <a:ln w="12700">
            <a:solidFill>
              <a:srgbClr val="0E9F9F"/>
            </a:solidFill>
            <a:prstDash val="solid"/>
          </a:ln>
        </p:spPr>
      </p:sp>
      <p:sp>
        <p:nvSpPr>
          <p:cNvPr id="14" name="Text 12"/>
          <p:cNvSpPr/>
          <p:nvPr/>
        </p:nvSpPr>
        <p:spPr>
          <a:xfrm>
            <a:off x="3273552" y="1956816"/>
            <a:ext cx="2606040" cy="274320"/>
          </a:xfrm>
          <a:prstGeom prst="rect">
            <a:avLst/>
          </a:prstGeom>
          <a:noFill/>
          <a:ln/>
        </p:spPr>
        <p:txBody>
          <a:bodyPr wrap="square" lIns="0" tIns="0" rIns="0" bIns="0" rtlCol="0" anchor="ctr"/>
          <a:lstStyle/>
          <a:p>
            <a:pPr marL="0" indent="0">
              <a:buNone/>
            </a:pPr>
            <a:r>
              <a:rPr lang="en-US" sz="950" b="1" dirty="0">
                <a:solidFill>
                  <a:srgbClr val="FFFFFF"/>
                </a:solidFill>
              </a:rPr>
              <a:t>🔢  Explore Possible Scenarios</a:t>
            </a:r>
            <a:endParaRPr lang="en-US" sz="950" dirty="0"/>
          </a:p>
        </p:txBody>
      </p:sp>
      <p:sp>
        <p:nvSpPr>
          <p:cNvPr id="15" name="Text 13"/>
          <p:cNvSpPr/>
          <p:nvPr/>
        </p:nvSpPr>
        <p:spPr>
          <a:xfrm>
            <a:off x="3273552" y="2258568"/>
            <a:ext cx="2606040" cy="841248"/>
          </a:xfrm>
          <a:prstGeom prst="rect">
            <a:avLst/>
          </a:prstGeom>
          <a:noFill/>
          <a:ln/>
        </p:spPr>
        <p:txBody>
          <a:bodyPr wrap="square" lIns="0" tIns="0" rIns="0" bIns="0" rtlCol="0" anchor="t"/>
          <a:lstStyle/>
          <a:p>
            <a:pPr marL="0" indent="0">
              <a:buNone/>
            </a:pPr>
            <a:r>
              <a:rPr lang="en-US" sz="900" dirty="0">
                <a:solidFill>
                  <a:srgbClr val="1A1A2E"/>
                </a:solidFill>
              </a:rPr>
              <a:t>Identify all possible combinations of load types, day types and shifts to plan operations better.</a:t>
            </a:r>
            <a:endParaRPr lang="en-US" sz="900" dirty="0"/>
          </a:p>
        </p:txBody>
      </p:sp>
      <p:sp>
        <p:nvSpPr>
          <p:cNvPr id="16" name="Shape 14"/>
          <p:cNvSpPr/>
          <p:nvPr/>
        </p:nvSpPr>
        <p:spPr>
          <a:xfrm>
            <a:off x="6080760" y="1956816"/>
            <a:ext cx="2743200" cy="1188720"/>
          </a:xfrm>
          <a:prstGeom prst="rect">
            <a:avLst/>
          </a:prstGeom>
          <a:solidFill>
            <a:srgbClr val="FFFFFF"/>
          </a:solidFill>
          <a:ln w="19050">
            <a:solidFill>
              <a:srgbClr val="F59E42"/>
            </a:solidFill>
            <a:prstDash val="solid"/>
          </a:ln>
          <a:effectLst>
            <a:outerShdw blurRad="101600" dist="38100" dir="8100000" algn="bl" rotWithShape="0">
              <a:srgbClr val="000000">
                <a:alpha val="12000"/>
              </a:srgbClr>
            </a:outerShdw>
          </a:effectLst>
        </p:spPr>
      </p:sp>
      <p:sp>
        <p:nvSpPr>
          <p:cNvPr id="17" name="Shape 15"/>
          <p:cNvSpPr/>
          <p:nvPr/>
        </p:nvSpPr>
        <p:spPr>
          <a:xfrm>
            <a:off x="6080760" y="1956816"/>
            <a:ext cx="2743200" cy="274320"/>
          </a:xfrm>
          <a:prstGeom prst="rect">
            <a:avLst/>
          </a:prstGeom>
          <a:solidFill>
            <a:srgbClr val="F59E42"/>
          </a:solidFill>
          <a:ln w="12700">
            <a:solidFill>
              <a:srgbClr val="F59E42"/>
            </a:solidFill>
            <a:prstDash val="solid"/>
          </a:ln>
        </p:spPr>
      </p:sp>
      <p:sp>
        <p:nvSpPr>
          <p:cNvPr id="18" name="Text 16"/>
          <p:cNvSpPr/>
          <p:nvPr/>
        </p:nvSpPr>
        <p:spPr>
          <a:xfrm>
            <a:off x="6153912" y="1956816"/>
            <a:ext cx="2606040" cy="274320"/>
          </a:xfrm>
          <a:prstGeom prst="rect">
            <a:avLst/>
          </a:prstGeom>
          <a:noFill/>
          <a:ln/>
        </p:spPr>
        <p:txBody>
          <a:bodyPr wrap="square" lIns="0" tIns="0" rIns="0" bIns="0" rtlCol="0" anchor="ctr"/>
          <a:lstStyle/>
          <a:p>
            <a:pPr marL="0" indent="0">
              <a:buNone/>
            </a:pPr>
            <a:r>
              <a:rPr lang="en-US" sz="950" b="1" dirty="0">
                <a:solidFill>
                  <a:srgbClr val="FFFFFF"/>
                </a:solidFill>
              </a:rPr>
              <a:t>🧪  Validate Business Assumptions</a:t>
            </a:r>
            <a:endParaRPr lang="en-US" sz="950" dirty="0"/>
          </a:p>
        </p:txBody>
      </p:sp>
      <p:sp>
        <p:nvSpPr>
          <p:cNvPr id="19" name="Text 17"/>
          <p:cNvSpPr/>
          <p:nvPr/>
        </p:nvSpPr>
        <p:spPr>
          <a:xfrm>
            <a:off x="6153912" y="2258568"/>
            <a:ext cx="2606040" cy="841248"/>
          </a:xfrm>
          <a:prstGeom prst="rect">
            <a:avLst/>
          </a:prstGeom>
          <a:noFill/>
          <a:ln/>
        </p:spPr>
        <p:txBody>
          <a:bodyPr wrap="square" lIns="0" tIns="0" rIns="0" bIns="0" rtlCol="0" anchor="t"/>
          <a:lstStyle/>
          <a:p>
            <a:pPr marL="0" indent="0">
              <a:buNone/>
            </a:pPr>
            <a:r>
              <a:rPr lang="en-US" sz="900" dirty="0">
                <a:solidFill>
                  <a:srgbClr val="1A1A2E"/>
                </a:solidFill>
              </a:rPr>
              <a:t>Test if weekday vs weekend usage is truly different to guide smart energy contracts.</a:t>
            </a:r>
            <a:endParaRPr lang="en-US" sz="900" dirty="0"/>
          </a:p>
        </p:txBody>
      </p:sp>
      <p:sp>
        <p:nvSpPr>
          <p:cNvPr id="20" name="Shape 18"/>
          <p:cNvSpPr/>
          <p:nvPr/>
        </p:nvSpPr>
        <p:spPr>
          <a:xfrm>
            <a:off x="320040" y="3255264"/>
            <a:ext cx="2743200" cy="1188720"/>
          </a:xfrm>
          <a:prstGeom prst="rect">
            <a:avLst/>
          </a:prstGeom>
          <a:solidFill>
            <a:srgbClr val="FFFFFF"/>
          </a:solidFill>
          <a:ln w="19050">
            <a:solidFill>
              <a:srgbClr val="22C55E"/>
            </a:solidFill>
            <a:prstDash val="solid"/>
          </a:ln>
          <a:effectLst>
            <a:outerShdw blurRad="101600" dist="38100" dir="8100000" algn="bl" rotWithShape="0">
              <a:srgbClr val="000000">
                <a:alpha val="12000"/>
              </a:srgbClr>
            </a:outerShdw>
          </a:effectLst>
        </p:spPr>
      </p:sp>
      <p:sp>
        <p:nvSpPr>
          <p:cNvPr id="21" name="Shape 19"/>
          <p:cNvSpPr/>
          <p:nvPr/>
        </p:nvSpPr>
        <p:spPr>
          <a:xfrm>
            <a:off x="320040" y="3255264"/>
            <a:ext cx="2743200" cy="274320"/>
          </a:xfrm>
          <a:prstGeom prst="rect">
            <a:avLst/>
          </a:prstGeom>
          <a:solidFill>
            <a:srgbClr val="22C55E"/>
          </a:solidFill>
          <a:ln w="12700">
            <a:solidFill>
              <a:srgbClr val="22C55E"/>
            </a:solidFill>
            <a:prstDash val="solid"/>
          </a:ln>
        </p:spPr>
      </p:sp>
      <p:sp>
        <p:nvSpPr>
          <p:cNvPr id="22" name="Text 20"/>
          <p:cNvSpPr/>
          <p:nvPr/>
        </p:nvSpPr>
        <p:spPr>
          <a:xfrm>
            <a:off x="393192" y="3255264"/>
            <a:ext cx="2606040" cy="274320"/>
          </a:xfrm>
          <a:prstGeom prst="rect">
            <a:avLst/>
          </a:prstGeom>
          <a:noFill/>
          <a:ln/>
        </p:spPr>
        <p:txBody>
          <a:bodyPr wrap="square" lIns="0" tIns="0" rIns="0" bIns="0" rtlCol="0" anchor="ctr"/>
          <a:lstStyle/>
          <a:p>
            <a:pPr marL="0" indent="0">
              <a:buNone/>
            </a:pPr>
            <a:r>
              <a:rPr lang="en-US" sz="950" b="1" dirty="0">
                <a:solidFill>
                  <a:srgbClr val="FFFFFF"/>
                </a:solidFill>
              </a:rPr>
              <a:t>🔧  Prepare Data for Modelling</a:t>
            </a:r>
            <a:endParaRPr lang="en-US" sz="950" dirty="0"/>
          </a:p>
        </p:txBody>
      </p:sp>
      <p:sp>
        <p:nvSpPr>
          <p:cNvPr id="23" name="Text 21"/>
          <p:cNvSpPr/>
          <p:nvPr/>
        </p:nvSpPr>
        <p:spPr>
          <a:xfrm>
            <a:off x="393192" y="3557016"/>
            <a:ext cx="2606040" cy="841248"/>
          </a:xfrm>
          <a:prstGeom prst="rect">
            <a:avLst/>
          </a:prstGeom>
          <a:noFill/>
          <a:ln/>
        </p:spPr>
        <p:txBody>
          <a:bodyPr wrap="square" lIns="0" tIns="0" rIns="0" bIns="0" rtlCol="0" anchor="t"/>
          <a:lstStyle/>
          <a:p>
            <a:pPr marL="0" indent="0">
              <a:buNone/>
            </a:pPr>
            <a:r>
              <a:rPr lang="en-US" sz="900" dirty="0">
                <a:solidFill>
                  <a:srgbClr val="1A1A2E"/>
                </a:solidFill>
              </a:rPr>
              <a:t>Clean, encode and scale data so that machine learning models work accurately.</a:t>
            </a:r>
            <a:endParaRPr lang="en-US" sz="900" dirty="0"/>
          </a:p>
        </p:txBody>
      </p:sp>
      <p:sp>
        <p:nvSpPr>
          <p:cNvPr id="24" name="Shape 22"/>
          <p:cNvSpPr/>
          <p:nvPr/>
        </p:nvSpPr>
        <p:spPr>
          <a:xfrm>
            <a:off x="3200400" y="3255264"/>
            <a:ext cx="2743200" cy="1188720"/>
          </a:xfrm>
          <a:prstGeom prst="rect">
            <a:avLst/>
          </a:prstGeom>
          <a:solidFill>
            <a:srgbClr val="FFFFFF"/>
          </a:solidFill>
          <a:ln w="19050">
            <a:solidFill>
              <a:srgbClr val="1A56DB"/>
            </a:solidFill>
            <a:prstDash val="solid"/>
          </a:ln>
          <a:effectLst>
            <a:outerShdw blurRad="101600" dist="38100" dir="8100000" algn="bl" rotWithShape="0">
              <a:srgbClr val="000000">
                <a:alpha val="12000"/>
              </a:srgbClr>
            </a:outerShdw>
          </a:effectLst>
        </p:spPr>
      </p:sp>
      <p:sp>
        <p:nvSpPr>
          <p:cNvPr id="25" name="Shape 23"/>
          <p:cNvSpPr/>
          <p:nvPr/>
        </p:nvSpPr>
        <p:spPr>
          <a:xfrm>
            <a:off x="3200400" y="3255264"/>
            <a:ext cx="2743200" cy="274320"/>
          </a:xfrm>
          <a:prstGeom prst="rect">
            <a:avLst/>
          </a:prstGeom>
          <a:solidFill>
            <a:srgbClr val="1A56DB"/>
          </a:solidFill>
          <a:ln w="12700">
            <a:solidFill>
              <a:srgbClr val="1A56DB"/>
            </a:solidFill>
            <a:prstDash val="solid"/>
          </a:ln>
        </p:spPr>
      </p:sp>
      <p:sp>
        <p:nvSpPr>
          <p:cNvPr id="26" name="Text 24"/>
          <p:cNvSpPr/>
          <p:nvPr/>
        </p:nvSpPr>
        <p:spPr>
          <a:xfrm>
            <a:off x="3273552" y="3255264"/>
            <a:ext cx="2606040" cy="274320"/>
          </a:xfrm>
          <a:prstGeom prst="rect">
            <a:avLst/>
          </a:prstGeom>
          <a:noFill/>
          <a:ln/>
        </p:spPr>
        <p:txBody>
          <a:bodyPr wrap="square" lIns="0" tIns="0" rIns="0" bIns="0" rtlCol="0" anchor="ctr"/>
          <a:lstStyle/>
          <a:p>
            <a:pPr marL="0" indent="0">
              <a:buNone/>
            </a:pPr>
            <a:r>
              <a:rPr lang="en-US" sz="950" b="1" dirty="0">
                <a:solidFill>
                  <a:srgbClr val="FFFFFF"/>
                </a:solidFill>
              </a:rPr>
              <a:t>📈  Predict Electricity Usage</a:t>
            </a:r>
            <a:endParaRPr lang="en-US" sz="950" dirty="0"/>
          </a:p>
        </p:txBody>
      </p:sp>
      <p:sp>
        <p:nvSpPr>
          <p:cNvPr id="27" name="Text 25"/>
          <p:cNvSpPr/>
          <p:nvPr/>
        </p:nvSpPr>
        <p:spPr>
          <a:xfrm>
            <a:off x="3273552" y="3557016"/>
            <a:ext cx="2606040" cy="841248"/>
          </a:xfrm>
          <a:prstGeom prst="rect">
            <a:avLst/>
          </a:prstGeom>
          <a:noFill/>
          <a:ln/>
        </p:spPr>
        <p:txBody>
          <a:bodyPr wrap="square" lIns="0" tIns="0" rIns="0" bIns="0" rtlCol="0" anchor="t"/>
          <a:lstStyle/>
          <a:p>
            <a:pPr marL="0" indent="0">
              <a:buNone/>
            </a:pPr>
            <a:r>
              <a:rPr lang="en-US" sz="900" dirty="0">
                <a:solidFill>
                  <a:srgbClr val="1A1A2E"/>
                </a:solidFill>
              </a:rPr>
              <a:t>Build a model that forecasts kWh usage so the company can plan ahead.</a:t>
            </a:r>
            <a:endParaRPr lang="en-US" sz="900" dirty="0"/>
          </a:p>
        </p:txBody>
      </p:sp>
      <p:sp>
        <p:nvSpPr>
          <p:cNvPr id="28" name="Shape 26"/>
          <p:cNvSpPr/>
          <p:nvPr/>
        </p:nvSpPr>
        <p:spPr>
          <a:xfrm>
            <a:off x="6080760" y="3255264"/>
            <a:ext cx="2743200" cy="1188720"/>
          </a:xfrm>
          <a:prstGeom prst="rect">
            <a:avLst/>
          </a:prstGeom>
          <a:solidFill>
            <a:srgbClr val="FFFFFF"/>
          </a:solidFill>
          <a:ln w="19050">
            <a:solidFill>
              <a:srgbClr val="0E9F9F"/>
            </a:solidFill>
            <a:prstDash val="solid"/>
          </a:ln>
          <a:effectLst>
            <a:outerShdw blurRad="101600" dist="38100" dir="8100000" algn="bl" rotWithShape="0">
              <a:srgbClr val="000000">
                <a:alpha val="12000"/>
              </a:srgbClr>
            </a:outerShdw>
          </a:effectLst>
        </p:spPr>
      </p:sp>
      <p:sp>
        <p:nvSpPr>
          <p:cNvPr id="29" name="Shape 27"/>
          <p:cNvSpPr/>
          <p:nvPr/>
        </p:nvSpPr>
        <p:spPr>
          <a:xfrm>
            <a:off x="6080760" y="3255264"/>
            <a:ext cx="2743200" cy="274320"/>
          </a:xfrm>
          <a:prstGeom prst="rect">
            <a:avLst/>
          </a:prstGeom>
          <a:solidFill>
            <a:srgbClr val="0E9F9F"/>
          </a:solidFill>
          <a:ln w="12700">
            <a:solidFill>
              <a:srgbClr val="0E9F9F"/>
            </a:solidFill>
            <a:prstDash val="solid"/>
          </a:ln>
        </p:spPr>
      </p:sp>
      <p:sp>
        <p:nvSpPr>
          <p:cNvPr id="30" name="Text 28"/>
          <p:cNvSpPr/>
          <p:nvPr/>
        </p:nvSpPr>
        <p:spPr>
          <a:xfrm>
            <a:off x="6153912" y="3255264"/>
            <a:ext cx="2606040" cy="274320"/>
          </a:xfrm>
          <a:prstGeom prst="rect">
            <a:avLst/>
          </a:prstGeom>
          <a:noFill/>
          <a:ln/>
        </p:spPr>
        <p:txBody>
          <a:bodyPr wrap="square" lIns="0" tIns="0" rIns="0" bIns="0" rtlCol="0" anchor="ctr"/>
          <a:lstStyle/>
          <a:p>
            <a:pPr marL="0" indent="0">
              <a:buNone/>
            </a:pPr>
            <a:r>
              <a:rPr lang="en-US" sz="950" b="1" dirty="0">
                <a:solidFill>
                  <a:srgbClr val="FFFFFF"/>
                </a:solidFill>
              </a:rPr>
              <a:t>🔵  Group Usage Behaviour</a:t>
            </a:r>
            <a:endParaRPr lang="en-US" sz="950" dirty="0"/>
          </a:p>
        </p:txBody>
      </p:sp>
      <p:sp>
        <p:nvSpPr>
          <p:cNvPr id="31" name="Text 29"/>
          <p:cNvSpPr/>
          <p:nvPr/>
        </p:nvSpPr>
        <p:spPr>
          <a:xfrm>
            <a:off x="6153912" y="3557016"/>
            <a:ext cx="2606040" cy="841248"/>
          </a:xfrm>
          <a:prstGeom prst="rect">
            <a:avLst/>
          </a:prstGeom>
          <a:noFill/>
          <a:ln/>
        </p:spPr>
        <p:txBody>
          <a:bodyPr wrap="square" lIns="0" tIns="0" rIns="0" bIns="0" rtlCol="0" anchor="t"/>
          <a:lstStyle/>
          <a:p>
            <a:pPr marL="0" indent="0">
              <a:buNone/>
            </a:pPr>
            <a:r>
              <a:rPr lang="en-US" sz="900" dirty="0">
                <a:solidFill>
                  <a:srgbClr val="1A1A2E"/>
                </a:solidFill>
              </a:rPr>
              <a:t>Cluster usage into groups (High/Medium/Low) to create targeted energy-saving strategies.</a:t>
            </a:r>
            <a:endParaRPr lang="en-US" sz="900" dirty="0"/>
          </a:p>
        </p:txBody>
      </p:sp>
      <p:sp>
        <p:nvSpPr>
          <p:cNvPr id="32" name="Shape 30"/>
          <p:cNvSpPr/>
          <p:nvPr/>
        </p:nvSpPr>
        <p:spPr>
          <a:xfrm>
            <a:off x="0" y="4919472"/>
            <a:ext cx="9144000" cy="224028"/>
          </a:xfrm>
          <a:prstGeom prst="rect">
            <a:avLst/>
          </a:prstGeom>
          <a:solidFill>
            <a:srgbClr val="0D1B3E"/>
          </a:solidFill>
          <a:ln w="12700">
            <a:solidFill>
              <a:srgbClr val="0D1B3E"/>
            </a:solidFill>
            <a:prstDash val="solid"/>
          </a:ln>
        </p:spPr>
      </p:sp>
      <p:sp>
        <p:nvSpPr>
          <p:cNvPr id="33" name="Text 31"/>
          <p:cNvSpPr/>
          <p:nvPr/>
        </p:nvSpPr>
        <p:spPr>
          <a:xfrm>
            <a:off x="274320" y="4919472"/>
            <a:ext cx="8595360" cy="224028"/>
          </a:xfrm>
          <a:prstGeom prst="rect">
            <a:avLst/>
          </a:prstGeom>
          <a:noFill/>
          <a:ln/>
        </p:spPr>
        <p:txBody>
          <a:bodyPr wrap="square" lIns="0" tIns="0" rIns="0" bIns="0" rtlCol="0" anchor="ctr"/>
          <a:lstStyle/>
          <a:p>
            <a:pPr marL="0" indent="0">
              <a:buNone/>
            </a:pPr>
            <a:r>
              <a:rPr lang="en-US" sz="850" dirty="0">
                <a:solidFill>
                  <a:srgbClr val="A0B8D8"/>
                </a:solidFill>
              </a:rPr>
              <a:t>Steel Industry Electricity Consumption | ML Analysis Project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Dataset Overview</a:t>
            </a:r>
            <a:endParaRPr lang="en-US" sz="2200" dirty="0"/>
          </a:p>
        </p:txBody>
      </p:sp>
      <p:sp>
        <p:nvSpPr>
          <p:cNvPr id="4" name="Text 2"/>
          <p:cNvSpPr/>
          <p:nvPr/>
        </p:nvSpPr>
        <p:spPr>
          <a:xfrm>
            <a:off x="320040" y="658368"/>
            <a:ext cx="8686800" cy="256032"/>
          </a:xfrm>
          <a:prstGeom prst="rect">
            <a:avLst/>
          </a:prstGeom>
          <a:noFill/>
          <a:ln/>
        </p:spPr>
        <p:txBody>
          <a:bodyPr wrap="square" lIns="0" tIns="0" rIns="0" bIns="0" rtlCol="0" anchor="ctr"/>
          <a:lstStyle/>
          <a:p>
            <a:pPr marL="0" indent="0">
              <a:buNone/>
            </a:pPr>
            <a:r>
              <a:rPr lang="en-US" sz="1050" i="1" dirty="0">
                <a:solidFill>
                  <a:srgbClr val="3B9FE7"/>
                </a:solidFill>
              </a:rPr>
              <a:t>Steel industry electricity data — 1 full year of hourly readings</a:t>
            </a:r>
            <a:endParaRPr lang="en-US" sz="1050" dirty="0"/>
          </a:p>
        </p:txBody>
      </p:sp>
      <p:sp>
        <p:nvSpPr>
          <p:cNvPr id="5" name="Shape 3"/>
          <p:cNvSpPr/>
          <p:nvPr/>
        </p:nvSpPr>
        <p:spPr>
          <a:xfrm>
            <a:off x="274320" y="932688"/>
            <a:ext cx="1993392" cy="1005840"/>
          </a:xfrm>
          <a:prstGeom prst="rect">
            <a:avLst/>
          </a:prstGeom>
          <a:solidFill>
            <a:srgbClr val="FFFFFF"/>
          </a:solidFill>
          <a:ln w="19050">
            <a:solidFill>
              <a:srgbClr val="1A56DB"/>
            </a:solidFill>
            <a:prstDash val="solid"/>
          </a:ln>
          <a:effectLst>
            <a:outerShdw blurRad="101600" dist="38100" dir="8100000" algn="bl" rotWithShape="0">
              <a:srgbClr val="000000">
                <a:alpha val="12000"/>
              </a:srgbClr>
            </a:outerShdw>
          </a:effectLst>
        </p:spPr>
      </p:sp>
      <p:sp>
        <p:nvSpPr>
          <p:cNvPr id="6" name="Text 4"/>
          <p:cNvSpPr/>
          <p:nvPr/>
        </p:nvSpPr>
        <p:spPr>
          <a:xfrm>
            <a:off x="274320" y="969264"/>
            <a:ext cx="1993392" cy="475488"/>
          </a:xfrm>
          <a:prstGeom prst="rect">
            <a:avLst/>
          </a:prstGeom>
          <a:noFill/>
          <a:ln/>
        </p:spPr>
        <p:txBody>
          <a:bodyPr wrap="square" lIns="0" tIns="0" rIns="0" bIns="0" rtlCol="0" anchor="ctr"/>
          <a:lstStyle/>
          <a:p>
            <a:pPr marL="0" indent="0" algn="ctr">
              <a:buNone/>
            </a:pPr>
            <a:r>
              <a:rPr lang="en-US" sz="2800" b="1" dirty="0">
                <a:solidFill>
                  <a:srgbClr val="1A56DB"/>
                </a:solidFill>
              </a:rPr>
              <a:t>35,040</a:t>
            </a:r>
            <a:endParaRPr lang="en-US" sz="2800" dirty="0"/>
          </a:p>
        </p:txBody>
      </p:sp>
      <p:sp>
        <p:nvSpPr>
          <p:cNvPr id="7" name="Text 5"/>
          <p:cNvSpPr/>
          <p:nvPr/>
        </p:nvSpPr>
        <p:spPr>
          <a:xfrm>
            <a:off x="274320" y="1444752"/>
            <a:ext cx="1993392" cy="228600"/>
          </a:xfrm>
          <a:prstGeom prst="rect">
            <a:avLst/>
          </a:prstGeom>
          <a:noFill/>
          <a:ln/>
        </p:spPr>
        <p:txBody>
          <a:bodyPr wrap="square" lIns="0" tIns="0" rIns="0" bIns="0" rtlCol="0" anchor="ctr"/>
          <a:lstStyle/>
          <a:p>
            <a:pPr marL="0" indent="0" algn="ctr">
              <a:buNone/>
            </a:pPr>
            <a:r>
              <a:rPr lang="en-US" sz="950" b="1" dirty="0">
                <a:solidFill>
                  <a:srgbClr val="1A1A2E"/>
                </a:solidFill>
              </a:rPr>
              <a:t>Total Records</a:t>
            </a:r>
            <a:endParaRPr lang="en-US" sz="950" dirty="0"/>
          </a:p>
        </p:txBody>
      </p:sp>
      <p:sp>
        <p:nvSpPr>
          <p:cNvPr id="8" name="Text 6"/>
          <p:cNvSpPr/>
          <p:nvPr/>
        </p:nvSpPr>
        <p:spPr>
          <a:xfrm>
            <a:off x="274320" y="1664208"/>
            <a:ext cx="1993392" cy="237744"/>
          </a:xfrm>
          <a:prstGeom prst="rect">
            <a:avLst/>
          </a:prstGeom>
          <a:noFill/>
          <a:ln/>
        </p:spPr>
        <p:txBody>
          <a:bodyPr wrap="square" lIns="0" tIns="0" rIns="0" bIns="0" rtlCol="0" anchor="ctr"/>
          <a:lstStyle/>
          <a:p>
            <a:pPr marL="0" indent="0" algn="ctr">
              <a:buNone/>
            </a:pPr>
            <a:r>
              <a:rPr lang="en-US" sz="800" i="1" dirty="0">
                <a:solidFill>
                  <a:srgbClr val="64748B"/>
                </a:solidFill>
              </a:rPr>
              <a:t>Hourly readings for 1 year</a:t>
            </a:r>
            <a:endParaRPr lang="en-US" sz="800" dirty="0"/>
          </a:p>
        </p:txBody>
      </p:sp>
      <p:sp>
        <p:nvSpPr>
          <p:cNvPr id="9" name="Shape 7"/>
          <p:cNvSpPr/>
          <p:nvPr/>
        </p:nvSpPr>
        <p:spPr>
          <a:xfrm>
            <a:off x="2450592" y="932688"/>
            <a:ext cx="1993392" cy="1005840"/>
          </a:xfrm>
          <a:prstGeom prst="rect">
            <a:avLst/>
          </a:prstGeom>
          <a:solidFill>
            <a:srgbClr val="FFFFFF"/>
          </a:solidFill>
          <a:ln w="19050">
            <a:solidFill>
              <a:srgbClr val="0E9F9F"/>
            </a:solidFill>
            <a:prstDash val="solid"/>
          </a:ln>
          <a:effectLst>
            <a:outerShdw blurRad="101600" dist="38100" dir="8100000" algn="bl" rotWithShape="0">
              <a:srgbClr val="000000">
                <a:alpha val="12000"/>
              </a:srgbClr>
            </a:outerShdw>
          </a:effectLst>
        </p:spPr>
      </p:sp>
      <p:sp>
        <p:nvSpPr>
          <p:cNvPr id="10" name="Text 8"/>
          <p:cNvSpPr/>
          <p:nvPr/>
        </p:nvSpPr>
        <p:spPr>
          <a:xfrm>
            <a:off x="2450592" y="969264"/>
            <a:ext cx="1993392" cy="475488"/>
          </a:xfrm>
          <a:prstGeom prst="rect">
            <a:avLst/>
          </a:prstGeom>
          <a:noFill/>
          <a:ln/>
        </p:spPr>
        <p:txBody>
          <a:bodyPr wrap="square" lIns="0" tIns="0" rIns="0" bIns="0" rtlCol="0" anchor="ctr"/>
          <a:lstStyle/>
          <a:p>
            <a:pPr marL="0" indent="0" algn="ctr">
              <a:buNone/>
            </a:pPr>
            <a:r>
              <a:rPr lang="en-US" sz="2800" b="1" dirty="0">
                <a:solidFill>
                  <a:srgbClr val="0E9F9F"/>
                </a:solidFill>
              </a:rPr>
              <a:t>15</a:t>
            </a:r>
            <a:endParaRPr lang="en-US" sz="2800" dirty="0"/>
          </a:p>
        </p:txBody>
      </p:sp>
      <p:sp>
        <p:nvSpPr>
          <p:cNvPr id="11" name="Text 9"/>
          <p:cNvSpPr/>
          <p:nvPr/>
        </p:nvSpPr>
        <p:spPr>
          <a:xfrm>
            <a:off x="2450592" y="1444752"/>
            <a:ext cx="1993392" cy="228600"/>
          </a:xfrm>
          <a:prstGeom prst="rect">
            <a:avLst/>
          </a:prstGeom>
          <a:noFill/>
          <a:ln/>
        </p:spPr>
        <p:txBody>
          <a:bodyPr wrap="square" lIns="0" tIns="0" rIns="0" bIns="0" rtlCol="0" anchor="ctr"/>
          <a:lstStyle/>
          <a:p>
            <a:pPr marL="0" indent="0" algn="ctr">
              <a:buNone/>
            </a:pPr>
            <a:r>
              <a:rPr lang="en-US" sz="950" b="1" dirty="0">
                <a:solidFill>
                  <a:srgbClr val="1A1A2E"/>
                </a:solidFill>
              </a:rPr>
              <a:t>Features</a:t>
            </a:r>
            <a:endParaRPr lang="en-US" sz="950" dirty="0"/>
          </a:p>
        </p:txBody>
      </p:sp>
      <p:sp>
        <p:nvSpPr>
          <p:cNvPr id="12" name="Text 10"/>
          <p:cNvSpPr/>
          <p:nvPr/>
        </p:nvSpPr>
        <p:spPr>
          <a:xfrm>
            <a:off x="2450592" y="1664208"/>
            <a:ext cx="1993392" cy="237744"/>
          </a:xfrm>
          <a:prstGeom prst="rect">
            <a:avLst/>
          </a:prstGeom>
          <a:noFill/>
          <a:ln/>
        </p:spPr>
        <p:txBody>
          <a:bodyPr wrap="square" lIns="0" tIns="0" rIns="0" bIns="0" rtlCol="0" anchor="ctr"/>
          <a:lstStyle/>
          <a:p>
            <a:pPr marL="0" indent="0" algn="ctr">
              <a:buNone/>
            </a:pPr>
            <a:r>
              <a:rPr lang="en-US" sz="800" i="1" dirty="0">
                <a:solidFill>
                  <a:srgbClr val="64748B"/>
                </a:solidFill>
              </a:rPr>
              <a:t>Usage, CO2, Power Factor, Load Type…</a:t>
            </a:r>
            <a:endParaRPr lang="en-US" sz="800" dirty="0"/>
          </a:p>
        </p:txBody>
      </p:sp>
      <p:sp>
        <p:nvSpPr>
          <p:cNvPr id="13" name="Shape 11"/>
          <p:cNvSpPr/>
          <p:nvPr/>
        </p:nvSpPr>
        <p:spPr>
          <a:xfrm>
            <a:off x="4626864" y="932688"/>
            <a:ext cx="1993392" cy="1005840"/>
          </a:xfrm>
          <a:prstGeom prst="rect">
            <a:avLst/>
          </a:prstGeom>
          <a:solidFill>
            <a:srgbClr val="FFFFFF"/>
          </a:solidFill>
          <a:ln w="19050">
            <a:solidFill>
              <a:srgbClr val="22C55E"/>
            </a:solidFill>
            <a:prstDash val="solid"/>
          </a:ln>
          <a:effectLst>
            <a:outerShdw blurRad="101600" dist="38100" dir="8100000" algn="bl" rotWithShape="0">
              <a:srgbClr val="000000">
                <a:alpha val="12000"/>
              </a:srgbClr>
            </a:outerShdw>
          </a:effectLst>
        </p:spPr>
      </p:sp>
      <p:sp>
        <p:nvSpPr>
          <p:cNvPr id="14" name="Text 12"/>
          <p:cNvSpPr/>
          <p:nvPr/>
        </p:nvSpPr>
        <p:spPr>
          <a:xfrm>
            <a:off x="4626864" y="969264"/>
            <a:ext cx="1993392" cy="475488"/>
          </a:xfrm>
          <a:prstGeom prst="rect">
            <a:avLst/>
          </a:prstGeom>
          <a:noFill/>
          <a:ln/>
        </p:spPr>
        <p:txBody>
          <a:bodyPr wrap="square" lIns="0" tIns="0" rIns="0" bIns="0" rtlCol="0" anchor="ctr"/>
          <a:lstStyle/>
          <a:p>
            <a:pPr marL="0" indent="0" algn="ctr">
              <a:buNone/>
            </a:pPr>
            <a:r>
              <a:rPr lang="en-US" sz="2800" b="1" dirty="0">
                <a:solidFill>
                  <a:srgbClr val="22C55E"/>
                </a:solidFill>
              </a:rPr>
              <a:t>0</a:t>
            </a:r>
            <a:endParaRPr lang="en-US" sz="2800" dirty="0"/>
          </a:p>
        </p:txBody>
      </p:sp>
      <p:sp>
        <p:nvSpPr>
          <p:cNvPr id="15" name="Text 13"/>
          <p:cNvSpPr/>
          <p:nvPr/>
        </p:nvSpPr>
        <p:spPr>
          <a:xfrm>
            <a:off x="4626864" y="1444752"/>
            <a:ext cx="1993392" cy="228600"/>
          </a:xfrm>
          <a:prstGeom prst="rect">
            <a:avLst/>
          </a:prstGeom>
          <a:noFill/>
          <a:ln/>
        </p:spPr>
        <p:txBody>
          <a:bodyPr wrap="square" lIns="0" tIns="0" rIns="0" bIns="0" rtlCol="0" anchor="ctr"/>
          <a:lstStyle/>
          <a:p>
            <a:pPr marL="0" indent="0" algn="ctr">
              <a:buNone/>
            </a:pPr>
            <a:r>
              <a:rPr lang="en-US" sz="950" b="1" dirty="0">
                <a:solidFill>
                  <a:srgbClr val="1A1A2E"/>
                </a:solidFill>
              </a:rPr>
              <a:t>Missing Values</a:t>
            </a:r>
            <a:endParaRPr lang="en-US" sz="950" dirty="0"/>
          </a:p>
        </p:txBody>
      </p:sp>
      <p:sp>
        <p:nvSpPr>
          <p:cNvPr id="16" name="Text 14"/>
          <p:cNvSpPr/>
          <p:nvPr/>
        </p:nvSpPr>
        <p:spPr>
          <a:xfrm>
            <a:off x="4626864" y="1664208"/>
            <a:ext cx="1993392" cy="237744"/>
          </a:xfrm>
          <a:prstGeom prst="rect">
            <a:avLst/>
          </a:prstGeom>
          <a:noFill/>
          <a:ln/>
        </p:spPr>
        <p:txBody>
          <a:bodyPr wrap="square" lIns="0" tIns="0" rIns="0" bIns="0" rtlCol="0" anchor="ctr"/>
          <a:lstStyle/>
          <a:p>
            <a:pPr marL="0" indent="0" algn="ctr">
              <a:buNone/>
            </a:pPr>
            <a:r>
              <a:rPr lang="en-US" sz="800" i="1" dirty="0">
                <a:solidFill>
                  <a:srgbClr val="64748B"/>
                </a:solidFill>
              </a:rPr>
              <a:t>Dataset is complete — no gaps</a:t>
            </a:r>
            <a:endParaRPr lang="en-US" sz="800" dirty="0"/>
          </a:p>
        </p:txBody>
      </p:sp>
      <p:sp>
        <p:nvSpPr>
          <p:cNvPr id="17" name="Shape 15"/>
          <p:cNvSpPr/>
          <p:nvPr/>
        </p:nvSpPr>
        <p:spPr>
          <a:xfrm>
            <a:off x="6803136" y="932688"/>
            <a:ext cx="1993392" cy="1005840"/>
          </a:xfrm>
          <a:prstGeom prst="rect">
            <a:avLst/>
          </a:prstGeom>
          <a:solidFill>
            <a:srgbClr val="FFFFFF"/>
          </a:solidFill>
          <a:ln w="19050">
            <a:solidFill>
              <a:srgbClr val="F59E42"/>
            </a:solidFill>
            <a:prstDash val="solid"/>
          </a:ln>
          <a:effectLst>
            <a:outerShdw blurRad="101600" dist="38100" dir="8100000" algn="bl" rotWithShape="0">
              <a:srgbClr val="000000">
                <a:alpha val="12000"/>
              </a:srgbClr>
            </a:outerShdw>
          </a:effectLst>
        </p:spPr>
      </p:sp>
      <p:sp>
        <p:nvSpPr>
          <p:cNvPr id="18" name="Text 16"/>
          <p:cNvSpPr/>
          <p:nvPr/>
        </p:nvSpPr>
        <p:spPr>
          <a:xfrm>
            <a:off x="6803136" y="969264"/>
            <a:ext cx="1993392" cy="475488"/>
          </a:xfrm>
          <a:prstGeom prst="rect">
            <a:avLst/>
          </a:prstGeom>
          <a:noFill/>
          <a:ln/>
        </p:spPr>
        <p:txBody>
          <a:bodyPr wrap="square" lIns="0" tIns="0" rIns="0" bIns="0" rtlCol="0" anchor="ctr"/>
          <a:lstStyle/>
          <a:p>
            <a:pPr marL="0" indent="0" algn="ctr">
              <a:buNone/>
            </a:pPr>
            <a:r>
              <a:rPr lang="en-US" sz="2800" b="1" dirty="0">
                <a:solidFill>
                  <a:srgbClr val="F59E42"/>
                </a:solidFill>
              </a:rPr>
              <a:t>3</a:t>
            </a:r>
            <a:endParaRPr lang="en-US" sz="2800" dirty="0"/>
          </a:p>
        </p:txBody>
      </p:sp>
      <p:sp>
        <p:nvSpPr>
          <p:cNvPr id="19" name="Text 17"/>
          <p:cNvSpPr/>
          <p:nvPr/>
        </p:nvSpPr>
        <p:spPr>
          <a:xfrm>
            <a:off x="6803136" y="1444752"/>
            <a:ext cx="1993392" cy="228600"/>
          </a:xfrm>
          <a:prstGeom prst="rect">
            <a:avLst/>
          </a:prstGeom>
          <a:noFill/>
          <a:ln/>
        </p:spPr>
        <p:txBody>
          <a:bodyPr wrap="square" lIns="0" tIns="0" rIns="0" bIns="0" rtlCol="0" anchor="ctr"/>
          <a:lstStyle/>
          <a:p>
            <a:pPr marL="0" indent="0" algn="ctr">
              <a:buNone/>
            </a:pPr>
            <a:r>
              <a:rPr lang="en-US" sz="950" b="1" dirty="0">
                <a:solidFill>
                  <a:srgbClr val="1A1A2E"/>
                </a:solidFill>
              </a:rPr>
              <a:t>Load Types</a:t>
            </a:r>
            <a:endParaRPr lang="en-US" sz="950" dirty="0"/>
          </a:p>
        </p:txBody>
      </p:sp>
      <p:sp>
        <p:nvSpPr>
          <p:cNvPr id="20" name="Text 18"/>
          <p:cNvSpPr/>
          <p:nvPr/>
        </p:nvSpPr>
        <p:spPr>
          <a:xfrm>
            <a:off x="6803136" y="1664208"/>
            <a:ext cx="1993392" cy="237744"/>
          </a:xfrm>
          <a:prstGeom prst="rect">
            <a:avLst/>
          </a:prstGeom>
          <a:noFill/>
          <a:ln/>
        </p:spPr>
        <p:txBody>
          <a:bodyPr wrap="square" lIns="0" tIns="0" rIns="0" bIns="0" rtlCol="0" anchor="ctr"/>
          <a:lstStyle/>
          <a:p>
            <a:pPr marL="0" indent="0" algn="ctr">
              <a:buNone/>
            </a:pPr>
            <a:r>
              <a:rPr lang="en-US" sz="800" i="1" dirty="0">
                <a:solidFill>
                  <a:srgbClr val="64748B"/>
                </a:solidFill>
              </a:rPr>
              <a:t>Light / Medium / Maximum Load</a:t>
            </a:r>
            <a:endParaRPr lang="en-US" sz="800" dirty="0"/>
          </a:p>
        </p:txBody>
      </p:sp>
      <p:sp>
        <p:nvSpPr>
          <p:cNvPr id="21" name="Shape 19"/>
          <p:cNvSpPr/>
          <p:nvPr/>
        </p:nvSpPr>
        <p:spPr>
          <a:xfrm>
            <a:off x="274320" y="2084832"/>
            <a:ext cx="8595360" cy="274320"/>
          </a:xfrm>
          <a:prstGeom prst="rect">
            <a:avLst/>
          </a:prstGeom>
          <a:solidFill>
            <a:srgbClr val="0D1B3E"/>
          </a:solidFill>
          <a:ln w="12700">
            <a:solidFill>
              <a:srgbClr val="0D1B3E"/>
            </a:solidFill>
            <a:prstDash val="solid"/>
          </a:ln>
        </p:spPr>
      </p:sp>
      <p:sp>
        <p:nvSpPr>
          <p:cNvPr id="22" name="Text 20"/>
          <p:cNvSpPr/>
          <p:nvPr/>
        </p:nvSpPr>
        <p:spPr>
          <a:xfrm>
            <a:off x="365760" y="2084832"/>
            <a:ext cx="8229600" cy="274320"/>
          </a:xfrm>
          <a:prstGeom prst="rect">
            <a:avLst/>
          </a:prstGeom>
          <a:noFill/>
          <a:ln/>
        </p:spPr>
        <p:txBody>
          <a:bodyPr wrap="square" lIns="0" tIns="0" rIns="0" bIns="0" rtlCol="0" anchor="ctr"/>
          <a:lstStyle/>
          <a:p>
            <a:pPr marL="0" indent="0">
              <a:buNone/>
            </a:pPr>
            <a:r>
              <a:rPr lang="en-US" sz="1000" b="1" dirty="0">
                <a:solidFill>
                  <a:srgbClr val="FFFFFF"/>
                </a:solidFill>
              </a:rPr>
              <a:t>Key Features in the Dataset</a:t>
            </a:r>
            <a:endParaRPr lang="en-US" sz="1000" dirty="0"/>
          </a:p>
        </p:txBody>
      </p:sp>
      <p:sp>
        <p:nvSpPr>
          <p:cNvPr id="23" name="Shape 21"/>
          <p:cNvSpPr/>
          <p:nvPr/>
        </p:nvSpPr>
        <p:spPr>
          <a:xfrm>
            <a:off x="274320" y="2395728"/>
            <a:ext cx="8595360" cy="251460"/>
          </a:xfrm>
          <a:prstGeom prst="rect">
            <a:avLst/>
          </a:prstGeom>
          <a:solidFill>
            <a:srgbClr val="F1F5FB"/>
          </a:solidFill>
          <a:ln w="6350">
            <a:solidFill>
              <a:srgbClr val="E0E8F4"/>
            </a:solidFill>
            <a:prstDash val="solid"/>
          </a:ln>
        </p:spPr>
      </p:sp>
      <p:sp>
        <p:nvSpPr>
          <p:cNvPr id="24" name="Text 22"/>
          <p:cNvSpPr/>
          <p:nvPr/>
        </p:nvSpPr>
        <p:spPr>
          <a:xfrm>
            <a:off x="347472" y="2418588"/>
            <a:ext cx="2926080" cy="205740"/>
          </a:xfrm>
          <a:prstGeom prst="rect">
            <a:avLst/>
          </a:prstGeom>
          <a:noFill/>
          <a:ln/>
        </p:spPr>
        <p:txBody>
          <a:bodyPr wrap="square" lIns="0" tIns="0" rIns="0" bIns="0" rtlCol="0" anchor="ctr"/>
          <a:lstStyle/>
          <a:p>
            <a:pPr marL="0" indent="0">
              <a:buNone/>
            </a:pPr>
            <a:r>
              <a:rPr lang="en-US" sz="900" b="1" dirty="0">
                <a:solidFill>
                  <a:srgbClr val="1A56DB"/>
                </a:solidFill>
              </a:rPr>
              <a:t>Usage_kWh</a:t>
            </a:r>
            <a:endParaRPr lang="en-US" sz="900" dirty="0"/>
          </a:p>
        </p:txBody>
      </p:sp>
      <p:sp>
        <p:nvSpPr>
          <p:cNvPr id="25" name="Text 23"/>
          <p:cNvSpPr/>
          <p:nvPr/>
        </p:nvSpPr>
        <p:spPr>
          <a:xfrm>
            <a:off x="3310128" y="2418588"/>
            <a:ext cx="5468112" cy="205740"/>
          </a:xfrm>
          <a:prstGeom prst="rect">
            <a:avLst/>
          </a:prstGeom>
          <a:noFill/>
          <a:ln/>
        </p:spPr>
        <p:txBody>
          <a:bodyPr wrap="square" lIns="0" tIns="0" rIns="0" bIns="0" rtlCol="0" anchor="ctr"/>
          <a:lstStyle/>
          <a:p>
            <a:pPr marL="0" indent="0">
              <a:buNone/>
            </a:pPr>
            <a:r>
              <a:rPr lang="en-US" sz="900" dirty="0">
                <a:solidFill>
                  <a:srgbClr val="1A1A2E"/>
                </a:solidFill>
              </a:rPr>
              <a:t>How much electricity was used in that hour</a:t>
            </a:r>
            <a:endParaRPr lang="en-US" sz="900" dirty="0"/>
          </a:p>
        </p:txBody>
      </p:sp>
      <p:sp>
        <p:nvSpPr>
          <p:cNvPr id="26" name="Shape 24"/>
          <p:cNvSpPr/>
          <p:nvPr/>
        </p:nvSpPr>
        <p:spPr>
          <a:xfrm>
            <a:off x="274320" y="2656332"/>
            <a:ext cx="8595360" cy="251460"/>
          </a:xfrm>
          <a:prstGeom prst="rect">
            <a:avLst/>
          </a:prstGeom>
          <a:solidFill>
            <a:srgbClr val="FFFFFF"/>
          </a:solidFill>
          <a:ln w="6350">
            <a:solidFill>
              <a:srgbClr val="E0E8F4"/>
            </a:solidFill>
            <a:prstDash val="solid"/>
          </a:ln>
        </p:spPr>
      </p:sp>
      <p:sp>
        <p:nvSpPr>
          <p:cNvPr id="27" name="Text 25"/>
          <p:cNvSpPr/>
          <p:nvPr/>
        </p:nvSpPr>
        <p:spPr>
          <a:xfrm>
            <a:off x="347472" y="2679192"/>
            <a:ext cx="2926080" cy="205740"/>
          </a:xfrm>
          <a:prstGeom prst="rect">
            <a:avLst/>
          </a:prstGeom>
          <a:noFill/>
          <a:ln/>
        </p:spPr>
        <p:txBody>
          <a:bodyPr wrap="square" lIns="0" tIns="0" rIns="0" bIns="0" rtlCol="0" anchor="ctr"/>
          <a:lstStyle/>
          <a:p>
            <a:pPr marL="0" indent="0">
              <a:buNone/>
            </a:pPr>
            <a:r>
              <a:rPr lang="en-US" sz="900" b="1" dirty="0">
                <a:solidFill>
                  <a:srgbClr val="1A56DB"/>
                </a:solidFill>
              </a:rPr>
              <a:t>CO2(tCO2)</a:t>
            </a:r>
            <a:endParaRPr lang="en-US" sz="900" dirty="0"/>
          </a:p>
        </p:txBody>
      </p:sp>
      <p:sp>
        <p:nvSpPr>
          <p:cNvPr id="28" name="Text 26"/>
          <p:cNvSpPr/>
          <p:nvPr/>
        </p:nvSpPr>
        <p:spPr>
          <a:xfrm>
            <a:off x="3310128" y="2679192"/>
            <a:ext cx="5468112" cy="205740"/>
          </a:xfrm>
          <a:prstGeom prst="rect">
            <a:avLst/>
          </a:prstGeom>
          <a:noFill/>
          <a:ln/>
        </p:spPr>
        <p:txBody>
          <a:bodyPr wrap="square" lIns="0" tIns="0" rIns="0" bIns="0" rtlCol="0" anchor="ctr"/>
          <a:lstStyle/>
          <a:p>
            <a:pPr marL="0" indent="0">
              <a:buNone/>
            </a:pPr>
            <a:r>
              <a:rPr lang="en-US" sz="900" dirty="0">
                <a:solidFill>
                  <a:srgbClr val="1A1A2E"/>
                </a:solidFill>
              </a:rPr>
              <a:t>Carbon emissions directly linked to electricity use</a:t>
            </a:r>
            <a:endParaRPr lang="en-US" sz="900" dirty="0"/>
          </a:p>
        </p:txBody>
      </p:sp>
      <p:sp>
        <p:nvSpPr>
          <p:cNvPr id="29" name="Shape 27"/>
          <p:cNvSpPr/>
          <p:nvPr/>
        </p:nvSpPr>
        <p:spPr>
          <a:xfrm>
            <a:off x="274320" y="2916936"/>
            <a:ext cx="8595360" cy="251460"/>
          </a:xfrm>
          <a:prstGeom prst="rect">
            <a:avLst/>
          </a:prstGeom>
          <a:solidFill>
            <a:srgbClr val="F1F5FB"/>
          </a:solidFill>
          <a:ln w="6350">
            <a:solidFill>
              <a:srgbClr val="E0E8F4"/>
            </a:solidFill>
            <a:prstDash val="solid"/>
          </a:ln>
        </p:spPr>
      </p:sp>
      <p:sp>
        <p:nvSpPr>
          <p:cNvPr id="30" name="Text 28"/>
          <p:cNvSpPr/>
          <p:nvPr/>
        </p:nvSpPr>
        <p:spPr>
          <a:xfrm>
            <a:off x="347472" y="2939796"/>
            <a:ext cx="2926080" cy="205740"/>
          </a:xfrm>
          <a:prstGeom prst="rect">
            <a:avLst/>
          </a:prstGeom>
          <a:noFill/>
          <a:ln/>
        </p:spPr>
        <p:txBody>
          <a:bodyPr wrap="square" lIns="0" tIns="0" rIns="0" bIns="0" rtlCol="0" anchor="ctr"/>
          <a:lstStyle/>
          <a:p>
            <a:pPr marL="0" indent="0">
              <a:buNone/>
            </a:pPr>
            <a:r>
              <a:rPr lang="en-US" sz="900" b="1" dirty="0">
                <a:solidFill>
                  <a:srgbClr val="1A56DB"/>
                </a:solidFill>
              </a:rPr>
              <a:t>Lagging / Leading Reactive Power</a:t>
            </a:r>
            <a:endParaRPr lang="en-US" sz="900" dirty="0"/>
          </a:p>
        </p:txBody>
      </p:sp>
      <p:sp>
        <p:nvSpPr>
          <p:cNvPr id="31" name="Text 29"/>
          <p:cNvSpPr/>
          <p:nvPr/>
        </p:nvSpPr>
        <p:spPr>
          <a:xfrm>
            <a:off x="3310128" y="2939796"/>
            <a:ext cx="5468112" cy="205740"/>
          </a:xfrm>
          <a:prstGeom prst="rect">
            <a:avLst/>
          </a:prstGeom>
          <a:noFill/>
          <a:ln/>
        </p:spPr>
        <p:txBody>
          <a:bodyPr wrap="square" lIns="0" tIns="0" rIns="0" bIns="0" rtlCol="0" anchor="ctr"/>
          <a:lstStyle/>
          <a:p>
            <a:pPr marL="0" indent="0">
              <a:buNone/>
            </a:pPr>
            <a:r>
              <a:rPr lang="en-US" sz="900" dirty="0">
                <a:solidFill>
                  <a:srgbClr val="1A1A2E"/>
                </a:solidFill>
              </a:rPr>
              <a:t>Measures of electrical load quality and type</a:t>
            </a:r>
            <a:endParaRPr lang="en-US" sz="900" dirty="0"/>
          </a:p>
        </p:txBody>
      </p:sp>
      <p:sp>
        <p:nvSpPr>
          <p:cNvPr id="32" name="Shape 30"/>
          <p:cNvSpPr/>
          <p:nvPr/>
        </p:nvSpPr>
        <p:spPr>
          <a:xfrm>
            <a:off x="274320" y="3177540"/>
            <a:ext cx="8595360" cy="251460"/>
          </a:xfrm>
          <a:prstGeom prst="rect">
            <a:avLst/>
          </a:prstGeom>
          <a:solidFill>
            <a:srgbClr val="FFFFFF"/>
          </a:solidFill>
          <a:ln w="6350">
            <a:solidFill>
              <a:srgbClr val="E0E8F4"/>
            </a:solidFill>
            <a:prstDash val="solid"/>
          </a:ln>
        </p:spPr>
      </p:sp>
      <p:sp>
        <p:nvSpPr>
          <p:cNvPr id="33" name="Text 31"/>
          <p:cNvSpPr/>
          <p:nvPr/>
        </p:nvSpPr>
        <p:spPr>
          <a:xfrm>
            <a:off x="347472" y="3200400"/>
            <a:ext cx="2926080" cy="205740"/>
          </a:xfrm>
          <a:prstGeom prst="rect">
            <a:avLst/>
          </a:prstGeom>
          <a:noFill/>
          <a:ln/>
        </p:spPr>
        <p:txBody>
          <a:bodyPr wrap="square" lIns="0" tIns="0" rIns="0" bIns="0" rtlCol="0" anchor="ctr"/>
          <a:lstStyle/>
          <a:p>
            <a:pPr marL="0" indent="0">
              <a:buNone/>
            </a:pPr>
            <a:r>
              <a:rPr lang="en-US" sz="900" b="1" dirty="0">
                <a:solidFill>
                  <a:srgbClr val="1A56DB"/>
                </a:solidFill>
              </a:rPr>
              <a:t>Lagging / Leading Power Factor</a:t>
            </a:r>
            <a:endParaRPr lang="en-US" sz="900" dirty="0"/>
          </a:p>
        </p:txBody>
      </p:sp>
      <p:sp>
        <p:nvSpPr>
          <p:cNvPr id="34" name="Text 32"/>
          <p:cNvSpPr/>
          <p:nvPr/>
        </p:nvSpPr>
        <p:spPr>
          <a:xfrm>
            <a:off x="3310128" y="3200400"/>
            <a:ext cx="5468112" cy="205740"/>
          </a:xfrm>
          <a:prstGeom prst="rect">
            <a:avLst/>
          </a:prstGeom>
          <a:noFill/>
          <a:ln/>
        </p:spPr>
        <p:txBody>
          <a:bodyPr wrap="square" lIns="0" tIns="0" rIns="0" bIns="0" rtlCol="0" anchor="ctr"/>
          <a:lstStyle/>
          <a:p>
            <a:pPr marL="0" indent="0">
              <a:buNone/>
            </a:pPr>
            <a:r>
              <a:rPr lang="en-US" sz="900" dirty="0">
                <a:solidFill>
                  <a:srgbClr val="1A1A2E"/>
                </a:solidFill>
              </a:rPr>
              <a:t>Efficiency of electricity usage — lower = more waste</a:t>
            </a:r>
            <a:endParaRPr lang="en-US" sz="900" dirty="0"/>
          </a:p>
        </p:txBody>
      </p:sp>
      <p:sp>
        <p:nvSpPr>
          <p:cNvPr id="35" name="Shape 33"/>
          <p:cNvSpPr/>
          <p:nvPr/>
        </p:nvSpPr>
        <p:spPr>
          <a:xfrm>
            <a:off x="274320" y="3438144"/>
            <a:ext cx="8595360" cy="251460"/>
          </a:xfrm>
          <a:prstGeom prst="rect">
            <a:avLst/>
          </a:prstGeom>
          <a:solidFill>
            <a:srgbClr val="F1F5FB"/>
          </a:solidFill>
          <a:ln w="6350">
            <a:solidFill>
              <a:srgbClr val="E0E8F4"/>
            </a:solidFill>
            <a:prstDash val="solid"/>
          </a:ln>
        </p:spPr>
      </p:sp>
      <p:sp>
        <p:nvSpPr>
          <p:cNvPr id="36" name="Text 34"/>
          <p:cNvSpPr/>
          <p:nvPr/>
        </p:nvSpPr>
        <p:spPr>
          <a:xfrm>
            <a:off x="347472" y="3461004"/>
            <a:ext cx="2926080" cy="205740"/>
          </a:xfrm>
          <a:prstGeom prst="rect">
            <a:avLst/>
          </a:prstGeom>
          <a:noFill/>
          <a:ln/>
        </p:spPr>
        <p:txBody>
          <a:bodyPr wrap="square" lIns="0" tIns="0" rIns="0" bIns="0" rtlCol="0" anchor="ctr"/>
          <a:lstStyle/>
          <a:p>
            <a:pPr marL="0" indent="0">
              <a:buNone/>
            </a:pPr>
            <a:r>
              <a:rPr lang="en-US" sz="900" b="1" dirty="0">
                <a:solidFill>
                  <a:srgbClr val="1A56DB"/>
                </a:solidFill>
              </a:rPr>
              <a:t>NSM (Number of Seconds from Midnight)</a:t>
            </a:r>
            <a:endParaRPr lang="en-US" sz="900" dirty="0"/>
          </a:p>
        </p:txBody>
      </p:sp>
      <p:sp>
        <p:nvSpPr>
          <p:cNvPr id="37" name="Text 35"/>
          <p:cNvSpPr/>
          <p:nvPr/>
        </p:nvSpPr>
        <p:spPr>
          <a:xfrm>
            <a:off x="3310128" y="3461004"/>
            <a:ext cx="5468112" cy="205740"/>
          </a:xfrm>
          <a:prstGeom prst="rect">
            <a:avLst/>
          </a:prstGeom>
          <a:noFill/>
          <a:ln/>
        </p:spPr>
        <p:txBody>
          <a:bodyPr wrap="square" lIns="0" tIns="0" rIns="0" bIns="0" rtlCol="0" anchor="ctr"/>
          <a:lstStyle/>
          <a:p>
            <a:pPr marL="0" indent="0">
              <a:buNone/>
            </a:pPr>
            <a:r>
              <a:rPr lang="en-US" sz="900" dirty="0">
                <a:solidFill>
                  <a:srgbClr val="1A1A2E"/>
                </a:solidFill>
              </a:rPr>
              <a:t>Captures exact time of recording in the day</a:t>
            </a:r>
            <a:endParaRPr lang="en-US" sz="900" dirty="0"/>
          </a:p>
        </p:txBody>
      </p:sp>
      <p:sp>
        <p:nvSpPr>
          <p:cNvPr id="38" name="Shape 36"/>
          <p:cNvSpPr/>
          <p:nvPr/>
        </p:nvSpPr>
        <p:spPr>
          <a:xfrm>
            <a:off x="274320" y="3698748"/>
            <a:ext cx="8595360" cy="251460"/>
          </a:xfrm>
          <a:prstGeom prst="rect">
            <a:avLst/>
          </a:prstGeom>
          <a:solidFill>
            <a:srgbClr val="FFFFFF"/>
          </a:solidFill>
          <a:ln w="6350">
            <a:solidFill>
              <a:srgbClr val="E0E8F4"/>
            </a:solidFill>
            <a:prstDash val="solid"/>
          </a:ln>
        </p:spPr>
      </p:sp>
      <p:sp>
        <p:nvSpPr>
          <p:cNvPr id="39" name="Text 37"/>
          <p:cNvSpPr/>
          <p:nvPr/>
        </p:nvSpPr>
        <p:spPr>
          <a:xfrm>
            <a:off x="347472" y="3721608"/>
            <a:ext cx="2926080" cy="205740"/>
          </a:xfrm>
          <a:prstGeom prst="rect">
            <a:avLst/>
          </a:prstGeom>
          <a:noFill/>
          <a:ln/>
        </p:spPr>
        <p:txBody>
          <a:bodyPr wrap="square" lIns="0" tIns="0" rIns="0" bIns="0" rtlCol="0" anchor="ctr"/>
          <a:lstStyle/>
          <a:p>
            <a:pPr marL="0" indent="0">
              <a:buNone/>
            </a:pPr>
            <a:r>
              <a:rPr lang="en-US" sz="900" b="1" dirty="0">
                <a:solidFill>
                  <a:srgbClr val="1A56DB"/>
                </a:solidFill>
              </a:rPr>
              <a:t>WeekStatus</a:t>
            </a:r>
            <a:endParaRPr lang="en-US" sz="900" dirty="0"/>
          </a:p>
        </p:txBody>
      </p:sp>
      <p:sp>
        <p:nvSpPr>
          <p:cNvPr id="40" name="Text 38"/>
          <p:cNvSpPr/>
          <p:nvPr/>
        </p:nvSpPr>
        <p:spPr>
          <a:xfrm>
            <a:off x="3310128" y="3721608"/>
            <a:ext cx="5468112" cy="205740"/>
          </a:xfrm>
          <a:prstGeom prst="rect">
            <a:avLst/>
          </a:prstGeom>
          <a:noFill/>
          <a:ln/>
        </p:spPr>
        <p:txBody>
          <a:bodyPr wrap="square" lIns="0" tIns="0" rIns="0" bIns="0" rtlCol="0" anchor="ctr"/>
          <a:lstStyle/>
          <a:p>
            <a:pPr marL="0" indent="0">
              <a:buNone/>
            </a:pPr>
            <a:r>
              <a:rPr lang="en-US" sz="900" dirty="0">
                <a:solidFill>
                  <a:srgbClr val="1A1A2E"/>
                </a:solidFill>
              </a:rPr>
              <a:t>Whether the day is a weekday or weekend</a:t>
            </a:r>
            <a:endParaRPr lang="en-US" sz="900" dirty="0"/>
          </a:p>
        </p:txBody>
      </p:sp>
      <p:sp>
        <p:nvSpPr>
          <p:cNvPr id="41" name="Shape 39"/>
          <p:cNvSpPr/>
          <p:nvPr/>
        </p:nvSpPr>
        <p:spPr>
          <a:xfrm>
            <a:off x="274320" y="3959352"/>
            <a:ext cx="8595360" cy="251460"/>
          </a:xfrm>
          <a:prstGeom prst="rect">
            <a:avLst/>
          </a:prstGeom>
          <a:solidFill>
            <a:srgbClr val="F1F5FB"/>
          </a:solidFill>
          <a:ln w="6350">
            <a:solidFill>
              <a:srgbClr val="E0E8F4"/>
            </a:solidFill>
            <a:prstDash val="solid"/>
          </a:ln>
        </p:spPr>
      </p:sp>
      <p:sp>
        <p:nvSpPr>
          <p:cNvPr id="42" name="Text 40"/>
          <p:cNvSpPr/>
          <p:nvPr/>
        </p:nvSpPr>
        <p:spPr>
          <a:xfrm>
            <a:off x="347472" y="3982212"/>
            <a:ext cx="2926080" cy="205740"/>
          </a:xfrm>
          <a:prstGeom prst="rect">
            <a:avLst/>
          </a:prstGeom>
          <a:noFill/>
          <a:ln/>
        </p:spPr>
        <p:txBody>
          <a:bodyPr wrap="square" lIns="0" tIns="0" rIns="0" bIns="0" rtlCol="0" anchor="ctr"/>
          <a:lstStyle/>
          <a:p>
            <a:pPr marL="0" indent="0">
              <a:buNone/>
            </a:pPr>
            <a:r>
              <a:rPr lang="en-US" sz="900" b="1" dirty="0">
                <a:solidFill>
                  <a:srgbClr val="1A56DB"/>
                </a:solidFill>
              </a:rPr>
              <a:t>Day_of_week</a:t>
            </a:r>
            <a:endParaRPr lang="en-US" sz="900" dirty="0"/>
          </a:p>
        </p:txBody>
      </p:sp>
      <p:sp>
        <p:nvSpPr>
          <p:cNvPr id="43" name="Text 41"/>
          <p:cNvSpPr/>
          <p:nvPr/>
        </p:nvSpPr>
        <p:spPr>
          <a:xfrm>
            <a:off x="3310128" y="3982212"/>
            <a:ext cx="5468112" cy="205740"/>
          </a:xfrm>
          <a:prstGeom prst="rect">
            <a:avLst/>
          </a:prstGeom>
          <a:noFill/>
          <a:ln/>
        </p:spPr>
        <p:txBody>
          <a:bodyPr wrap="square" lIns="0" tIns="0" rIns="0" bIns="0" rtlCol="0" anchor="ctr"/>
          <a:lstStyle/>
          <a:p>
            <a:pPr marL="0" indent="0">
              <a:buNone/>
            </a:pPr>
            <a:r>
              <a:rPr lang="en-US" sz="900" dirty="0">
                <a:solidFill>
                  <a:srgbClr val="1A1A2E"/>
                </a:solidFill>
              </a:rPr>
              <a:t>Which specific day of the week it is</a:t>
            </a:r>
            <a:endParaRPr lang="en-US" sz="900" dirty="0"/>
          </a:p>
        </p:txBody>
      </p:sp>
      <p:sp>
        <p:nvSpPr>
          <p:cNvPr id="44" name="Shape 42"/>
          <p:cNvSpPr/>
          <p:nvPr/>
        </p:nvSpPr>
        <p:spPr>
          <a:xfrm>
            <a:off x="274320" y="4219956"/>
            <a:ext cx="8595360" cy="251460"/>
          </a:xfrm>
          <a:prstGeom prst="rect">
            <a:avLst/>
          </a:prstGeom>
          <a:solidFill>
            <a:srgbClr val="FFFFFF"/>
          </a:solidFill>
          <a:ln w="6350">
            <a:solidFill>
              <a:srgbClr val="E0E8F4"/>
            </a:solidFill>
            <a:prstDash val="solid"/>
          </a:ln>
        </p:spPr>
      </p:sp>
      <p:sp>
        <p:nvSpPr>
          <p:cNvPr id="45" name="Text 43"/>
          <p:cNvSpPr/>
          <p:nvPr/>
        </p:nvSpPr>
        <p:spPr>
          <a:xfrm>
            <a:off x="347472" y="4242816"/>
            <a:ext cx="2926080" cy="205740"/>
          </a:xfrm>
          <a:prstGeom prst="rect">
            <a:avLst/>
          </a:prstGeom>
          <a:noFill/>
          <a:ln/>
        </p:spPr>
        <p:txBody>
          <a:bodyPr wrap="square" lIns="0" tIns="0" rIns="0" bIns="0" rtlCol="0" anchor="ctr"/>
          <a:lstStyle/>
          <a:p>
            <a:pPr marL="0" indent="0">
              <a:buNone/>
            </a:pPr>
            <a:r>
              <a:rPr lang="en-US" sz="900" b="1" dirty="0">
                <a:solidFill>
                  <a:srgbClr val="1A56DB"/>
                </a:solidFill>
              </a:rPr>
              <a:t>Load_Type</a:t>
            </a:r>
            <a:endParaRPr lang="en-US" sz="900" dirty="0"/>
          </a:p>
        </p:txBody>
      </p:sp>
      <p:sp>
        <p:nvSpPr>
          <p:cNvPr id="46" name="Text 44"/>
          <p:cNvSpPr/>
          <p:nvPr/>
        </p:nvSpPr>
        <p:spPr>
          <a:xfrm>
            <a:off x="3310128" y="4242816"/>
            <a:ext cx="5468112" cy="205740"/>
          </a:xfrm>
          <a:prstGeom prst="rect">
            <a:avLst/>
          </a:prstGeom>
          <a:noFill/>
          <a:ln/>
        </p:spPr>
        <p:txBody>
          <a:bodyPr wrap="square" lIns="0" tIns="0" rIns="0" bIns="0" rtlCol="0" anchor="ctr"/>
          <a:lstStyle/>
          <a:p>
            <a:pPr marL="0" indent="0">
              <a:buNone/>
            </a:pPr>
            <a:r>
              <a:rPr lang="en-US" sz="900" dirty="0">
                <a:solidFill>
                  <a:srgbClr val="1A1A2E"/>
                </a:solidFill>
              </a:rPr>
              <a:t>Category of usage: Light / Medium / Maximum Load</a:t>
            </a:r>
            <a:endParaRPr lang="en-US" sz="900" dirty="0"/>
          </a:p>
        </p:txBody>
      </p:sp>
      <p:sp>
        <p:nvSpPr>
          <p:cNvPr id="47" name="Shape 45"/>
          <p:cNvSpPr/>
          <p:nvPr/>
        </p:nvSpPr>
        <p:spPr>
          <a:xfrm>
            <a:off x="274320" y="4480560"/>
            <a:ext cx="8595360" cy="251460"/>
          </a:xfrm>
          <a:prstGeom prst="rect">
            <a:avLst/>
          </a:prstGeom>
          <a:solidFill>
            <a:srgbClr val="F1F5FB"/>
          </a:solidFill>
          <a:ln w="6350">
            <a:solidFill>
              <a:srgbClr val="E0E8F4"/>
            </a:solidFill>
            <a:prstDash val="solid"/>
          </a:ln>
        </p:spPr>
      </p:sp>
      <p:sp>
        <p:nvSpPr>
          <p:cNvPr id="48" name="Text 46"/>
          <p:cNvSpPr/>
          <p:nvPr/>
        </p:nvSpPr>
        <p:spPr>
          <a:xfrm>
            <a:off x="347472" y="4503420"/>
            <a:ext cx="2926080" cy="205740"/>
          </a:xfrm>
          <a:prstGeom prst="rect">
            <a:avLst/>
          </a:prstGeom>
          <a:noFill/>
          <a:ln/>
        </p:spPr>
        <p:txBody>
          <a:bodyPr wrap="square" lIns="0" tIns="0" rIns="0" bIns="0" rtlCol="0" anchor="ctr"/>
          <a:lstStyle/>
          <a:p>
            <a:pPr marL="0" indent="0">
              <a:buNone/>
            </a:pPr>
            <a:r>
              <a:rPr lang="en-US" sz="900" b="1" dirty="0">
                <a:solidFill>
                  <a:srgbClr val="1A56DB"/>
                </a:solidFill>
              </a:rPr>
              <a:t>Hour / Day / Month</a:t>
            </a:r>
            <a:endParaRPr lang="en-US" sz="900" dirty="0"/>
          </a:p>
        </p:txBody>
      </p:sp>
      <p:sp>
        <p:nvSpPr>
          <p:cNvPr id="49" name="Text 47"/>
          <p:cNvSpPr/>
          <p:nvPr/>
        </p:nvSpPr>
        <p:spPr>
          <a:xfrm>
            <a:off x="3310128" y="4503420"/>
            <a:ext cx="5468112" cy="205740"/>
          </a:xfrm>
          <a:prstGeom prst="rect">
            <a:avLst/>
          </a:prstGeom>
          <a:noFill/>
          <a:ln/>
        </p:spPr>
        <p:txBody>
          <a:bodyPr wrap="square" lIns="0" tIns="0" rIns="0" bIns="0" rtlCol="0" anchor="ctr"/>
          <a:lstStyle/>
          <a:p>
            <a:pPr marL="0" indent="0">
              <a:buNone/>
            </a:pPr>
            <a:r>
              <a:rPr lang="en-US" sz="900" dirty="0">
                <a:solidFill>
                  <a:srgbClr val="1A1A2E"/>
                </a:solidFill>
              </a:rPr>
              <a:t>Time-based features for pattern analysis</a:t>
            </a:r>
            <a:endParaRPr lang="en-US" sz="900" dirty="0"/>
          </a:p>
        </p:txBody>
      </p:sp>
      <p:sp>
        <p:nvSpPr>
          <p:cNvPr id="50" name="Shape 48"/>
          <p:cNvSpPr/>
          <p:nvPr/>
        </p:nvSpPr>
        <p:spPr>
          <a:xfrm>
            <a:off x="274320" y="4741164"/>
            <a:ext cx="8595360" cy="251460"/>
          </a:xfrm>
          <a:prstGeom prst="rect">
            <a:avLst/>
          </a:prstGeom>
          <a:solidFill>
            <a:srgbClr val="FFFFFF"/>
          </a:solidFill>
          <a:ln w="6350">
            <a:solidFill>
              <a:srgbClr val="E0E8F4"/>
            </a:solidFill>
            <a:prstDash val="solid"/>
          </a:ln>
        </p:spPr>
      </p:sp>
      <p:sp>
        <p:nvSpPr>
          <p:cNvPr id="51" name="Text 49"/>
          <p:cNvSpPr/>
          <p:nvPr/>
        </p:nvSpPr>
        <p:spPr>
          <a:xfrm>
            <a:off x="347472" y="4764024"/>
            <a:ext cx="2926080" cy="205740"/>
          </a:xfrm>
          <a:prstGeom prst="rect">
            <a:avLst/>
          </a:prstGeom>
          <a:noFill/>
          <a:ln/>
        </p:spPr>
        <p:txBody>
          <a:bodyPr wrap="square" lIns="0" tIns="0" rIns="0" bIns="0" rtlCol="0" anchor="ctr"/>
          <a:lstStyle/>
          <a:p>
            <a:pPr marL="0" indent="0">
              <a:buNone/>
            </a:pPr>
            <a:r>
              <a:rPr lang="en-US" sz="900" b="1" dirty="0">
                <a:solidFill>
                  <a:srgbClr val="1A56DB"/>
                </a:solidFill>
              </a:rPr>
              <a:t>High_Usage</a:t>
            </a:r>
            <a:endParaRPr lang="en-US" sz="900" dirty="0"/>
          </a:p>
        </p:txBody>
      </p:sp>
      <p:sp>
        <p:nvSpPr>
          <p:cNvPr id="52" name="Text 50"/>
          <p:cNvSpPr/>
          <p:nvPr/>
        </p:nvSpPr>
        <p:spPr>
          <a:xfrm>
            <a:off x="3310128" y="4764024"/>
            <a:ext cx="5468112" cy="205740"/>
          </a:xfrm>
          <a:prstGeom prst="rect">
            <a:avLst/>
          </a:prstGeom>
          <a:noFill/>
          <a:ln/>
        </p:spPr>
        <p:txBody>
          <a:bodyPr wrap="square" lIns="0" tIns="0" rIns="0" bIns="0" rtlCol="0" anchor="ctr"/>
          <a:lstStyle/>
          <a:p>
            <a:pPr marL="0" indent="0">
              <a:buNone/>
            </a:pPr>
            <a:r>
              <a:rPr lang="en-US" sz="900" dirty="0">
                <a:solidFill>
                  <a:srgbClr val="1A1A2E"/>
                </a:solidFill>
              </a:rPr>
              <a:t>Yes/No flag — is this hour a high-usage period?</a:t>
            </a:r>
            <a:endParaRPr lang="en-US" sz="900" dirty="0"/>
          </a:p>
        </p:txBody>
      </p:sp>
      <p:sp>
        <p:nvSpPr>
          <p:cNvPr id="53" name="Shape 51"/>
          <p:cNvSpPr/>
          <p:nvPr/>
        </p:nvSpPr>
        <p:spPr>
          <a:xfrm>
            <a:off x="0" y="4919472"/>
            <a:ext cx="9144000" cy="224028"/>
          </a:xfrm>
          <a:prstGeom prst="rect">
            <a:avLst/>
          </a:prstGeom>
          <a:solidFill>
            <a:srgbClr val="0D1B3E"/>
          </a:solidFill>
          <a:ln w="12700">
            <a:solidFill>
              <a:srgbClr val="0D1B3E"/>
            </a:solidFill>
            <a:prstDash val="solid"/>
          </a:ln>
        </p:spPr>
      </p:sp>
      <p:sp>
        <p:nvSpPr>
          <p:cNvPr id="54" name="Text 52"/>
          <p:cNvSpPr/>
          <p:nvPr/>
        </p:nvSpPr>
        <p:spPr>
          <a:xfrm>
            <a:off x="274320" y="4919472"/>
            <a:ext cx="8595360" cy="224028"/>
          </a:xfrm>
          <a:prstGeom prst="rect">
            <a:avLst/>
          </a:prstGeom>
          <a:noFill/>
          <a:ln/>
        </p:spPr>
        <p:txBody>
          <a:bodyPr wrap="square" lIns="0" tIns="0" rIns="0" bIns="0" rtlCol="0" anchor="ctr"/>
          <a:lstStyle/>
          <a:p>
            <a:pPr marL="0" indent="0">
              <a:buNone/>
            </a:pPr>
            <a:r>
              <a:rPr lang="en-US" sz="850" dirty="0">
                <a:solidFill>
                  <a:srgbClr val="A0B8D8"/>
                </a:solidFill>
              </a:rPr>
              <a:t>Steel Industry Electricity Consumption | ML Analysis Project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A3E"/>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3A047"/>
          </a:solidFill>
          <a:ln w="12700">
            <a:solidFill>
              <a:srgbClr val="43A047"/>
            </a:solidFill>
            <a:prstDash val="solid"/>
          </a:ln>
        </p:spPr>
      </p:sp>
      <p:sp>
        <p:nvSpPr>
          <p:cNvPr id="3" name="Shape 1"/>
          <p:cNvSpPr/>
          <p:nvPr/>
        </p:nvSpPr>
        <p:spPr>
          <a:xfrm>
            <a:off x="54864" y="0"/>
            <a:ext cx="9066276" cy="41148"/>
          </a:xfrm>
          <a:prstGeom prst="rect">
            <a:avLst/>
          </a:prstGeom>
          <a:solidFill>
            <a:srgbClr val="00BCD4"/>
          </a:solidFill>
          <a:ln w="12700">
            <a:solidFill>
              <a:srgbClr val="00BCD4"/>
            </a:solidFill>
            <a:prstDash val="solid"/>
          </a:ln>
        </p:spPr>
      </p:sp>
      <p:sp>
        <p:nvSpPr>
          <p:cNvPr id="4" name="Text 2"/>
          <p:cNvSpPr/>
          <p:nvPr/>
        </p:nvSpPr>
        <p:spPr>
          <a:xfrm>
            <a:off x="205740" y="137160"/>
            <a:ext cx="8229600" cy="445770"/>
          </a:xfrm>
          <a:prstGeom prst="rect">
            <a:avLst/>
          </a:prstGeom>
          <a:noFill/>
          <a:ln/>
        </p:spPr>
        <p:txBody>
          <a:bodyPr wrap="square" rtlCol="0" anchor="ctr"/>
          <a:lstStyle/>
          <a:p>
            <a:pPr defTabSz="685800"/>
            <a:r>
              <a:rPr lang="en-US" sz="2250" b="1" dirty="0">
                <a:solidFill>
                  <a:srgbClr val="FFFFFF"/>
                </a:solidFill>
                <a:latin typeface="Calibri" pitchFamily="34" charset="0"/>
                <a:ea typeface="Calibri" pitchFamily="34" charset="-122"/>
                <a:cs typeface="Calibri" pitchFamily="34" charset="-120"/>
              </a:rPr>
              <a:t>Data Preprocessing</a:t>
            </a:r>
            <a:endParaRPr lang="en-US" sz="2250" dirty="0">
              <a:solidFill>
                <a:prstClr val="black"/>
              </a:solidFill>
              <a:latin typeface="Calibri" panose="020F0502020204030204"/>
            </a:endParaRPr>
          </a:p>
        </p:txBody>
      </p:sp>
      <p:sp>
        <p:nvSpPr>
          <p:cNvPr id="5" name="Shape 3"/>
          <p:cNvSpPr/>
          <p:nvPr/>
        </p:nvSpPr>
        <p:spPr>
          <a:xfrm>
            <a:off x="171450" y="720090"/>
            <a:ext cx="4320540" cy="4046220"/>
          </a:xfrm>
          <a:prstGeom prst="rect">
            <a:avLst/>
          </a:prstGeom>
          <a:solidFill>
            <a:srgbClr val="1C2B5E"/>
          </a:solidFill>
          <a:ln w="12700">
            <a:solidFill>
              <a:srgbClr val="FFFFFF">
                <a:alpha val="10000"/>
              </a:srgbClr>
            </a:solidFill>
            <a:prstDash val="solid"/>
          </a:ln>
          <a:effectLst>
            <a:outerShdw blurRad="101600" dist="25400" dir="8100000" algn="bl" rotWithShape="0">
              <a:srgbClr val="000000">
                <a:alpha val="30000"/>
              </a:srgbClr>
            </a:outerShdw>
          </a:effectLst>
        </p:spPr>
      </p:sp>
      <p:sp>
        <p:nvSpPr>
          <p:cNvPr id="6" name="Shape 4"/>
          <p:cNvSpPr/>
          <p:nvPr/>
        </p:nvSpPr>
        <p:spPr>
          <a:xfrm>
            <a:off x="171450" y="720090"/>
            <a:ext cx="4320540" cy="192024"/>
          </a:xfrm>
          <a:prstGeom prst="rect">
            <a:avLst/>
          </a:prstGeom>
          <a:solidFill>
            <a:srgbClr val="4FC3F7"/>
          </a:solidFill>
          <a:ln w="12700">
            <a:solidFill>
              <a:srgbClr val="00BCD4"/>
            </a:solidFill>
            <a:prstDash val="solid"/>
          </a:ln>
        </p:spPr>
      </p:sp>
      <p:sp>
        <p:nvSpPr>
          <p:cNvPr id="7" name="Text 5"/>
          <p:cNvSpPr/>
          <p:nvPr/>
        </p:nvSpPr>
        <p:spPr>
          <a:xfrm>
            <a:off x="171450" y="720090"/>
            <a:ext cx="4320540" cy="192024"/>
          </a:xfrm>
          <a:prstGeom prst="rect">
            <a:avLst/>
          </a:prstGeom>
          <a:noFill/>
          <a:ln/>
        </p:spPr>
        <p:txBody>
          <a:bodyPr wrap="square" lIns="0" tIns="0" rIns="0" bIns="0" rtlCol="0" anchor="ctr"/>
          <a:lstStyle/>
          <a:p>
            <a:pPr algn="ctr" defTabSz="685800"/>
            <a:r>
              <a:rPr lang="en-US" sz="675" b="1" kern="0" spc="150" dirty="0">
                <a:solidFill>
                  <a:srgbClr val="1E2761"/>
                </a:solidFill>
                <a:latin typeface="Calibri" panose="020F0502020204030204"/>
              </a:rPr>
              <a:t>BASIC PREPROCESSING</a:t>
            </a:r>
            <a:endParaRPr lang="en-US" sz="675" dirty="0">
              <a:solidFill>
                <a:prstClr val="black"/>
              </a:solidFill>
              <a:latin typeface="Calibri" panose="020F0502020204030204"/>
            </a:endParaRPr>
          </a:p>
        </p:txBody>
      </p:sp>
      <p:sp>
        <p:nvSpPr>
          <p:cNvPr id="8" name="Shape 6"/>
          <p:cNvSpPr/>
          <p:nvPr/>
        </p:nvSpPr>
        <p:spPr>
          <a:xfrm>
            <a:off x="274320" y="1104138"/>
            <a:ext cx="192024" cy="192024"/>
          </a:xfrm>
          <a:prstGeom prst="ellipse">
            <a:avLst/>
          </a:prstGeom>
          <a:solidFill>
            <a:srgbClr val="00BCD4"/>
          </a:solidFill>
          <a:ln w="12700">
            <a:solidFill>
              <a:srgbClr val="00BCD4"/>
            </a:solidFill>
            <a:prstDash val="solid"/>
          </a:ln>
        </p:spPr>
      </p:sp>
      <p:sp>
        <p:nvSpPr>
          <p:cNvPr id="9" name="Text 7"/>
          <p:cNvSpPr/>
          <p:nvPr/>
        </p:nvSpPr>
        <p:spPr>
          <a:xfrm>
            <a:off x="274320" y="1104138"/>
            <a:ext cx="192024" cy="192024"/>
          </a:xfrm>
          <a:prstGeom prst="rect">
            <a:avLst/>
          </a:prstGeom>
          <a:noFill/>
          <a:ln/>
        </p:spPr>
        <p:txBody>
          <a:bodyPr wrap="square" lIns="0" tIns="0" rIns="0" bIns="0" rtlCol="0" anchor="ctr"/>
          <a:lstStyle/>
          <a:p>
            <a:pPr algn="ctr" defTabSz="685800"/>
            <a:r>
              <a:rPr lang="en-US" sz="750" b="1" dirty="0">
                <a:solidFill>
                  <a:srgbClr val="FFFFFF"/>
                </a:solidFill>
                <a:latin typeface="Calibri" panose="020F0502020204030204"/>
              </a:rPr>
              <a:t>1</a:t>
            </a:r>
            <a:endParaRPr lang="en-US" sz="750" dirty="0">
              <a:solidFill>
                <a:prstClr val="black"/>
              </a:solidFill>
              <a:latin typeface="Calibri" panose="020F0502020204030204"/>
            </a:endParaRPr>
          </a:p>
        </p:txBody>
      </p:sp>
      <p:sp>
        <p:nvSpPr>
          <p:cNvPr id="10" name="Text 8"/>
          <p:cNvSpPr/>
          <p:nvPr/>
        </p:nvSpPr>
        <p:spPr>
          <a:xfrm>
            <a:off x="548640" y="1062990"/>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No Missing Values</a:t>
            </a:r>
            <a:endParaRPr lang="en-US" sz="975" dirty="0">
              <a:solidFill>
                <a:prstClr val="black"/>
              </a:solidFill>
              <a:latin typeface="Calibri" panose="020F0502020204030204"/>
            </a:endParaRPr>
          </a:p>
        </p:txBody>
      </p:sp>
      <p:sp>
        <p:nvSpPr>
          <p:cNvPr id="11" name="Text 9"/>
          <p:cNvSpPr/>
          <p:nvPr/>
        </p:nvSpPr>
        <p:spPr>
          <a:xfrm>
            <a:off x="548640" y="1296162"/>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All 35,040 records were complete — no gaps or empty fields found.</a:t>
            </a:r>
            <a:endParaRPr lang="en-US" sz="900" dirty="0">
              <a:solidFill>
                <a:prstClr val="black"/>
              </a:solidFill>
              <a:latin typeface="Calibri" panose="020F0502020204030204"/>
            </a:endParaRPr>
          </a:p>
        </p:txBody>
      </p:sp>
      <p:sp>
        <p:nvSpPr>
          <p:cNvPr id="12" name="Shape 10"/>
          <p:cNvSpPr/>
          <p:nvPr/>
        </p:nvSpPr>
        <p:spPr>
          <a:xfrm>
            <a:off x="274320" y="1707642"/>
            <a:ext cx="192024" cy="192024"/>
          </a:xfrm>
          <a:prstGeom prst="ellipse">
            <a:avLst/>
          </a:prstGeom>
          <a:solidFill>
            <a:srgbClr val="00BCD4"/>
          </a:solidFill>
          <a:ln w="12700">
            <a:solidFill>
              <a:srgbClr val="00BCD4"/>
            </a:solidFill>
            <a:prstDash val="solid"/>
          </a:ln>
        </p:spPr>
      </p:sp>
      <p:sp>
        <p:nvSpPr>
          <p:cNvPr id="13" name="Text 11"/>
          <p:cNvSpPr/>
          <p:nvPr/>
        </p:nvSpPr>
        <p:spPr>
          <a:xfrm>
            <a:off x="274320" y="1707642"/>
            <a:ext cx="192024" cy="192024"/>
          </a:xfrm>
          <a:prstGeom prst="rect">
            <a:avLst/>
          </a:prstGeom>
          <a:noFill/>
          <a:ln/>
        </p:spPr>
        <p:txBody>
          <a:bodyPr wrap="square" lIns="0" tIns="0" rIns="0" bIns="0" rtlCol="0" anchor="ctr"/>
          <a:lstStyle/>
          <a:p>
            <a:pPr algn="ctr" defTabSz="685800"/>
            <a:r>
              <a:rPr lang="en-US" sz="750" b="1" dirty="0">
                <a:solidFill>
                  <a:srgbClr val="FFFFFF"/>
                </a:solidFill>
                <a:latin typeface="Calibri" panose="020F0502020204030204"/>
              </a:rPr>
              <a:t>2</a:t>
            </a:r>
            <a:endParaRPr lang="en-US" sz="750" dirty="0">
              <a:solidFill>
                <a:prstClr val="black"/>
              </a:solidFill>
              <a:latin typeface="Calibri" panose="020F0502020204030204"/>
            </a:endParaRPr>
          </a:p>
        </p:txBody>
      </p:sp>
      <p:sp>
        <p:nvSpPr>
          <p:cNvPr id="14" name="Text 12"/>
          <p:cNvSpPr/>
          <p:nvPr/>
        </p:nvSpPr>
        <p:spPr>
          <a:xfrm>
            <a:off x="548640" y="1666494"/>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No Duplicates</a:t>
            </a:r>
            <a:endParaRPr lang="en-US" sz="975" dirty="0">
              <a:solidFill>
                <a:prstClr val="black"/>
              </a:solidFill>
              <a:latin typeface="Calibri" panose="020F0502020204030204"/>
            </a:endParaRPr>
          </a:p>
        </p:txBody>
      </p:sp>
      <p:sp>
        <p:nvSpPr>
          <p:cNvPr id="15" name="Text 13"/>
          <p:cNvSpPr/>
          <p:nvPr/>
        </p:nvSpPr>
        <p:spPr>
          <a:xfrm>
            <a:off x="548640" y="1899666"/>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Every reading was unique — no repeated entries in the dataset.</a:t>
            </a:r>
            <a:endParaRPr lang="en-US" sz="900" dirty="0">
              <a:solidFill>
                <a:prstClr val="black"/>
              </a:solidFill>
              <a:latin typeface="Calibri" panose="020F0502020204030204"/>
            </a:endParaRPr>
          </a:p>
        </p:txBody>
      </p:sp>
      <p:sp>
        <p:nvSpPr>
          <p:cNvPr id="16" name="Shape 14"/>
          <p:cNvSpPr/>
          <p:nvPr/>
        </p:nvSpPr>
        <p:spPr>
          <a:xfrm>
            <a:off x="274320" y="2311146"/>
            <a:ext cx="192024" cy="192024"/>
          </a:xfrm>
          <a:prstGeom prst="ellipse">
            <a:avLst/>
          </a:prstGeom>
          <a:solidFill>
            <a:srgbClr val="00BCD4"/>
          </a:solidFill>
          <a:ln w="12700">
            <a:solidFill>
              <a:srgbClr val="00BCD4"/>
            </a:solidFill>
            <a:prstDash val="solid"/>
          </a:ln>
        </p:spPr>
      </p:sp>
      <p:sp>
        <p:nvSpPr>
          <p:cNvPr id="17" name="Text 15"/>
          <p:cNvSpPr/>
          <p:nvPr/>
        </p:nvSpPr>
        <p:spPr>
          <a:xfrm>
            <a:off x="274320" y="2311146"/>
            <a:ext cx="192024" cy="192024"/>
          </a:xfrm>
          <a:prstGeom prst="rect">
            <a:avLst/>
          </a:prstGeom>
          <a:noFill/>
          <a:ln/>
        </p:spPr>
        <p:txBody>
          <a:bodyPr wrap="square" lIns="0" tIns="0" rIns="0" bIns="0" rtlCol="0" anchor="ctr"/>
          <a:lstStyle/>
          <a:p>
            <a:pPr algn="ctr" defTabSz="685800"/>
            <a:r>
              <a:rPr lang="en-US" sz="750" b="1" dirty="0">
                <a:solidFill>
                  <a:srgbClr val="FFFFFF"/>
                </a:solidFill>
                <a:latin typeface="Calibri" panose="020F0502020204030204"/>
              </a:rPr>
              <a:t>3</a:t>
            </a:r>
            <a:endParaRPr lang="en-US" sz="750" dirty="0">
              <a:solidFill>
                <a:prstClr val="black"/>
              </a:solidFill>
              <a:latin typeface="Calibri" panose="020F0502020204030204"/>
            </a:endParaRPr>
          </a:p>
        </p:txBody>
      </p:sp>
      <p:sp>
        <p:nvSpPr>
          <p:cNvPr id="18" name="Text 16"/>
          <p:cNvSpPr/>
          <p:nvPr/>
        </p:nvSpPr>
        <p:spPr>
          <a:xfrm>
            <a:off x="548640" y="2269998"/>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Date Conversion</a:t>
            </a:r>
            <a:endParaRPr lang="en-US" sz="975" dirty="0">
              <a:solidFill>
                <a:prstClr val="black"/>
              </a:solidFill>
              <a:latin typeface="Calibri" panose="020F0502020204030204"/>
            </a:endParaRPr>
          </a:p>
        </p:txBody>
      </p:sp>
      <p:sp>
        <p:nvSpPr>
          <p:cNvPr id="19" name="Text 17"/>
          <p:cNvSpPr/>
          <p:nvPr/>
        </p:nvSpPr>
        <p:spPr>
          <a:xfrm>
            <a:off x="548640" y="2503170"/>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Dates were converted from text into proper date-time format for analysis.</a:t>
            </a:r>
            <a:endParaRPr lang="en-US" sz="900" dirty="0">
              <a:solidFill>
                <a:prstClr val="black"/>
              </a:solidFill>
              <a:latin typeface="Calibri" panose="020F0502020204030204"/>
            </a:endParaRPr>
          </a:p>
        </p:txBody>
      </p:sp>
      <p:sp>
        <p:nvSpPr>
          <p:cNvPr id="20" name="Shape 18"/>
          <p:cNvSpPr/>
          <p:nvPr/>
        </p:nvSpPr>
        <p:spPr>
          <a:xfrm>
            <a:off x="274320" y="2914650"/>
            <a:ext cx="192024" cy="192024"/>
          </a:xfrm>
          <a:prstGeom prst="ellipse">
            <a:avLst/>
          </a:prstGeom>
          <a:solidFill>
            <a:srgbClr val="00BCD4"/>
          </a:solidFill>
          <a:ln w="12700">
            <a:solidFill>
              <a:srgbClr val="00BCD4"/>
            </a:solidFill>
            <a:prstDash val="solid"/>
          </a:ln>
        </p:spPr>
      </p:sp>
      <p:sp>
        <p:nvSpPr>
          <p:cNvPr id="21" name="Text 19"/>
          <p:cNvSpPr/>
          <p:nvPr/>
        </p:nvSpPr>
        <p:spPr>
          <a:xfrm>
            <a:off x="274320" y="2914650"/>
            <a:ext cx="192024" cy="192024"/>
          </a:xfrm>
          <a:prstGeom prst="rect">
            <a:avLst/>
          </a:prstGeom>
          <a:noFill/>
          <a:ln/>
        </p:spPr>
        <p:txBody>
          <a:bodyPr wrap="square" lIns="0" tIns="0" rIns="0" bIns="0" rtlCol="0" anchor="ctr"/>
          <a:lstStyle/>
          <a:p>
            <a:pPr algn="ctr" defTabSz="685800"/>
            <a:r>
              <a:rPr lang="en-US" sz="750" b="1" dirty="0">
                <a:solidFill>
                  <a:srgbClr val="FFFFFF"/>
                </a:solidFill>
                <a:latin typeface="Calibri" panose="020F0502020204030204"/>
              </a:rPr>
              <a:t>4</a:t>
            </a:r>
            <a:endParaRPr lang="en-US" sz="750" dirty="0">
              <a:solidFill>
                <a:prstClr val="black"/>
              </a:solidFill>
              <a:latin typeface="Calibri" panose="020F0502020204030204"/>
            </a:endParaRPr>
          </a:p>
        </p:txBody>
      </p:sp>
      <p:sp>
        <p:nvSpPr>
          <p:cNvPr id="22" name="Text 20"/>
          <p:cNvSpPr/>
          <p:nvPr/>
        </p:nvSpPr>
        <p:spPr>
          <a:xfrm>
            <a:off x="548640" y="2873502"/>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Feature Extraction</a:t>
            </a:r>
            <a:endParaRPr lang="en-US" sz="975" dirty="0">
              <a:solidFill>
                <a:prstClr val="black"/>
              </a:solidFill>
              <a:latin typeface="Calibri" panose="020F0502020204030204"/>
            </a:endParaRPr>
          </a:p>
        </p:txBody>
      </p:sp>
      <p:sp>
        <p:nvSpPr>
          <p:cNvPr id="23" name="Text 21"/>
          <p:cNvSpPr/>
          <p:nvPr/>
        </p:nvSpPr>
        <p:spPr>
          <a:xfrm>
            <a:off x="548640" y="3106674"/>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Hour, Day, and Month were extracted from the date for time-based analysis.</a:t>
            </a:r>
            <a:endParaRPr lang="en-US" sz="900" dirty="0">
              <a:solidFill>
                <a:prstClr val="black"/>
              </a:solidFill>
              <a:latin typeface="Calibri" panose="020F0502020204030204"/>
            </a:endParaRPr>
          </a:p>
        </p:txBody>
      </p:sp>
      <p:sp>
        <p:nvSpPr>
          <p:cNvPr id="24" name="Shape 22"/>
          <p:cNvSpPr/>
          <p:nvPr/>
        </p:nvSpPr>
        <p:spPr>
          <a:xfrm>
            <a:off x="274320" y="3518154"/>
            <a:ext cx="192024" cy="192024"/>
          </a:xfrm>
          <a:prstGeom prst="ellipse">
            <a:avLst/>
          </a:prstGeom>
          <a:solidFill>
            <a:srgbClr val="00BCD4"/>
          </a:solidFill>
          <a:ln w="12700">
            <a:solidFill>
              <a:srgbClr val="00BCD4"/>
            </a:solidFill>
            <a:prstDash val="solid"/>
          </a:ln>
        </p:spPr>
      </p:sp>
      <p:sp>
        <p:nvSpPr>
          <p:cNvPr id="25" name="Text 23"/>
          <p:cNvSpPr/>
          <p:nvPr/>
        </p:nvSpPr>
        <p:spPr>
          <a:xfrm>
            <a:off x="274320" y="3518154"/>
            <a:ext cx="192024" cy="192024"/>
          </a:xfrm>
          <a:prstGeom prst="rect">
            <a:avLst/>
          </a:prstGeom>
          <a:noFill/>
          <a:ln/>
        </p:spPr>
        <p:txBody>
          <a:bodyPr wrap="square" lIns="0" tIns="0" rIns="0" bIns="0" rtlCol="0" anchor="ctr"/>
          <a:lstStyle/>
          <a:p>
            <a:pPr algn="ctr" defTabSz="685800"/>
            <a:r>
              <a:rPr lang="en-US" sz="750" b="1" dirty="0">
                <a:solidFill>
                  <a:srgbClr val="FFFFFF"/>
                </a:solidFill>
                <a:latin typeface="Calibri" panose="020F0502020204030204"/>
              </a:rPr>
              <a:t>5</a:t>
            </a:r>
            <a:endParaRPr lang="en-US" sz="750" dirty="0">
              <a:solidFill>
                <a:prstClr val="black"/>
              </a:solidFill>
              <a:latin typeface="Calibri" panose="020F0502020204030204"/>
            </a:endParaRPr>
          </a:p>
        </p:txBody>
      </p:sp>
      <p:sp>
        <p:nvSpPr>
          <p:cNvPr id="26" name="Text 24"/>
          <p:cNvSpPr/>
          <p:nvPr/>
        </p:nvSpPr>
        <p:spPr>
          <a:xfrm>
            <a:off x="548640" y="3477006"/>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New Column Created</a:t>
            </a:r>
            <a:endParaRPr lang="en-US" sz="975" dirty="0">
              <a:solidFill>
                <a:prstClr val="black"/>
              </a:solidFill>
              <a:latin typeface="Calibri" panose="020F0502020204030204"/>
            </a:endParaRPr>
          </a:p>
        </p:txBody>
      </p:sp>
      <p:sp>
        <p:nvSpPr>
          <p:cNvPr id="27" name="Text 25"/>
          <p:cNvSpPr/>
          <p:nvPr/>
        </p:nvSpPr>
        <p:spPr>
          <a:xfrm>
            <a:off x="548640" y="3710178"/>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A 'High_Usage' flag was added to mark readings above average electricity use.</a:t>
            </a:r>
            <a:endParaRPr lang="en-US" sz="900" dirty="0">
              <a:solidFill>
                <a:prstClr val="black"/>
              </a:solidFill>
              <a:latin typeface="Calibri" panose="020F0502020204030204"/>
            </a:endParaRPr>
          </a:p>
        </p:txBody>
      </p:sp>
      <p:sp>
        <p:nvSpPr>
          <p:cNvPr id="28" name="Shape 26"/>
          <p:cNvSpPr/>
          <p:nvPr/>
        </p:nvSpPr>
        <p:spPr>
          <a:xfrm>
            <a:off x="274320" y="4121658"/>
            <a:ext cx="192024" cy="192024"/>
          </a:xfrm>
          <a:prstGeom prst="ellipse">
            <a:avLst/>
          </a:prstGeom>
          <a:solidFill>
            <a:srgbClr val="00BCD4"/>
          </a:solidFill>
          <a:ln w="12700">
            <a:solidFill>
              <a:srgbClr val="00BCD4"/>
            </a:solidFill>
            <a:prstDash val="solid"/>
          </a:ln>
        </p:spPr>
      </p:sp>
      <p:sp>
        <p:nvSpPr>
          <p:cNvPr id="29" name="Text 27"/>
          <p:cNvSpPr/>
          <p:nvPr/>
        </p:nvSpPr>
        <p:spPr>
          <a:xfrm>
            <a:off x="274320" y="4121658"/>
            <a:ext cx="192024" cy="192024"/>
          </a:xfrm>
          <a:prstGeom prst="rect">
            <a:avLst/>
          </a:prstGeom>
          <a:noFill/>
          <a:ln/>
        </p:spPr>
        <p:txBody>
          <a:bodyPr wrap="square" lIns="0" tIns="0" rIns="0" bIns="0" rtlCol="0" anchor="ctr"/>
          <a:lstStyle/>
          <a:p>
            <a:pPr algn="ctr" defTabSz="685800"/>
            <a:r>
              <a:rPr lang="en-US" sz="750" b="1" dirty="0">
                <a:solidFill>
                  <a:srgbClr val="FFFFFF"/>
                </a:solidFill>
                <a:latin typeface="Calibri" panose="020F0502020204030204"/>
              </a:rPr>
              <a:t>6</a:t>
            </a:r>
            <a:endParaRPr lang="en-US" sz="750" dirty="0">
              <a:solidFill>
                <a:prstClr val="black"/>
              </a:solidFill>
              <a:latin typeface="Calibri" panose="020F0502020204030204"/>
            </a:endParaRPr>
          </a:p>
        </p:txBody>
      </p:sp>
      <p:sp>
        <p:nvSpPr>
          <p:cNvPr id="30" name="Text 28"/>
          <p:cNvSpPr/>
          <p:nvPr/>
        </p:nvSpPr>
        <p:spPr>
          <a:xfrm>
            <a:off x="548640" y="4080510"/>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Data Export</a:t>
            </a:r>
            <a:endParaRPr lang="en-US" sz="975" dirty="0">
              <a:solidFill>
                <a:prstClr val="black"/>
              </a:solidFill>
              <a:latin typeface="Calibri" panose="020F0502020204030204"/>
            </a:endParaRPr>
          </a:p>
        </p:txBody>
      </p:sp>
      <p:sp>
        <p:nvSpPr>
          <p:cNvPr id="31" name="Text 29"/>
          <p:cNvSpPr/>
          <p:nvPr/>
        </p:nvSpPr>
        <p:spPr>
          <a:xfrm>
            <a:off x="548640" y="4313682"/>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Cleaned data was saved as a preprocessed file for further ML analysis.</a:t>
            </a:r>
            <a:endParaRPr lang="en-US" sz="900" dirty="0">
              <a:solidFill>
                <a:prstClr val="black"/>
              </a:solidFill>
              <a:latin typeface="Calibri" panose="020F0502020204030204"/>
            </a:endParaRPr>
          </a:p>
        </p:txBody>
      </p:sp>
      <p:sp>
        <p:nvSpPr>
          <p:cNvPr id="32" name="Shape 30"/>
          <p:cNvSpPr/>
          <p:nvPr/>
        </p:nvSpPr>
        <p:spPr>
          <a:xfrm>
            <a:off x="4629150" y="720090"/>
            <a:ext cx="4320540" cy="4046220"/>
          </a:xfrm>
          <a:prstGeom prst="rect">
            <a:avLst/>
          </a:prstGeom>
          <a:solidFill>
            <a:srgbClr val="1C2B5E"/>
          </a:solidFill>
          <a:ln w="12700">
            <a:solidFill>
              <a:srgbClr val="FFFFFF">
                <a:alpha val="10000"/>
              </a:srgbClr>
            </a:solidFill>
            <a:prstDash val="solid"/>
          </a:ln>
          <a:effectLst>
            <a:outerShdw blurRad="101600" dist="25400" dir="8100000" algn="bl" rotWithShape="0">
              <a:srgbClr val="000000">
                <a:alpha val="30000"/>
              </a:srgbClr>
            </a:outerShdw>
          </a:effectLst>
        </p:spPr>
      </p:sp>
      <p:sp>
        <p:nvSpPr>
          <p:cNvPr id="33" name="Shape 31"/>
          <p:cNvSpPr/>
          <p:nvPr/>
        </p:nvSpPr>
        <p:spPr>
          <a:xfrm>
            <a:off x="4629150" y="720090"/>
            <a:ext cx="4320540" cy="192024"/>
          </a:xfrm>
          <a:prstGeom prst="rect">
            <a:avLst/>
          </a:prstGeom>
          <a:solidFill>
            <a:srgbClr val="4FC3F7"/>
          </a:solidFill>
          <a:ln w="12700">
            <a:solidFill>
              <a:srgbClr val="4FC3F7"/>
            </a:solidFill>
            <a:prstDash val="solid"/>
          </a:ln>
        </p:spPr>
      </p:sp>
      <p:sp>
        <p:nvSpPr>
          <p:cNvPr id="34" name="Text 32"/>
          <p:cNvSpPr/>
          <p:nvPr/>
        </p:nvSpPr>
        <p:spPr>
          <a:xfrm>
            <a:off x="4629150" y="720090"/>
            <a:ext cx="4320540" cy="192024"/>
          </a:xfrm>
          <a:prstGeom prst="rect">
            <a:avLst/>
          </a:prstGeom>
          <a:noFill/>
          <a:ln/>
        </p:spPr>
        <p:txBody>
          <a:bodyPr wrap="square" lIns="0" tIns="0" rIns="0" bIns="0" rtlCol="0" anchor="ctr"/>
          <a:lstStyle/>
          <a:p>
            <a:pPr algn="ctr" defTabSz="685800"/>
            <a:r>
              <a:rPr lang="en-US" sz="675" b="1" kern="0" spc="150" dirty="0">
                <a:solidFill>
                  <a:srgbClr val="1E2761"/>
                </a:solidFill>
                <a:latin typeface="Calibri" panose="020F0502020204030204"/>
              </a:rPr>
              <a:t>ML PREPROCESSING</a:t>
            </a:r>
            <a:endParaRPr lang="en-US" sz="675" dirty="0">
              <a:solidFill>
                <a:prstClr val="black"/>
              </a:solidFill>
              <a:latin typeface="Calibri" panose="020F0502020204030204"/>
            </a:endParaRPr>
          </a:p>
        </p:txBody>
      </p:sp>
      <p:sp>
        <p:nvSpPr>
          <p:cNvPr id="35" name="Shape 33"/>
          <p:cNvSpPr/>
          <p:nvPr/>
        </p:nvSpPr>
        <p:spPr>
          <a:xfrm>
            <a:off x="4732020" y="1104138"/>
            <a:ext cx="192024" cy="192024"/>
          </a:xfrm>
          <a:prstGeom prst="ellipse">
            <a:avLst/>
          </a:prstGeom>
          <a:solidFill>
            <a:srgbClr val="4FC3F7"/>
          </a:solidFill>
          <a:ln w="12700">
            <a:solidFill>
              <a:srgbClr val="4FC3F7"/>
            </a:solidFill>
            <a:prstDash val="solid"/>
          </a:ln>
        </p:spPr>
      </p:sp>
      <p:sp>
        <p:nvSpPr>
          <p:cNvPr id="36" name="Text 34"/>
          <p:cNvSpPr/>
          <p:nvPr/>
        </p:nvSpPr>
        <p:spPr>
          <a:xfrm>
            <a:off x="4732020" y="1104138"/>
            <a:ext cx="192024" cy="192024"/>
          </a:xfrm>
          <a:prstGeom prst="rect">
            <a:avLst/>
          </a:prstGeom>
          <a:noFill/>
          <a:ln/>
        </p:spPr>
        <p:txBody>
          <a:bodyPr wrap="square" lIns="0" tIns="0" rIns="0" bIns="0" rtlCol="0" anchor="ctr"/>
          <a:lstStyle/>
          <a:p>
            <a:pPr algn="ctr" defTabSz="685800"/>
            <a:r>
              <a:rPr lang="en-US" sz="750" b="1" dirty="0">
                <a:solidFill>
                  <a:srgbClr val="1E2761"/>
                </a:solidFill>
                <a:latin typeface="Calibri" panose="020F0502020204030204"/>
              </a:rPr>
              <a:t>1</a:t>
            </a:r>
            <a:endParaRPr lang="en-US" sz="750" dirty="0">
              <a:solidFill>
                <a:prstClr val="black"/>
              </a:solidFill>
              <a:latin typeface="Calibri" panose="020F0502020204030204"/>
            </a:endParaRPr>
          </a:p>
        </p:txBody>
      </p:sp>
      <p:sp>
        <p:nvSpPr>
          <p:cNvPr id="37" name="Text 35"/>
          <p:cNvSpPr/>
          <p:nvPr/>
        </p:nvSpPr>
        <p:spPr>
          <a:xfrm>
            <a:off x="5006340" y="1062990"/>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Feature Encoding</a:t>
            </a:r>
            <a:endParaRPr lang="en-US" sz="975" dirty="0">
              <a:solidFill>
                <a:prstClr val="black"/>
              </a:solidFill>
              <a:latin typeface="Calibri" panose="020F0502020204030204"/>
            </a:endParaRPr>
          </a:p>
        </p:txBody>
      </p:sp>
      <p:sp>
        <p:nvSpPr>
          <p:cNvPr id="38" name="Text 36"/>
          <p:cNvSpPr/>
          <p:nvPr/>
        </p:nvSpPr>
        <p:spPr>
          <a:xfrm>
            <a:off x="5006340" y="1296162"/>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Text columns like 'Load Type' and 'Day of Week' were converted into numbers so the model can understand them.</a:t>
            </a:r>
            <a:endParaRPr lang="en-US" sz="900" dirty="0">
              <a:solidFill>
                <a:prstClr val="black"/>
              </a:solidFill>
              <a:latin typeface="Calibri" panose="020F0502020204030204"/>
            </a:endParaRPr>
          </a:p>
        </p:txBody>
      </p:sp>
      <p:sp>
        <p:nvSpPr>
          <p:cNvPr id="39" name="Shape 37"/>
          <p:cNvSpPr/>
          <p:nvPr/>
        </p:nvSpPr>
        <p:spPr>
          <a:xfrm>
            <a:off x="4732020" y="1707642"/>
            <a:ext cx="192024" cy="192024"/>
          </a:xfrm>
          <a:prstGeom prst="ellipse">
            <a:avLst/>
          </a:prstGeom>
          <a:solidFill>
            <a:srgbClr val="4FC3F7"/>
          </a:solidFill>
          <a:ln w="12700">
            <a:solidFill>
              <a:srgbClr val="4FC3F7"/>
            </a:solidFill>
            <a:prstDash val="solid"/>
          </a:ln>
        </p:spPr>
      </p:sp>
      <p:sp>
        <p:nvSpPr>
          <p:cNvPr id="40" name="Text 38"/>
          <p:cNvSpPr/>
          <p:nvPr/>
        </p:nvSpPr>
        <p:spPr>
          <a:xfrm>
            <a:off x="4732020" y="1707642"/>
            <a:ext cx="192024" cy="192024"/>
          </a:xfrm>
          <a:prstGeom prst="rect">
            <a:avLst/>
          </a:prstGeom>
          <a:noFill/>
          <a:ln/>
        </p:spPr>
        <p:txBody>
          <a:bodyPr wrap="square" lIns="0" tIns="0" rIns="0" bIns="0" rtlCol="0" anchor="ctr"/>
          <a:lstStyle/>
          <a:p>
            <a:pPr algn="ctr" defTabSz="685800"/>
            <a:r>
              <a:rPr lang="en-US" sz="750" b="1" dirty="0">
                <a:solidFill>
                  <a:srgbClr val="1E2761"/>
                </a:solidFill>
                <a:latin typeface="Calibri" panose="020F0502020204030204"/>
              </a:rPr>
              <a:t>2</a:t>
            </a:r>
            <a:endParaRPr lang="en-US" sz="750" dirty="0">
              <a:solidFill>
                <a:prstClr val="black"/>
              </a:solidFill>
              <a:latin typeface="Calibri" panose="020F0502020204030204"/>
            </a:endParaRPr>
          </a:p>
        </p:txBody>
      </p:sp>
      <p:sp>
        <p:nvSpPr>
          <p:cNvPr id="41" name="Text 39"/>
          <p:cNvSpPr/>
          <p:nvPr/>
        </p:nvSpPr>
        <p:spPr>
          <a:xfrm>
            <a:off x="5006340" y="1666494"/>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Feature Scaling</a:t>
            </a:r>
            <a:endParaRPr lang="en-US" sz="975" dirty="0">
              <a:solidFill>
                <a:prstClr val="black"/>
              </a:solidFill>
              <a:latin typeface="Calibri" panose="020F0502020204030204"/>
            </a:endParaRPr>
          </a:p>
        </p:txBody>
      </p:sp>
      <p:sp>
        <p:nvSpPr>
          <p:cNvPr id="42" name="Text 40"/>
          <p:cNvSpPr/>
          <p:nvPr/>
        </p:nvSpPr>
        <p:spPr>
          <a:xfrm>
            <a:off x="5006340" y="1899666"/>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All values were brought to the same scale so that no single factor dominates the model.</a:t>
            </a:r>
            <a:endParaRPr lang="en-US" sz="900" dirty="0">
              <a:solidFill>
                <a:prstClr val="black"/>
              </a:solidFill>
              <a:latin typeface="Calibri" panose="020F0502020204030204"/>
            </a:endParaRPr>
          </a:p>
        </p:txBody>
      </p:sp>
      <p:sp>
        <p:nvSpPr>
          <p:cNvPr id="43" name="Shape 41"/>
          <p:cNvSpPr/>
          <p:nvPr/>
        </p:nvSpPr>
        <p:spPr>
          <a:xfrm>
            <a:off x="4732020" y="2311146"/>
            <a:ext cx="192024" cy="192024"/>
          </a:xfrm>
          <a:prstGeom prst="ellipse">
            <a:avLst/>
          </a:prstGeom>
          <a:solidFill>
            <a:srgbClr val="4FC3F7"/>
          </a:solidFill>
          <a:ln w="12700">
            <a:solidFill>
              <a:srgbClr val="4FC3F7"/>
            </a:solidFill>
            <a:prstDash val="solid"/>
          </a:ln>
        </p:spPr>
      </p:sp>
      <p:sp>
        <p:nvSpPr>
          <p:cNvPr id="44" name="Text 42"/>
          <p:cNvSpPr/>
          <p:nvPr/>
        </p:nvSpPr>
        <p:spPr>
          <a:xfrm>
            <a:off x="4732020" y="2311146"/>
            <a:ext cx="192024" cy="192024"/>
          </a:xfrm>
          <a:prstGeom prst="rect">
            <a:avLst/>
          </a:prstGeom>
          <a:noFill/>
          <a:ln/>
        </p:spPr>
        <p:txBody>
          <a:bodyPr wrap="square" lIns="0" tIns="0" rIns="0" bIns="0" rtlCol="0" anchor="ctr"/>
          <a:lstStyle/>
          <a:p>
            <a:pPr algn="ctr" defTabSz="685800"/>
            <a:r>
              <a:rPr lang="en-US" sz="750" b="1" dirty="0">
                <a:solidFill>
                  <a:srgbClr val="1E2761"/>
                </a:solidFill>
                <a:latin typeface="Calibri" panose="020F0502020204030204"/>
              </a:rPr>
              <a:t>3</a:t>
            </a:r>
            <a:endParaRPr lang="en-US" sz="750" dirty="0">
              <a:solidFill>
                <a:prstClr val="black"/>
              </a:solidFill>
              <a:latin typeface="Calibri" panose="020F0502020204030204"/>
            </a:endParaRPr>
          </a:p>
        </p:txBody>
      </p:sp>
      <p:sp>
        <p:nvSpPr>
          <p:cNvPr id="45" name="Text 43"/>
          <p:cNvSpPr/>
          <p:nvPr/>
        </p:nvSpPr>
        <p:spPr>
          <a:xfrm>
            <a:off x="5006340" y="2269998"/>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Multicollinearity Check</a:t>
            </a:r>
            <a:endParaRPr lang="en-US" sz="975" dirty="0">
              <a:solidFill>
                <a:prstClr val="black"/>
              </a:solidFill>
              <a:latin typeface="Calibri" panose="020F0502020204030204"/>
            </a:endParaRPr>
          </a:p>
        </p:txBody>
      </p:sp>
      <p:sp>
        <p:nvSpPr>
          <p:cNvPr id="46" name="Text 44"/>
          <p:cNvSpPr/>
          <p:nvPr/>
        </p:nvSpPr>
        <p:spPr>
          <a:xfrm>
            <a:off x="5006340" y="2503170"/>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Checked for features that were too similar to each other, which can confuse the model.</a:t>
            </a:r>
            <a:endParaRPr lang="en-US" sz="900" dirty="0">
              <a:solidFill>
                <a:prstClr val="black"/>
              </a:solidFill>
              <a:latin typeface="Calibri" panose="020F0502020204030204"/>
            </a:endParaRPr>
          </a:p>
        </p:txBody>
      </p:sp>
      <p:sp>
        <p:nvSpPr>
          <p:cNvPr id="47" name="Shape 45"/>
          <p:cNvSpPr/>
          <p:nvPr/>
        </p:nvSpPr>
        <p:spPr>
          <a:xfrm>
            <a:off x="4732020" y="2914650"/>
            <a:ext cx="192024" cy="192024"/>
          </a:xfrm>
          <a:prstGeom prst="ellipse">
            <a:avLst/>
          </a:prstGeom>
          <a:solidFill>
            <a:srgbClr val="4FC3F7"/>
          </a:solidFill>
          <a:ln w="12700">
            <a:solidFill>
              <a:srgbClr val="4FC3F7"/>
            </a:solidFill>
            <a:prstDash val="solid"/>
          </a:ln>
        </p:spPr>
      </p:sp>
      <p:sp>
        <p:nvSpPr>
          <p:cNvPr id="48" name="Text 46"/>
          <p:cNvSpPr/>
          <p:nvPr/>
        </p:nvSpPr>
        <p:spPr>
          <a:xfrm>
            <a:off x="4732020" y="2914650"/>
            <a:ext cx="192024" cy="192024"/>
          </a:xfrm>
          <a:prstGeom prst="rect">
            <a:avLst/>
          </a:prstGeom>
          <a:noFill/>
          <a:ln/>
        </p:spPr>
        <p:txBody>
          <a:bodyPr wrap="square" lIns="0" tIns="0" rIns="0" bIns="0" rtlCol="0" anchor="ctr"/>
          <a:lstStyle/>
          <a:p>
            <a:pPr algn="ctr" defTabSz="685800"/>
            <a:r>
              <a:rPr lang="en-US" sz="750" b="1" dirty="0">
                <a:solidFill>
                  <a:srgbClr val="1E2761"/>
                </a:solidFill>
                <a:latin typeface="Calibri" panose="020F0502020204030204"/>
              </a:rPr>
              <a:t>4</a:t>
            </a:r>
            <a:endParaRPr lang="en-US" sz="750" dirty="0">
              <a:solidFill>
                <a:prstClr val="black"/>
              </a:solidFill>
              <a:latin typeface="Calibri" panose="020F0502020204030204"/>
            </a:endParaRPr>
          </a:p>
        </p:txBody>
      </p:sp>
      <p:sp>
        <p:nvSpPr>
          <p:cNvPr id="49" name="Text 47"/>
          <p:cNvSpPr/>
          <p:nvPr/>
        </p:nvSpPr>
        <p:spPr>
          <a:xfrm>
            <a:off x="5006340" y="2873502"/>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Train-Test Split</a:t>
            </a:r>
            <a:endParaRPr lang="en-US" sz="975" dirty="0">
              <a:solidFill>
                <a:prstClr val="black"/>
              </a:solidFill>
              <a:latin typeface="Calibri" panose="020F0502020204030204"/>
            </a:endParaRPr>
          </a:p>
        </p:txBody>
      </p:sp>
      <p:sp>
        <p:nvSpPr>
          <p:cNvPr id="50" name="Text 48"/>
          <p:cNvSpPr/>
          <p:nvPr/>
        </p:nvSpPr>
        <p:spPr>
          <a:xfrm>
            <a:off x="5006340" y="3106674"/>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Data was split into training (80%) and testing (20%) sets to evaluate model performance.</a:t>
            </a:r>
            <a:endParaRPr lang="en-US" sz="900" dirty="0">
              <a:solidFill>
                <a:prstClr val="black"/>
              </a:solidFill>
              <a:latin typeface="Calibri" panose="020F0502020204030204"/>
            </a:endParaRPr>
          </a:p>
        </p:txBody>
      </p:sp>
      <p:sp>
        <p:nvSpPr>
          <p:cNvPr id="51" name="Shape 49"/>
          <p:cNvSpPr/>
          <p:nvPr/>
        </p:nvSpPr>
        <p:spPr>
          <a:xfrm>
            <a:off x="4732020" y="3518154"/>
            <a:ext cx="192024" cy="192024"/>
          </a:xfrm>
          <a:prstGeom prst="ellipse">
            <a:avLst/>
          </a:prstGeom>
          <a:solidFill>
            <a:srgbClr val="4FC3F7"/>
          </a:solidFill>
          <a:ln w="12700">
            <a:solidFill>
              <a:srgbClr val="4FC3F7"/>
            </a:solidFill>
            <a:prstDash val="solid"/>
          </a:ln>
        </p:spPr>
      </p:sp>
      <p:sp>
        <p:nvSpPr>
          <p:cNvPr id="52" name="Text 50"/>
          <p:cNvSpPr/>
          <p:nvPr/>
        </p:nvSpPr>
        <p:spPr>
          <a:xfrm>
            <a:off x="4732020" y="3518154"/>
            <a:ext cx="192024" cy="192024"/>
          </a:xfrm>
          <a:prstGeom prst="rect">
            <a:avLst/>
          </a:prstGeom>
          <a:noFill/>
          <a:ln/>
        </p:spPr>
        <p:txBody>
          <a:bodyPr wrap="square" lIns="0" tIns="0" rIns="0" bIns="0" rtlCol="0" anchor="ctr"/>
          <a:lstStyle/>
          <a:p>
            <a:pPr algn="ctr" defTabSz="685800"/>
            <a:r>
              <a:rPr lang="en-US" sz="750" b="1" dirty="0">
                <a:solidFill>
                  <a:srgbClr val="1E2761"/>
                </a:solidFill>
                <a:latin typeface="Calibri" panose="020F0502020204030204"/>
              </a:rPr>
              <a:t>5</a:t>
            </a:r>
            <a:endParaRPr lang="en-US" sz="750" dirty="0">
              <a:solidFill>
                <a:prstClr val="black"/>
              </a:solidFill>
              <a:latin typeface="Calibri" panose="020F0502020204030204"/>
            </a:endParaRPr>
          </a:p>
        </p:txBody>
      </p:sp>
      <p:sp>
        <p:nvSpPr>
          <p:cNvPr id="53" name="Text 51"/>
          <p:cNvSpPr/>
          <p:nvPr/>
        </p:nvSpPr>
        <p:spPr>
          <a:xfrm>
            <a:off x="5006340" y="3477006"/>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Outlier Handling</a:t>
            </a:r>
            <a:endParaRPr lang="en-US" sz="975" dirty="0">
              <a:solidFill>
                <a:prstClr val="black"/>
              </a:solidFill>
              <a:latin typeface="Calibri" panose="020F0502020204030204"/>
            </a:endParaRPr>
          </a:p>
        </p:txBody>
      </p:sp>
      <p:sp>
        <p:nvSpPr>
          <p:cNvPr id="54" name="Text 52"/>
          <p:cNvSpPr/>
          <p:nvPr/>
        </p:nvSpPr>
        <p:spPr>
          <a:xfrm>
            <a:off x="5006340" y="3710178"/>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Extreme values in electricity usage were identified — they were kept as they reflect real peak events.</a:t>
            </a:r>
            <a:endParaRPr lang="en-US" sz="900" dirty="0">
              <a:solidFill>
                <a:prstClr val="black"/>
              </a:solidFill>
              <a:latin typeface="Calibri" panose="020F0502020204030204"/>
            </a:endParaRPr>
          </a:p>
        </p:txBody>
      </p:sp>
      <p:sp>
        <p:nvSpPr>
          <p:cNvPr id="55" name="Shape 53"/>
          <p:cNvSpPr/>
          <p:nvPr/>
        </p:nvSpPr>
        <p:spPr>
          <a:xfrm>
            <a:off x="4732020" y="4121658"/>
            <a:ext cx="192024" cy="192024"/>
          </a:xfrm>
          <a:prstGeom prst="ellipse">
            <a:avLst/>
          </a:prstGeom>
          <a:solidFill>
            <a:srgbClr val="4FC3F7"/>
          </a:solidFill>
          <a:ln w="12700">
            <a:solidFill>
              <a:srgbClr val="4FC3F7"/>
            </a:solidFill>
            <a:prstDash val="solid"/>
          </a:ln>
        </p:spPr>
      </p:sp>
      <p:sp>
        <p:nvSpPr>
          <p:cNvPr id="56" name="Text 54"/>
          <p:cNvSpPr/>
          <p:nvPr/>
        </p:nvSpPr>
        <p:spPr>
          <a:xfrm>
            <a:off x="4732020" y="4121658"/>
            <a:ext cx="192024" cy="192024"/>
          </a:xfrm>
          <a:prstGeom prst="rect">
            <a:avLst/>
          </a:prstGeom>
          <a:noFill/>
          <a:ln/>
        </p:spPr>
        <p:txBody>
          <a:bodyPr wrap="square" lIns="0" tIns="0" rIns="0" bIns="0" rtlCol="0" anchor="ctr"/>
          <a:lstStyle/>
          <a:p>
            <a:pPr algn="ctr" defTabSz="685800"/>
            <a:r>
              <a:rPr lang="en-US" sz="750" b="1" dirty="0">
                <a:solidFill>
                  <a:srgbClr val="1E2761"/>
                </a:solidFill>
                <a:latin typeface="Calibri" panose="020F0502020204030204"/>
              </a:rPr>
              <a:t>6</a:t>
            </a:r>
            <a:endParaRPr lang="en-US" sz="750" dirty="0">
              <a:solidFill>
                <a:prstClr val="black"/>
              </a:solidFill>
              <a:latin typeface="Calibri" panose="020F0502020204030204"/>
            </a:endParaRPr>
          </a:p>
        </p:txBody>
      </p:sp>
      <p:sp>
        <p:nvSpPr>
          <p:cNvPr id="57" name="Text 55"/>
          <p:cNvSpPr/>
          <p:nvPr/>
        </p:nvSpPr>
        <p:spPr>
          <a:xfrm>
            <a:off x="5006340" y="4080510"/>
            <a:ext cx="3771900" cy="240030"/>
          </a:xfrm>
          <a:prstGeom prst="rect">
            <a:avLst/>
          </a:prstGeom>
          <a:noFill/>
          <a:ln/>
        </p:spPr>
        <p:txBody>
          <a:bodyPr wrap="square" rtlCol="0" anchor="ctr"/>
          <a:lstStyle/>
          <a:p>
            <a:pPr defTabSz="685800"/>
            <a:r>
              <a:rPr lang="en-US" sz="975" b="1" dirty="0">
                <a:solidFill>
                  <a:srgbClr val="F9A825"/>
                </a:solidFill>
                <a:latin typeface="Calibri" panose="020F0502020204030204"/>
              </a:rPr>
              <a:t>Correlation Analysis</a:t>
            </a:r>
            <a:endParaRPr lang="en-US" sz="975" dirty="0">
              <a:solidFill>
                <a:prstClr val="black"/>
              </a:solidFill>
              <a:latin typeface="Calibri" panose="020F0502020204030204"/>
            </a:endParaRPr>
          </a:p>
        </p:txBody>
      </p:sp>
      <p:sp>
        <p:nvSpPr>
          <p:cNvPr id="58" name="Text 56"/>
          <p:cNvSpPr/>
          <p:nvPr/>
        </p:nvSpPr>
        <p:spPr>
          <a:xfrm>
            <a:off x="5006340" y="4313682"/>
            <a:ext cx="3771900" cy="308610"/>
          </a:xfrm>
          <a:prstGeom prst="rect">
            <a:avLst/>
          </a:prstGeom>
          <a:noFill/>
          <a:ln/>
        </p:spPr>
        <p:txBody>
          <a:bodyPr wrap="square" rtlCol="0" anchor="ctr"/>
          <a:lstStyle/>
          <a:p>
            <a:pPr defTabSz="685800"/>
            <a:r>
              <a:rPr lang="en-US" sz="900" dirty="0">
                <a:solidFill>
                  <a:srgbClr val="C8D8F8"/>
                </a:solidFill>
                <a:latin typeface="Calibri" panose="020F0502020204030204"/>
              </a:rPr>
              <a:t>Strong connection found: CO₂ (0.99) and Reactive Power (0.9) closely track Usage_kWh.</a:t>
            </a:r>
            <a:endParaRPr lang="en-US" sz="900" dirty="0">
              <a:solidFill>
                <a:prstClr val="black"/>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B410B-2E1A-8726-E335-DAE510099A7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7FE056-95BE-9D09-1625-7749D84B92EE}"/>
              </a:ext>
            </a:extLst>
          </p:cNvPr>
          <p:cNvSpPr/>
          <p:nvPr/>
        </p:nvSpPr>
        <p:spPr>
          <a:xfrm>
            <a:off x="0" y="0"/>
            <a:ext cx="9144000" cy="658368"/>
          </a:xfrm>
          <a:prstGeom prst="rect">
            <a:avLst/>
          </a:prstGeom>
          <a:solidFill>
            <a:srgbClr val="0F3460"/>
          </a:solidFill>
          <a:ln w="12700">
            <a:solidFill>
              <a:srgbClr val="0F3460"/>
            </a:solidFill>
            <a:prstDash val="solid"/>
          </a:ln>
        </p:spPr>
        <p:txBody>
          <a:bodyPr/>
          <a:lstStyle/>
          <a:p>
            <a:endParaRPr lang="en-IN" dirty="0"/>
          </a:p>
        </p:txBody>
      </p:sp>
      <p:sp>
        <p:nvSpPr>
          <p:cNvPr id="5" name="Text 3">
            <a:extLst>
              <a:ext uri="{FF2B5EF4-FFF2-40B4-BE49-F238E27FC236}">
                <a16:creationId xmlns:a16="http://schemas.microsoft.com/office/drawing/2014/main" id="{905E6501-600E-66E4-C3D6-6B4C74D75F25}"/>
              </a:ext>
            </a:extLst>
          </p:cNvPr>
          <p:cNvSpPr/>
          <p:nvPr/>
        </p:nvSpPr>
        <p:spPr>
          <a:xfrm>
            <a:off x="228600" y="292608"/>
            <a:ext cx="8686800" cy="3200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Week wise load comparison</a:t>
            </a:r>
            <a:endParaRPr lang="en-US" sz="1800" dirty="0"/>
          </a:p>
        </p:txBody>
      </p:sp>
      <p:pic>
        <p:nvPicPr>
          <p:cNvPr id="6" name="Image 0" descr="preencoded.png">
            <a:extLst>
              <a:ext uri="{FF2B5EF4-FFF2-40B4-BE49-F238E27FC236}">
                <a16:creationId xmlns:a16="http://schemas.microsoft.com/office/drawing/2014/main" id="{7284076E-D155-2A1B-051E-0DE766C4EF61}"/>
              </a:ext>
            </a:extLst>
          </p:cNvPr>
          <p:cNvPicPr>
            <a:picLocks noChangeAspect="1"/>
          </p:cNvPicPr>
          <p:nvPr/>
        </p:nvPicPr>
        <p:blipFill>
          <a:blip r:embed="rId3"/>
          <a:stretch>
            <a:fillRect/>
          </a:stretch>
        </p:blipFill>
        <p:spPr>
          <a:xfrm>
            <a:off x="274320" y="777240"/>
            <a:ext cx="5486400" cy="3840480"/>
          </a:xfrm>
          <a:prstGeom prst="rect">
            <a:avLst/>
          </a:prstGeom>
        </p:spPr>
      </p:pic>
      <p:sp>
        <p:nvSpPr>
          <p:cNvPr id="7" name="Shape 4">
            <a:extLst>
              <a:ext uri="{FF2B5EF4-FFF2-40B4-BE49-F238E27FC236}">
                <a16:creationId xmlns:a16="http://schemas.microsoft.com/office/drawing/2014/main" id="{4423F35D-6668-96C8-A5B3-C855D38CD7E5}"/>
              </a:ext>
            </a:extLst>
          </p:cNvPr>
          <p:cNvSpPr/>
          <p:nvPr/>
        </p:nvSpPr>
        <p:spPr>
          <a:xfrm>
            <a:off x="5897880" y="749808"/>
            <a:ext cx="2971800" cy="3931920"/>
          </a:xfrm>
          <a:prstGeom prst="rect">
            <a:avLst/>
          </a:prstGeom>
          <a:solidFill>
            <a:srgbClr val="0F3460"/>
          </a:solidFill>
          <a:ln w="12700">
            <a:solidFill>
              <a:srgbClr val="533483"/>
            </a:solidFill>
            <a:prstDash val="solid"/>
          </a:ln>
        </p:spPr>
        <p:txBody>
          <a:bodyPr/>
          <a:lstStyle/>
          <a:p>
            <a:endParaRPr lang="en-IN" dirty="0"/>
          </a:p>
        </p:txBody>
      </p:sp>
      <p:sp>
        <p:nvSpPr>
          <p:cNvPr id="8" name="Text 5">
            <a:extLst>
              <a:ext uri="{FF2B5EF4-FFF2-40B4-BE49-F238E27FC236}">
                <a16:creationId xmlns:a16="http://schemas.microsoft.com/office/drawing/2014/main" id="{3A4C292E-FB5E-3A76-3E78-C15DFFABA9C7}"/>
              </a:ext>
            </a:extLst>
          </p:cNvPr>
          <p:cNvSpPr/>
          <p:nvPr/>
        </p:nvSpPr>
        <p:spPr>
          <a:xfrm>
            <a:off x="6035040" y="822960"/>
            <a:ext cx="2697480" cy="320040"/>
          </a:xfrm>
          <a:prstGeom prst="rect">
            <a:avLst/>
          </a:prstGeom>
          <a:noFill/>
          <a:ln/>
        </p:spPr>
        <p:txBody>
          <a:bodyPr wrap="square" rtlCol="0" anchor="ctr"/>
          <a:lstStyle/>
          <a:p>
            <a:r>
              <a:rPr lang="en-US" sz="1200" b="1" kern="0" spc="100" dirty="0">
                <a:solidFill>
                  <a:srgbClr val="5DBB63"/>
                </a:solidFill>
                <a:latin typeface="Calibri" pitchFamily="34" charset="0"/>
                <a:ea typeface="Calibri" pitchFamily="34" charset="-122"/>
                <a:cs typeface="Calibri" pitchFamily="34" charset="-120"/>
              </a:rPr>
              <a:t>INSIGHTS</a:t>
            </a:r>
            <a:endParaRPr lang="en-US" sz="1200" dirty="0"/>
          </a:p>
        </p:txBody>
      </p:sp>
      <p:sp>
        <p:nvSpPr>
          <p:cNvPr id="12" name="Shape 9">
            <a:extLst>
              <a:ext uri="{FF2B5EF4-FFF2-40B4-BE49-F238E27FC236}">
                <a16:creationId xmlns:a16="http://schemas.microsoft.com/office/drawing/2014/main" id="{448521FB-A169-7B5B-6669-3EE86AD9CA6E}"/>
              </a:ext>
            </a:extLst>
          </p:cNvPr>
          <p:cNvSpPr/>
          <p:nvPr/>
        </p:nvSpPr>
        <p:spPr>
          <a:xfrm>
            <a:off x="0" y="4754880"/>
            <a:ext cx="9144000" cy="388620"/>
          </a:xfrm>
          <a:prstGeom prst="rect">
            <a:avLst/>
          </a:prstGeom>
          <a:solidFill>
            <a:srgbClr val="1A1A2E"/>
          </a:solidFill>
          <a:ln w="12700">
            <a:solidFill>
              <a:srgbClr val="1A1A2E"/>
            </a:solidFill>
            <a:prstDash val="solid"/>
          </a:ln>
        </p:spPr>
      </p:sp>
      <p:sp>
        <p:nvSpPr>
          <p:cNvPr id="13" name="Text 10">
            <a:extLst>
              <a:ext uri="{FF2B5EF4-FFF2-40B4-BE49-F238E27FC236}">
                <a16:creationId xmlns:a16="http://schemas.microsoft.com/office/drawing/2014/main" id="{2B70AE98-2ADC-18D9-35C7-6981AF181268}"/>
              </a:ext>
            </a:extLst>
          </p:cNvPr>
          <p:cNvSpPr/>
          <p:nvPr/>
        </p:nvSpPr>
        <p:spPr>
          <a:xfrm>
            <a:off x="457200" y="4773168"/>
            <a:ext cx="8229600" cy="320040"/>
          </a:xfrm>
          <a:prstGeom prst="rect">
            <a:avLst/>
          </a:prstGeom>
          <a:noFill/>
          <a:ln/>
        </p:spPr>
        <p:txBody>
          <a:bodyPr wrap="square" rtlCol="0" anchor="ctr"/>
          <a:lstStyle/>
          <a:p>
            <a:pPr marL="0" indent="0">
              <a:buNone/>
            </a:pPr>
            <a:r>
              <a:rPr lang="en-US" sz="1000" dirty="0">
                <a:solidFill>
                  <a:srgbClr val="8899AA"/>
                </a:solidFill>
                <a:latin typeface="Calibri" pitchFamily="34" charset="0"/>
                <a:ea typeface="Calibri" pitchFamily="34" charset="-122"/>
                <a:cs typeface="Calibri" pitchFamily="34" charset="-120"/>
              </a:rPr>
              <a:t>Steel Industry Energy Consumption Analysis</a:t>
            </a:r>
            <a:endParaRPr lang="en-US" sz="1000" dirty="0"/>
          </a:p>
        </p:txBody>
      </p:sp>
      <p:sp>
        <p:nvSpPr>
          <p:cNvPr id="3" name="Shape 9">
            <a:extLst>
              <a:ext uri="{FF2B5EF4-FFF2-40B4-BE49-F238E27FC236}">
                <a16:creationId xmlns:a16="http://schemas.microsoft.com/office/drawing/2014/main" id="{4858F685-D0BE-70E6-6501-8F60B1B5032F}"/>
              </a:ext>
            </a:extLst>
          </p:cNvPr>
          <p:cNvSpPr/>
          <p:nvPr/>
        </p:nvSpPr>
        <p:spPr>
          <a:xfrm>
            <a:off x="5897880" y="3040380"/>
            <a:ext cx="2971800" cy="1645920"/>
          </a:xfrm>
          <a:prstGeom prst="rect">
            <a:avLst/>
          </a:prstGeom>
          <a:solidFill>
            <a:srgbClr val="16213E"/>
          </a:solidFill>
          <a:ln w="19050">
            <a:solidFill>
              <a:srgbClr val="E8A87C"/>
            </a:solidFill>
            <a:prstDash val="solid"/>
          </a:ln>
          <a:effectLst>
            <a:outerShdw blurRad="101600" dist="38100" dir="8100000" algn="bl" rotWithShape="0">
              <a:srgbClr val="000000">
                <a:alpha val="30000"/>
              </a:srgbClr>
            </a:outerShdw>
          </a:effectLst>
        </p:spPr>
        <p:txBody>
          <a:bodyPr/>
          <a:lstStyle/>
          <a:p>
            <a:pPr marL="342900" indent="-342900">
              <a:buSzPct val="100000"/>
              <a:buChar char="•"/>
            </a:pPr>
            <a:r>
              <a:rPr lang="en-US" sz="1100" dirty="0">
                <a:solidFill>
                  <a:schemeClr val="bg1"/>
                </a:solidFill>
                <a:latin typeface="Calibri" pitchFamily="34" charset="0"/>
                <a:ea typeface="Calibri" pitchFamily="34" charset="-122"/>
                <a:cs typeface="Calibri" pitchFamily="34" charset="-120"/>
              </a:rPr>
              <a:t>Max Load probability on weekends: ~13.2% vs ~23.8% on weekdays</a:t>
            </a:r>
            <a:endParaRPr lang="en-US" sz="1100" dirty="0">
              <a:solidFill>
                <a:schemeClr val="bg1"/>
              </a:solidFill>
            </a:endParaRPr>
          </a:p>
          <a:p>
            <a:pPr marL="342900" indent="-342900">
              <a:buSzPct val="100000"/>
              <a:buChar char="•"/>
            </a:pPr>
            <a:r>
              <a:rPr lang="en-US" sz="1100" dirty="0">
                <a:solidFill>
                  <a:schemeClr val="bg1"/>
                </a:solidFill>
                <a:latin typeface="Calibri" pitchFamily="34" charset="0"/>
                <a:ea typeface="Calibri" pitchFamily="34" charset="-122"/>
                <a:cs typeface="Calibri" pitchFamily="34" charset="-120"/>
              </a:rPr>
              <a:t>Weekends allow for lower-cost, lighter operations</a:t>
            </a:r>
            <a:endParaRPr lang="en-US" sz="1100" dirty="0">
              <a:solidFill>
                <a:schemeClr val="bg1"/>
              </a:solidFill>
            </a:endParaRPr>
          </a:p>
          <a:p>
            <a:pPr marL="342900" indent="-342900">
              <a:buSzPct val="100000"/>
              <a:buChar char="•"/>
            </a:pPr>
            <a:r>
              <a:rPr lang="en-US" sz="1100" dirty="0">
                <a:solidFill>
                  <a:schemeClr val="bg1"/>
                </a:solidFill>
                <a:latin typeface="Calibri" pitchFamily="34" charset="0"/>
                <a:ea typeface="Calibri" pitchFamily="34" charset="-122"/>
                <a:cs typeface="Calibri" pitchFamily="34" charset="-120"/>
              </a:rPr>
              <a:t>Schedule maintenance or non-critical tasks on weekends</a:t>
            </a:r>
            <a:endParaRPr lang="en-US" sz="1100" dirty="0">
              <a:solidFill>
                <a:schemeClr val="bg1"/>
              </a:solidFill>
            </a:endParaRPr>
          </a:p>
          <a:p>
            <a:pPr marL="342900" indent="-342900">
              <a:buSzPct val="100000"/>
              <a:buChar char="•"/>
            </a:pPr>
            <a:r>
              <a:rPr lang="en-US" sz="1100" dirty="0">
                <a:solidFill>
                  <a:schemeClr val="bg1"/>
                </a:solidFill>
                <a:latin typeface="Calibri" pitchFamily="34" charset="0"/>
                <a:ea typeface="Calibri" pitchFamily="34" charset="-122"/>
                <a:cs typeface="Calibri" pitchFamily="34" charset="-120"/>
              </a:rPr>
              <a:t>Load shifting from weekdays can reduce peak costs significantly</a:t>
            </a:r>
            <a:endParaRPr lang="en-US" sz="1100" dirty="0">
              <a:solidFill>
                <a:schemeClr val="bg1"/>
              </a:solidFill>
            </a:endParaRPr>
          </a:p>
          <a:p>
            <a:endParaRPr lang="en-IN" dirty="0"/>
          </a:p>
        </p:txBody>
      </p:sp>
      <p:sp>
        <p:nvSpPr>
          <p:cNvPr id="4" name="Shape 5">
            <a:extLst>
              <a:ext uri="{FF2B5EF4-FFF2-40B4-BE49-F238E27FC236}">
                <a16:creationId xmlns:a16="http://schemas.microsoft.com/office/drawing/2014/main" id="{69EBFCCD-5991-3EFD-917E-A3CF78C7A850}"/>
              </a:ext>
            </a:extLst>
          </p:cNvPr>
          <p:cNvSpPr/>
          <p:nvPr/>
        </p:nvSpPr>
        <p:spPr>
          <a:xfrm>
            <a:off x="5897880" y="1161288"/>
            <a:ext cx="2971800" cy="1508760"/>
          </a:xfrm>
          <a:prstGeom prst="rect">
            <a:avLst/>
          </a:prstGeom>
          <a:solidFill>
            <a:srgbClr val="16213E"/>
          </a:solidFill>
          <a:ln w="19050">
            <a:solidFill>
              <a:srgbClr val="5DBB63"/>
            </a:solidFill>
            <a:prstDash val="solid"/>
          </a:ln>
          <a:effectLst>
            <a:outerShdw blurRad="101600" dist="38100" dir="8100000" algn="bl" rotWithShape="0">
              <a:srgbClr val="000000">
                <a:alpha val="30000"/>
              </a:srgbClr>
            </a:outerShdw>
          </a:effectLst>
        </p:spPr>
        <p:txBody>
          <a:bodyPr/>
          <a:lstStyle/>
          <a:p>
            <a:r>
              <a:rPr lang="en-US" sz="1200" dirty="0">
                <a:solidFill>
                  <a:schemeClr val="bg1"/>
                </a:solidFill>
                <a:latin typeface="Calibri" pitchFamily="34" charset="0"/>
                <a:ea typeface="Calibri" pitchFamily="34" charset="-122"/>
                <a:cs typeface="Calibri" pitchFamily="34" charset="-120"/>
              </a:rPr>
              <a:t>Weekend: 13.22% chance of Max Load. Weekday: 23.75%. Max load events are nearly twice as likely on weekdays, confirming operational differences across day types.</a:t>
            </a:r>
            <a:endParaRPr lang="en-US" sz="1200" dirty="0">
              <a:solidFill>
                <a:schemeClr val="bg1"/>
              </a:solidFill>
            </a:endParaRPr>
          </a:p>
          <a:p>
            <a:endParaRPr lang="en-IN" dirty="0"/>
          </a:p>
        </p:txBody>
      </p:sp>
      <p:sp>
        <p:nvSpPr>
          <p:cNvPr id="14" name="TextBox 13">
            <a:extLst>
              <a:ext uri="{FF2B5EF4-FFF2-40B4-BE49-F238E27FC236}">
                <a16:creationId xmlns:a16="http://schemas.microsoft.com/office/drawing/2014/main" id="{D62D55C5-ECEC-43B0-E1A0-7B42EB422368}"/>
              </a:ext>
            </a:extLst>
          </p:cNvPr>
          <p:cNvSpPr txBox="1"/>
          <p:nvPr/>
        </p:nvSpPr>
        <p:spPr>
          <a:xfrm>
            <a:off x="6035039" y="2715768"/>
            <a:ext cx="2268133" cy="553998"/>
          </a:xfrm>
          <a:prstGeom prst="rect">
            <a:avLst/>
          </a:prstGeom>
          <a:noFill/>
        </p:spPr>
        <p:txBody>
          <a:bodyPr wrap="square" rtlCol="0">
            <a:spAutoFit/>
          </a:bodyPr>
          <a:lstStyle/>
          <a:p>
            <a:r>
              <a:rPr lang="en-US" sz="1200" b="1" kern="0" spc="100" dirty="0">
                <a:solidFill>
                  <a:srgbClr val="5DBB63"/>
                </a:solidFill>
                <a:latin typeface="Calibri" pitchFamily="34" charset="0"/>
                <a:ea typeface="Calibri" pitchFamily="34" charset="-122"/>
                <a:cs typeface="Calibri" pitchFamily="34" charset="-120"/>
              </a:rPr>
              <a:t>💼  </a:t>
            </a:r>
            <a:r>
              <a:rPr lang="en-US" sz="1200" b="1" kern="0" spc="100" dirty="0">
                <a:solidFill>
                  <a:schemeClr val="accent2">
                    <a:lumMod val="60000"/>
                    <a:lumOff val="40000"/>
                  </a:schemeClr>
                </a:solidFill>
                <a:latin typeface="Calibri" pitchFamily="34" charset="0"/>
                <a:ea typeface="Calibri" pitchFamily="34" charset="-122"/>
                <a:cs typeface="Calibri" pitchFamily="34" charset="-120"/>
              </a:rPr>
              <a:t>BUSINESS INSIGHTS</a:t>
            </a:r>
            <a:endParaRPr lang="en-US" sz="1200" dirty="0">
              <a:solidFill>
                <a:schemeClr val="accent2">
                  <a:lumMod val="60000"/>
                  <a:lumOff val="40000"/>
                </a:schemeClr>
              </a:solidFill>
            </a:endParaRPr>
          </a:p>
          <a:p>
            <a:endParaRPr lang="en-IN" dirty="0"/>
          </a:p>
        </p:txBody>
      </p:sp>
    </p:spTree>
    <p:extLst>
      <p:ext uri="{BB962C8B-B14F-4D97-AF65-F5344CB8AC3E}">
        <p14:creationId xmlns:p14="http://schemas.microsoft.com/office/powerpoint/2010/main" val="1816352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3460"/>
          </a:solidFill>
          <a:ln w="12700">
            <a:solidFill>
              <a:srgbClr val="0F3460"/>
            </a:solidFill>
            <a:prstDash val="solid"/>
          </a:ln>
        </p:spPr>
      </p:sp>
      <p:sp>
        <p:nvSpPr>
          <p:cNvPr id="5" name="Text 3"/>
          <p:cNvSpPr/>
          <p:nvPr/>
        </p:nvSpPr>
        <p:spPr>
          <a:xfrm>
            <a:off x="228600" y="292608"/>
            <a:ext cx="8686800" cy="320040"/>
          </a:xfrm>
          <a:prstGeom prst="rect">
            <a:avLst/>
          </a:prstGeom>
          <a:noFill/>
          <a:ln/>
        </p:spPr>
        <p:txBody>
          <a:bodyPr wrap="square" rtlCol="0" anchor="ctr"/>
          <a:lstStyle/>
          <a:p>
            <a:pPr lvl="0">
              <a:defRPr/>
            </a:pPr>
            <a:r>
              <a:rPr lang="en-US" dirty="0">
                <a:solidFill>
                  <a:schemeClr val="bg1"/>
                </a:solidFill>
              </a:rPr>
              <a:t>High Usage AND High CO2</a:t>
            </a:r>
            <a:endParaRPr kumimoji="0" lang="en-US" sz="18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7" name="Shape 4"/>
          <p:cNvSpPr/>
          <p:nvPr/>
        </p:nvSpPr>
        <p:spPr>
          <a:xfrm>
            <a:off x="5897880" y="841248"/>
            <a:ext cx="2971800" cy="3931920"/>
          </a:xfrm>
          <a:prstGeom prst="rect">
            <a:avLst/>
          </a:prstGeom>
          <a:solidFill>
            <a:srgbClr val="0F3460"/>
          </a:solidFill>
          <a:ln w="12700">
            <a:solidFill>
              <a:srgbClr val="533483"/>
            </a:solidFill>
            <a:prstDash val="solid"/>
          </a:ln>
        </p:spPr>
        <p:txBody>
          <a:bodyPr/>
          <a:lstStyle/>
          <a:p>
            <a:endParaRPr lang="en-IN"/>
          </a:p>
        </p:txBody>
      </p:sp>
      <p:sp>
        <p:nvSpPr>
          <p:cNvPr id="8" name="Text 5"/>
          <p:cNvSpPr/>
          <p:nvPr/>
        </p:nvSpPr>
        <p:spPr>
          <a:xfrm>
            <a:off x="6035040" y="822960"/>
            <a:ext cx="2697480" cy="320040"/>
          </a:xfrm>
          <a:prstGeom prst="rect">
            <a:avLst/>
          </a:prstGeom>
          <a:noFill/>
          <a:ln/>
        </p:spPr>
        <p:txBody>
          <a:bodyPr wrap="square" rtlCol="0" anchor="ctr"/>
          <a:lstStyle/>
          <a:p>
            <a:r>
              <a:rPr lang="en-US" sz="1200" b="1" kern="0" spc="100" dirty="0">
                <a:solidFill>
                  <a:srgbClr val="5DBB63"/>
                </a:solidFill>
                <a:latin typeface="Calibri" pitchFamily="34" charset="0"/>
                <a:ea typeface="Calibri" pitchFamily="34" charset="-122"/>
                <a:cs typeface="Calibri" pitchFamily="34" charset="-120"/>
              </a:rPr>
              <a:t>💼  BUSINESS INSIGHT</a:t>
            </a:r>
            <a:endParaRPr lang="en-US" sz="1200" dirty="0"/>
          </a:p>
        </p:txBody>
      </p:sp>
      <p:sp>
        <p:nvSpPr>
          <p:cNvPr id="12" name="Shape 9"/>
          <p:cNvSpPr/>
          <p:nvPr/>
        </p:nvSpPr>
        <p:spPr>
          <a:xfrm>
            <a:off x="0" y="4754880"/>
            <a:ext cx="9144000" cy="388620"/>
          </a:xfrm>
          <a:prstGeom prst="rect">
            <a:avLst/>
          </a:prstGeom>
          <a:solidFill>
            <a:srgbClr val="1A1A2E"/>
          </a:solidFill>
          <a:ln w="12700">
            <a:solidFill>
              <a:srgbClr val="1A1A2E"/>
            </a:solidFill>
            <a:prstDash val="solid"/>
          </a:ln>
        </p:spPr>
      </p:sp>
      <p:sp>
        <p:nvSpPr>
          <p:cNvPr id="13" name="Text 10"/>
          <p:cNvSpPr/>
          <p:nvPr/>
        </p:nvSpPr>
        <p:spPr>
          <a:xfrm>
            <a:off x="457200" y="4773168"/>
            <a:ext cx="8229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899AA"/>
                </a:solidFill>
                <a:effectLst/>
                <a:uLnTx/>
                <a:uFillTx/>
                <a:latin typeface="Calibri" pitchFamily="34" charset="0"/>
                <a:ea typeface="Calibri" pitchFamily="34" charset="-122"/>
                <a:cs typeface="Calibri" pitchFamily="34" charset="-120"/>
              </a:rPr>
              <a:t>Steel Industry Energy Consumption Analysis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62EC4910-56FB-76A5-BF05-F1F0D38052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85" y="905256"/>
            <a:ext cx="5614571" cy="3726180"/>
          </a:xfrm>
          <a:prstGeom prst="rect">
            <a:avLst/>
          </a:prstGeom>
          <a:noFill/>
          <a:extLst>
            <a:ext uri="{909E8E84-426E-40DD-AFC4-6F175D3DCCD1}">
              <a14:hiddenFill xmlns:a14="http://schemas.microsoft.com/office/drawing/2010/main">
                <a:solidFill>
                  <a:srgbClr val="FFFFFF"/>
                </a:solidFill>
              </a14:hiddenFill>
            </a:ext>
          </a:extLst>
        </p:spPr>
      </p:pic>
      <p:sp>
        <p:nvSpPr>
          <p:cNvPr id="4" name="Shape 5">
            <a:extLst>
              <a:ext uri="{FF2B5EF4-FFF2-40B4-BE49-F238E27FC236}">
                <a16:creationId xmlns:a16="http://schemas.microsoft.com/office/drawing/2014/main" id="{913BB675-2D94-C801-97A3-F5B77D3A12D8}"/>
              </a:ext>
            </a:extLst>
          </p:cNvPr>
          <p:cNvSpPr/>
          <p:nvPr/>
        </p:nvSpPr>
        <p:spPr>
          <a:xfrm>
            <a:off x="5897880" y="1161288"/>
            <a:ext cx="2971800" cy="1508760"/>
          </a:xfrm>
          <a:prstGeom prst="rect">
            <a:avLst/>
          </a:prstGeom>
          <a:solidFill>
            <a:srgbClr val="16213E"/>
          </a:solidFill>
          <a:ln w="19050">
            <a:solidFill>
              <a:srgbClr val="5DBB63"/>
            </a:solidFill>
            <a:prstDash val="solid"/>
          </a:ln>
          <a:effectLst>
            <a:outerShdw blurRad="101600" dist="38100" dir="8100000" algn="bl" rotWithShape="0">
              <a:srgbClr val="000000">
                <a:alpha val="30000"/>
              </a:srgbClr>
            </a:outerShdw>
          </a:effectLst>
        </p:spPr>
        <p:txBody>
          <a:bodyPr/>
          <a:lstStyle/>
          <a:p>
            <a:endParaRPr lang="en-US" sz="1100" b="1" dirty="0">
              <a:solidFill>
                <a:schemeClr val="bg1"/>
              </a:solidFill>
            </a:endParaRPr>
          </a:p>
          <a:p>
            <a:r>
              <a:rPr lang="en-US" sz="1100" b="1" dirty="0">
                <a:solidFill>
                  <a:schemeClr val="bg1"/>
                </a:solidFill>
              </a:rPr>
              <a:t>Peak usage drives emissions</a:t>
            </a:r>
            <a:r>
              <a:rPr lang="en-US" sz="1100" dirty="0">
                <a:solidFill>
                  <a:schemeClr val="bg1"/>
                </a:solidFill>
              </a:rPr>
              <a:t> </a:t>
            </a:r>
          </a:p>
          <a:p>
            <a:r>
              <a:rPr lang="en-US" sz="1100" b="1" dirty="0">
                <a:solidFill>
                  <a:schemeClr val="bg1"/>
                </a:solidFill>
              </a:rPr>
              <a:t>Reduce peak load to reduce CO₂</a:t>
            </a:r>
            <a:r>
              <a:rPr lang="en-US" sz="1100" dirty="0">
                <a:solidFill>
                  <a:schemeClr val="bg1"/>
                </a:solidFill>
              </a:rPr>
              <a:t>  emission</a:t>
            </a:r>
          </a:p>
          <a:p>
            <a:r>
              <a:rPr lang="en-US" sz="1100" dirty="0">
                <a:solidFill>
                  <a:schemeClr val="bg1"/>
                </a:solidFill>
              </a:rPr>
              <a:t>Focus on </a:t>
            </a:r>
            <a:r>
              <a:rPr lang="en-US" sz="1100" b="1" dirty="0">
                <a:solidFill>
                  <a:schemeClr val="bg1"/>
                </a:solidFill>
              </a:rPr>
              <a:t>peak-hour optimization</a:t>
            </a:r>
            <a:r>
              <a:rPr lang="en-US" sz="1100" dirty="0">
                <a:solidFill>
                  <a:schemeClr val="bg1"/>
                </a:solidFill>
              </a:rPr>
              <a:t> </a:t>
            </a:r>
          </a:p>
          <a:p>
            <a:r>
              <a:rPr lang="en-US" sz="1100" dirty="0">
                <a:solidFill>
                  <a:schemeClr val="bg1"/>
                </a:solidFill>
              </a:rPr>
              <a:t>Use </a:t>
            </a:r>
            <a:r>
              <a:rPr lang="en-US" sz="1100" b="1" dirty="0">
                <a:solidFill>
                  <a:schemeClr val="bg1"/>
                </a:solidFill>
              </a:rPr>
              <a:t>renewables during high demand</a:t>
            </a:r>
            <a:r>
              <a:rPr lang="en-US" sz="1100" dirty="0">
                <a:solidFill>
                  <a:schemeClr val="bg1"/>
                </a:solidFill>
              </a:rPr>
              <a:t> </a:t>
            </a:r>
          </a:p>
          <a:p>
            <a:r>
              <a:rPr lang="en-US" sz="1100" dirty="0">
                <a:solidFill>
                  <a:schemeClr val="bg1"/>
                </a:solidFill>
              </a:rPr>
              <a:t>Demand forecasting = </a:t>
            </a:r>
            <a:r>
              <a:rPr lang="en-US" sz="1100" b="1" dirty="0">
                <a:solidFill>
                  <a:schemeClr val="bg1"/>
                </a:solidFill>
              </a:rPr>
              <a:t>emission forecasting</a:t>
            </a:r>
            <a:endParaRPr lang="en-US" sz="1100" dirty="0">
              <a:solidFill>
                <a:schemeClr val="bg1"/>
              </a:solidFill>
            </a:endParaRPr>
          </a:p>
          <a:p>
            <a:endParaRPr lang="en-IN" dirty="0"/>
          </a:p>
        </p:txBody>
      </p:sp>
      <p:sp>
        <p:nvSpPr>
          <p:cNvPr id="6" name="Shape 9">
            <a:extLst>
              <a:ext uri="{FF2B5EF4-FFF2-40B4-BE49-F238E27FC236}">
                <a16:creationId xmlns:a16="http://schemas.microsoft.com/office/drawing/2014/main" id="{7E55F9BB-9C36-9CB6-60EC-55243C80ECF0}"/>
              </a:ext>
            </a:extLst>
          </p:cNvPr>
          <p:cNvSpPr/>
          <p:nvPr/>
        </p:nvSpPr>
        <p:spPr>
          <a:xfrm>
            <a:off x="5897880" y="3076956"/>
            <a:ext cx="2971800" cy="1645920"/>
          </a:xfrm>
          <a:prstGeom prst="rect">
            <a:avLst/>
          </a:prstGeom>
          <a:solidFill>
            <a:srgbClr val="16213E"/>
          </a:solidFill>
          <a:ln w="19050">
            <a:solidFill>
              <a:srgbClr val="E8A87C"/>
            </a:solidFill>
            <a:prstDash val="solid"/>
          </a:ln>
          <a:effectLst>
            <a:outerShdw blurRad="101600" dist="38100" dir="8100000" algn="bl" rotWithShape="0">
              <a:srgbClr val="000000">
                <a:alpha val="30000"/>
              </a:srgbClr>
            </a:outerShdw>
          </a:effectLst>
        </p:spPr>
        <p:txBody>
          <a:bodyPr/>
          <a:lstStyle/>
          <a:p>
            <a:r>
              <a:rPr lang="en-US" sz="1200" b="1" kern="0" spc="100" dirty="0">
                <a:solidFill>
                  <a:srgbClr val="E8A87C"/>
                </a:solidFill>
                <a:latin typeface="Calibri" pitchFamily="34" charset="0"/>
                <a:ea typeface="Calibri" pitchFamily="34" charset="-122"/>
                <a:cs typeface="Calibri" pitchFamily="34" charset="-120"/>
              </a:rPr>
              <a:t>📊  STATISTICAL INSIGHT</a:t>
            </a:r>
            <a:endParaRPr lang="en-US" sz="1200" dirty="0"/>
          </a:p>
          <a:p>
            <a:endParaRPr lang="en-IN" sz="1200" dirty="0">
              <a:solidFill>
                <a:schemeClr val="bg1"/>
              </a:solidFill>
            </a:endParaRPr>
          </a:p>
          <a:p>
            <a:r>
              <a:rPr lang="en-IN" sz="1100" dirty="0">
                <a:solidFill>
                  <a:schemeClr val="bg1"/>
                </a:solidFill>
              </a:rPr>
              <a:t>P(High Usage) = </a:t>
            </a:r>
            <a:r>
              <a:rPr lang="en-IN" sz="1100" b="1" dirty="0">
                <a:solidFill>
                  <a:schemeClr val="bg1"/>
                </a:solidFill>
              </a:rPr>
              <a:t>38.26%</a:t>
            </a:r>
            <a:r>
              <a:rPr lang="en-IN" sz="1100" dirty="0">
                <a:solidFill>
                  <a:schemeClr val="bg1"/>
                </a:solidFill>
              </a:rPr>
              <a:t> &gt; P(High CO₂) = </a:t>
            </a:r>
            <a:r>
              <a:rPr lang="en-IN" sz="1100" b="1" dirty="0">
                <a:solidFill>
                  <a:schemeClr val="bg1"/>
                </a:solidFill>
              </a:rPr>
              <a:t>35.78%</a:t>
            </a:r>
            <a:r>
              <a:rPr lang="en-IN" sz="1100" dirty="0">
                <a:solidFill>
                  <a:schemeClr val="bg1"/>
                </a:solidFill>
              </a:rPr>
              <a:t> </a:t>
            </a:r>
          </a:p>
          <a:p>
            <a:r>
              <a:rPr lang="en-IN" sz="1100" dirty="0">
                <a:solidFill>
                  <a:schemeClr val="bg1"/>
                </a:solidFill>
              </a:rPr>
              <a:t>P(High Usage AND High CO₂) ≈ </a:t>
            </a:r>
            <a:r>
              <a:rPr lang="en-IN" sz="1100" b="1" dirty="0">
                <a:solidFill>
                  <a:schemeClr val="bg1"/>
                </a:solidFill>
              </a:rPr>
              <a:t>35.78%</a:t>
            </a:r>
            <a:r>
              <a:rPr lang="en-IN" sz="1100" dirty="0">
                <a:solidFill>
                  <a:schemeClr val="bg1"/>
                </a:solidFill>
              </a:rPr>
              <a:t> → almost equal to High CO₂ </a:t>
            </a:r>
          </a:p>
          <a:p>
            <a:r>
              <a:rPr lang="en-IN" sz="1100" b="1" dirty="0">
                <a:solidFill>
                  <a:schemeClr val="bg1"/>
                </a:solidFill>
              </a:rPr>
              <a:t>Strong dependency</a:t>
            </a:r>
            <a:r>
              <a:rPr lang="en-IN" sz="1100" dirty="0">
                <a:solidFill>
                  <a:schemeClr val="bg1"/>
                </a:solidFill>
              </a:rPr>
              <a:t>: High CO₂ mostly occurs during high usage </a:t>
            </a:r>
          </a:p>
          <a:p>
            <a:r>
              <a:rPr lang="en-IN" sz="1100" dirty="0">
                <a:solidFill>
                  <a:schemeClr val="bg1"/>
                </a:solidFill>
              </a:rPr>
              <a:t>P(High CO₂ | High Usage) ≈ </a:t>
            </a:r>
            <a:r>
              <a:rPr lang="en-IN" sz="1100" b="1" dirty="0">
                <a:solidFill>
                  <a:schemeClr val="bg1"/>
                </a:solidFill>
              </a:rPr>
              <a:t>93.5%</a:t>
            </a:r>
            <a:endParaRPr lang="en-IN" sz="1100" dirty="0">
              <a:solidFill>
                <a:schemeClr val="bg1"/>
              </a:solidFill>
            </a:endParaRP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How Often Does High Electricity Usage Happen?</a:t>
            </a:r>
            <a:endParaRPr lang="en-US" sz="2200" dirty="0"/>
          </a:p>
        </p:txBody>
      </p:sp>
      <p:sp>
        <p:nvSpPr>
          <p:cNvPr id="4" name="Text 2"/>
          <p:cNvSpPr/>
          <p:nvPr/>
        </p:nvSpPr>
        <p:spPr>
          <a:xfrm>
            <a:off x="320040" y="658368"/>
            <a:ext cx="8686800" cy="256032"/>
          </a:xfrm>
          <a:prstGeom prst="rect">
            <a:avLst/>
          </a:prstGeom>
          <a:noFill/>
          <a:ln/>
        </p:spPr>
        <p:txBody>
          <a:bodyPr wrap="square" lIns="0" tIns="0" rIns="0" bIns="0" rtlCol="0" anchor="ctr"/>
          <a:lstStyle/>
          <a:p>
            <a:pPr marL="0" indent="0">
              <a:buNone/>
            </a:pPr>
            <a:r>
              <a:rPr lang="en-US" sz="1050" i="1" dirty="0">
                <a:solidFill>
                  <a:srgbClr val="3B9FE7"/>
                </a:solidFill>
              </a:rPr>
              <a:t>Probability analysis — understanding the frequency of costly consumption periods</a:t>
            </a:r>
            <a:endParaRPr lang="en-US" sz="1050" dirty="0"/>
          </a:p>
        </p:txBody>
      </p:sp>
      <p:pic>
        <p:nvPicPr>
          <p:cNvPr id="5" name="Image 0" descr="preencoded.png"/>
          <p:cNvPicPr>
            <a:picLocks noChangeAspect="1"/>
          </p:cNvPicPr>
          <p:nvPr/>
        </p:nvPicPr>
        <p:blipFill>
          <a:blip r:embed="rId3"/>
          <a:stretch>
            <a:fillRect/>
          </a:stretch>
        </p:blipFill>
        <p:spPr>
          <a:xfrm>
            <a:off x="274320" y="896112"/>
            <a:ext cx="4846320" cy="3200400"/>
          </a:xfrm>
          <a:prstGeom prst="rect">
            <a:avLst/>
          </a:prstGeom>
        </p:spPr>
      </p:pic>
      <p:sp>
        <p:nvSpPr>
          <p:cNvPr id="6" name="Shape 3"/>
          <p:cNvSpPr/>
          <p:nvPr/>
        </p:nvSpPr>
        <p:spPr>
          <a:xfrm>
            <a:off x="5349240" y="896112"/>
            <a:ext cx="3474720" cy="987552"/>
          </a:xfrm>
          <a:prstGeom prst="rect">
            <a:avLst/>
          </a:prstGeom>
          <a:solidFill>
            <a:srgbClr val="FFFFFF"/>
          </a:solidFill>
          <a:ln w="19050">
            <a:solidFill>
              <a:srgbClr val="EF4444"/>
            </a:solidFill>
            <a:prstDash val="solid"/>
          </a:ln>
          <a:effectLst>
            <a:outerShdw blurRad="101600" dist="38100" dir="8100000" algn="bl" rotWithShape="0">
              <a:srgbClr val="000000">
                <a:alpha val="12000"/>
              </a:srgbClr>
            </a:outerShdw>
          </a:effectLst>
        </p:spPr>
      </p:sp>
      <p:sp>
        <p:nvSpPr>
          <p:cNvPr id="7" name="Text 4"/>
          <p:cNvSpPr/>
          <p:nvPr/>
        </p:nvSpPr>
        <p:spPr>
          <a:xfrm>
            <a:off x="5349240" y="914400"/>
            <a:ext cx="3474720" cy="502920"/>
          </a:xfrm>
          <a:prstGeom prst="rect">
            <a:avLst/>
          </a:prstGeom>
          <a:noFill/>
          <a:ln/>
        </p:spPr>
        <p:txBody>
          <a:bodyPr wrap="square" lIns="0" tIns="0" rIns="0" bIns="0" rtlCol="0" anchor="ctr"/>
          <a:lstStyle/>
          <a:p>
            <a:pPr marL="0" indent="0" algn="ctr">
              <a:buNone/>
            </a:pPr>
            <a:r>
              <a:rPr lang="en-US" sz="2800" b="1" dirty="0">
                <a:solidFill>
                  <a:srgbClr val="EF4444"/>
                </a:solidFill>
              </a:rPr>
              <a:t>38.3%</a:t>
            </a:r>
            <a:endParaRPr lang="en-US" sz="2800" dirty="0"/>
          </a:p>
        </p:txBody>
      </p:sp>
      <p:sp>
        <p:nvSpPr>
          <p:cNvPr id="8" name="Text 5"/>
          <p:cNvSpPr/>
          <p:nvPr/>
        </p:nvSpPr>
        <p:spPr>
          <a:xfrm>
            <a:off x="5349240" y="1417320"/>
            <a:ext cx="3474720" cy="420624"/>
          </a:xfrm>
          <a:prstGeom prst="rect">
            <a:avLst/>
          </a:prstGeom>
          <a:noFill/>
          <a:ln/>
        </p:spPr>
        <p:txBody>
          <a:bodyPr wrap="square" lIns="0" tIns="0" rIns="0" bIns="0" rtlCol="0" anchor="ctr"/>
          <a:lstStyle/>
          <a:p>
            <a:pPr marL="0" indent="0" algn="ctr">
              <a:buNone/>
            </a:pPr>
            <a:r>
              <a:rPr lang="en-US" sz="1000" dirty="0">
                <a:solidFill>
                  <a:srgbClr val="1A1A2E"/>
                </a:solidFill>
              </a:rPr>
              <a:t>of all hours are</a:t>
            </a:r>
            <a:endParaRPr lang="en-US" sz="1000" dirty="0"/>
          </a:p>
          <a:p>
            <a:pPr marL="0" indent="0" algn="ctr">
              <a:buNone/>
            </a:pPr>
            <a:r>
              <a:rPr lang="en-US" sz="1000" dirty="0">
                <a:solidFill>
                  <a:srgbClr val="1A1A2E"/>
                </a:solidFill>
              </a:rPr>
              <a:t>High Usage hours</a:t>
            </a:r>
            <a:endParaRPr lang="en-US" sz="1000" dirty="0"/>
          </a:p>
        </p:txBody>
      </p:sp>
      <p:sp>
        <p:nvSpPr>
          <p:cNvPr id="9" name="Shape 6"/>
          <p:cNvSpPr/>
          <p:nvPr/>
        </p:nvSpPr>
        <p:spPr>
          <a:xfrm>
            <a:off x="5349240" y="1993392"/>
            <a:ext cx="3474720" cy="987552"/>
          </a:xfrm>
          <a:prstGeom prst="rect">
            <a:avLst/>
          </a:prstGeom>
          <a:solidFill>
            <a:srgbClr val="FFFFFF"/>
          </a:solidFill>
          <a:ln w="19050">
            <a:solidFill>
              <a:srgbClr val="22C55E"/>
            </a:solidFill>
            <a:prstDash val="solid"/>
          </a:ln>
          <a:effectLst>
            <a:outerShdw blurRad="101600" dist="38100" dir="8100000" algn="bl" rotWithShape="0">
              <a:srgbClr val="000000">
                <a:alpha val="12000"/>
              </a:srgbClr>
            </a:outerShdw>
          </a:effectLst>
        </p:spPr>
      </p:sp>
      <p:sp>
        <p:nvSpPr>
          <p:cNvPr id="10" name="Text 7"/>
          <p:cNvSpPr/>
          <p:nvPr/>
        </p:nvSpPr>
        <p:spPr>
          <a:xfrm>
            <a:off x="5349240" y="2011680"/>
            <a:ext cx="3474720" cy="502920"/>
          </a:xfrm>
          <a:prstGeom prst="rect">
            <a:avLst/>
          </a:prstGeom>
          <a:noFill/>
          <a:ln/>
        </p:spPr>
        <p:txBody>
          <a:bodyPr wrap="square" lIns="0" tIns="0" rIns="0" bIns="0" rtlCol="0" anchor="ctr"/>
          <a:lstStyle/>
          <a:p>
            <a:pPr marL="0" indent="0" algn="ctr">
              <a:buNone/>
            </a:pPr>
            <a:r>
              <a:rPr lang="en-US" sz="2800" b="1" dirty="0">
                <a:solidFill>
                  <a:srgbClr val="22C55E"/>
                </a:solidFill>
              </a:rPr>
              <a:t>61.7%</a:t>
            </a:r>
            <a:endParaRPr lang="en-US" sz="2800" dirty="0"/>
          </a:p>
        </p:txBody>
      </p:sp>
      <p:sp>
        <p:nvSpPr>
          <p:cNvPr id="11" name="Text 8"/>
          <p:cNvSpPr/>
          <p:nvPr/>
        </p:nvSpPr>
        <p:spPr>
          <a:xfrm>
            <a:off x="5349240" y="2514600"/>
            <a:ext cx="3474720" cy="420624"/>
          </a:xfrm>
          <a:prstGeom prst="rect">
            <a:avLst/>
          </a:prstGeom>
          <a:noFill/>
          <a:ln/>
        </p:spPr>
        <p:txBody>
          <a:bodyPr wrap="square" lIns="0" tIns="0" rIns="0" bIns="0" rtlCol="0" anchor="ctr"/>
          <a:lstStyle/>
          <a:p>
            <a:pPr marL="0" indent="0" algn="ctr">
              <a:buNone/>
            </a:pPr>
            <a:r>
              <a:rPr lang="en-US" sz="1000" dirty="0">
                <a:solidFill>
                  <a:srgbClr val="1A1A2E"/>
                </a:solidFill>
              </a:rPr>
              <a:t>of all hours are</a:t>
            </a:r>
            <a:endParaRPr lang="en-US" sz="1000" dirty="0"/>
          </a:p>
          <a:p>
            <a:pPr marL="0" indent="0" algn="ctr">
              <a:buNone/>
            </a:pPr>
            <a:r>
              <a:rPr lang="en-US" sz="1000" dirty="0">
                <a:solidFill>
                  <a:srgbClr val="1A1A2E"/>
                </a:solidFill>
              </a:rPr>
              <a:t>Normal / Low usage</a:t>
            </a:r>
            <a:endParaRPr lang="en-US" sz="1000" dirty="0"/>
          </a:p>
        </p:txBody>
      </p:sp>
      <p:sp>
        <p:nvSpPr>
          <p:cNvPr id="12" name="Shape 9"/>
          <p:cNvSpPr/>
          <p:nvPr/>
        </p:nvSpPr>
        <p:spPr>
          <a:xfrm>
            <a:off x="5349240" y="3090672"/>
            <a:ext cx="3474720" cy="987552"/>
          </a:xfrm>
          <a:prstGeom prst="rect">
            <a:avLst/>
          </a:prstGeom>
          <a:solidFill>
            <a:srgbClr val="FFFFFF"/>
          </a:solidFill>
          <a:ln w="19050">
            <a:solidFill>
              <a:srgbClr val="F59E42"/>
            </a:solidFill>
            <a:prstDash val="solid"/>
          </a:ln>
          <a:effectLst>
            <a:outerShdw blurRad="101600" dist="38100" dir="8100000" algn="bl" rotWithShape="0">
              <a:srgbClr val="000000">
                <a:alpha val="12000"/>
              </a:srgbClr>
            </a:outerShdw>
          </a:effectLst>
        </p:spPr>
      </p:sp>
      <p:sp>
        <p:nvSpPr>
          <p:cNvPr id="13" name="Text 10"/>
          <p:cNvSpPr/>
          <p:nvPr/>
        </p:nvSpPr>
        <p:spPr>
          <a:xfrm>
            <a:off x="5349240" y="3108960"/>
            <a:ext cx="3474720" cy="502920"/>
          </a:xfrm>
          <a:prstGeom prst="rect">
            <a:avLst/>
          </a:prstGeom>
          <a:noFill/>
          <a:ln/>
        </p:spPr>
        <p:txBody>
          <a:bodyPr wrap="square" lIns="0" tIns="0" rIns="0" bIns="0" rtlCol="0" anchor="ctr"/>
          <a:lstStyle/>
          <a:p>
            <a:pPr marL="0" indent="0" algn="ctr">
              <a:buNone/>
            </a:pPr>
            <a:r>
              <a:rPr lang="en-US" sz="2800" b="1" dirty="0">
                <a:solidFill>
                  <a:srgbClr val="F59E42"/>
                </a:solidFill>
              </a:rPr>
              <a:t>~4 in 10</a:t>
            </a:r>
            <a:endParaRPr lang="en-US" sz="2800" dirty="0"/>
          </a:p>
        </p:txBody>
      </p:sp>
      <p:sp>
        <p:nvSpPr>
          <p:cNvPr id="14" name="Text 11"/>
          <p:cNvSpPr/>
          <p:nvPr/>
        </p:nvSpPr>
        <p:spPr>
          <a:xfrm>
            <a:off x="5349240" y="3611880"/>
            <a:ext cx="3474720" cy="420624"/>
          </a:xfrm>
          <a:prstGeom prst="rect">
            <a:avLst/>
          </a:prstGeom>
          <a:noFill/>
          <a:ln/>
        </p:spPr>
        <p:txBody>
          <a:bodyPr wrap="square" lIns="0" tIns="0" rIns="0" bIns="0" rtlCol="0" anchor="ctr"/>
          <a:lstStyle/>
          <a:p>
            <a:pPr marL="0" indent="0" algn="ctr">
              <a:buNone/>
            </a:pPr>
            <a:r>
              <a:rPr lang="en-US" sz="1000" dirty="0">
                <a:solidFill>
                  <a:srgbClr val="1A1A2E"/>
                </a:solidFill>
              </a:rPr>
              <a:t>hours cost more — every single day</a:t>
            </a:r>
            <a:endParaRPr lang="en-US" sz="1000" dirty="0"/>
          </a:p>
        </p:txBody>
      </p:sp>
      <p:sp>
        <p:nvSpPr>
          <p:cNvPr id="15" name="Shape 12"/>
          <p:cNvSpPr/>
          <p:nvPr/>
        </p:nvSpPr>
        <p:spPr>
          <a:xfrm>
            <a:off x="274320" y="4224528"/>
            <a:ext cx="8595360" cy="384048"/>
          </a:xfrm>
          <a:prstGeom prst="rect">
            <a:avLst/>
          </a:prstGeom>
          <a:solidFill>
            <a:srgbClr val="1A56DB">
              <a:alpha val="12000"/>
            </a:srgbClr>
          </a:solidFill>
          <a:ln w="15240">
            <a:solidFill>
              <a:srgbClr val="1A56DB"/>
            </a:solidFill>
            <a:prstDash val="solid"/>
          </a:ln>
        </p:spPr>
      </p:sp>
      <p:sp>
        <p:nvSpPr>
          <p:cNvPr id="16" name="Text 13"/>
          <p:cNvSpPr/>
          <p:nvPr/>
        </p:nvSpPr>
        <p:spPr>
          <a:xfrm>
            <a:off x="365760" y="4224528"/>
            <a:ext cx="8412480" cy="384048"/>
          </a:xfrm>
          <a:prstGeom prst="rect">
            <a:avLst/>
          </a:prstGeom>
          <a:noFill/>
          <a:ln/>
        </p:spPr>
        <p:txBody>
          <a:bodyPr wrap="square" lIns="0" tIns="0" rIns="0" bIns="0" rtlCol="0" anchor="ctr"/>
          <a:lstStyle/>
          <a:p>
            <a:pPr marL="0" indent="0">
              <a:buNone/>
            </a:pPr>
            <a:r>
              <a:rPr lang="en-US" sz="1000" dirty="0">
                <a:solidFill>
                  <a:srgbClr val="1A1A2E"/>
                </a:solidFill>
              </a:rPr>
              <a:t>💡  Peak electricity usage is highest between 9 AM – 3 PM. Shifting heavy tasks to early morning or late evening can save significantly.</a:t>
            </a:r>
            <a:endParaRPr lang="en-US" sz="1000" dirty="0"/>
          </a:p>
        </p:txBody>
      </p:sp>
      <p:sp>
        <p:nvSpPr>
          <p:cNvPr id="17" name="Shape 14"/>
          <p:cNvSpPr/>
          <p:nvPr/>
        </p:nvSpPr>
        <p:spPr>
          <a:xfrm>
            <a:off x="274320" y="4645152"/>
            <a:ext cx="8595360" cy="384048"/>
          </a:xfrm>
          <a:prstGeom prst="rect">
            <a:avLst/>
          </a:prstGeom>
          <a:solidFill>
            <a:srgbClr val="0E9F9F">
              <a:alpha val="12000"/>
            </a:srgbClr>
          </a:solidFill>
          <a:ln w="15240">
            <a:solidFill>
              <a:srgbClr val="0E9F9F"/>
            </a:solidFill>
            <a:prstDash val="solid"/>
          </a:ln>
        </p:spPr>
      </p:sp>
      <p:sp>
        <p:nvSpPr>
          <p:cNvPr id="18" name="Text 15"/>
          <p:cNvSpPr/>
          <p:nvPr/>
        </p:nvSpPr>
        <p:spPr>
          <a:xfrm>
            <a:off x="365760" y="4645152"/>
            <a:ext cx="8412480" cy="384048"/>
          </a:xfrm>
          <a:prstGeom prst="rect">
            <a:avLst/>
          </a:prstGeom>
          <a:noFill/>
          <a:ln/>
        </p:spPr>
        <p:txBody>
          <a:bodyPr wrap="square" lIns="0" tIns="0" rIns="0" bIns="0" rtlCol="0" anchor="ctr"/>
          <a:lstStyle/>
          <a:p>
            <a:pPr marL="0" indent="0">
              <a:buNone/>
            </a:pPr>
            <a:r>
              <a:rPr lang="en-US" sz="1000" dirty="0">
                <a:solidFill>
                  <a:srgbClr val="1A1A2E"/>
                </a:solidFill>
              </a:rPr>
              <a:t>💡  Late night (2 AM – 6 AM) shows nearly 0% high usage — a perfect window for scheduling energy-intensive maintenance or batch jobs at lower cost.</a:t>
            </a:r>
            <a:endParaRPr lang="en-US" sz="1000" dirty="0"/>
          </a:p>
        </p:txBody>
      </p:sp>
      <p:sp>
        <p:nvSpPr>
          <p:cNvPr id="19" name="Shape 16"/>
          <p:cNvSpPr/>
          <p:nvPr/>
        </p:nvSpPr>
        <p:spPr>
          <a:xfrm>
            <a:off x="0" y="4919472"/>
            <a:ext cx="9144000" cy="224028"/>
          </a:xfrm>
          <a:prstGeom prst="rect">
            <a:avLst/>
          </a:prstGeom>
          <a:solidFill>
            <a:srgbClr val="0D1B3E"/>
          </a:solidFill>
          <a:ln w="12700">
            <a:solidFill>
              <a:srgbClr val="0D1B3E"/>
            </a:solidFill>
            <a:prstDash val="solid"/>
          </a:ln>
        </p:spPr>
      </p:sp>
      <p:sp>
        <p:nvSpPr>
          <p:cNvPr id="20" name="Text 17"/>
          <p:cNvSpPr/>
          <p:nvPr/>
        </p:nvSpPr>
        <p:spPr>
          <a:xfrm>
            <a:off x="274320" y="4919472"/>
            <a:ext cx="8595360" cy="224028"/>
          </a:xfrm>
          <a:prstGeom prst="rect">
            <a:avLst/>
          </a:prstGeom>
          <a:noFill/>
          <a:ln/>
        </p:spPr>
        <p:txBody>
          <a:bodyPr wrap="square" lIns="0" tIns="0" rIns="0" bIns="0" rtlCol="0" anchor="ctr"/>
          <a:lstStyle/>
          <a:p>
            <a:pPr marL="0" indent="0">
              <a:buNone/>
            </a:pPr>
            <a:r>
              <a:rPr lang="en-US" sz="850" dirty="0">
                <a:solidFill>
                  <a:srgbClr val="A0B8D8"/>
                </a:solidFill>
              </a:rPr>
              <a:t>Steel Industry Electricity Consumption | ML Analysis Project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3460"/>
          </a:solidFill>
          <a:ln w="12700">
            <a:solidFill>
              <a:srgbClr val="0F3460"/>
            </a:solidFill>
            <a:prstDash val="solid"/>
          </a:ln>
        </p:spPr>
      </p:sp>
      <p:sp>
        <p:nvSpPr>
          <p:cNvPr id="3" name="Shape 1"/>
          <p:cNvSpPr/>
          <p:nvPr/>
        </p:nvSpPr>
        <p:spPr>
          <a:xfrm>
            <a:off x="0" y="0"/>
            <a:ext cx="109728" cy="658368"/>
          </a:xfrm>
          <a:prstGeom prst="rect">
            <a:avLst/>
          </a:prstGeom>
          <a:solidFill>
            <a:srgbClr val="E94560"/>
          </a:solidFill>
          <a:ln w="12700">
            <a:solidFill>
              <a:srgbClr val="E94560"/>
            </a:solidFill>
            <a:prstDash val="solid"/>
          </a:ln>
        </p:spPr>
      </p:sp>
      <p:sp>
        <p:nvSpPr>
          <p:cNvPr id="4" name="Text 2"/>
          <p:cNvSpPr/>
          <p:nvPr/>
        </p:nvSpPr>
        <p:spPr>
          <a:xfrm>
            <a:off x="228600" y="45720"/>
            <a:ext cx="2743200" cy="25603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94560"/>
                </a:solidFill>
                <a:effectLst/>
                <a:uLnTx/>
                <a:uFillTx/>
                <a:latin typeface="Calibri" pitchFamily="34" charset="0"/>
                <a:ea typeface="Calibri" pitchFamily="34" charset="-122"/>
                <a:cs typeface="Calibri" pitchFamily="34" charset="-120"/>
              </a:rPr>
              <a:t>CLT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228600" y="292608"/>
            <a:ext cx="86868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Central Limit Theorem — Sample Means Distribution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274320" y="777240"/>
            <a:ext cx="5486400" cy="3840480"/>
          </a:xfrm>
          <a:prstGeom prst="rect">
            <a:avLst/>
          </a:prstGeom>
        </p:spPr>
      </p:pic>
      <p:sp>
        <p:nvSpPr>
          <p:cNvPr id="7" name="Shape 4"/>
          <p:cNvSpPr/>
          <p:nvPr/>
        </p:nvSpPr>
        <p:spPr>
          <a:xfrm>
            <a:off x="5897880" y="749808"/>
            <a:ext cx="2971800" cy="3931920"/>
          </a:xfrm>
          <a:prstGeom prst="rect">
            <a:avLst/>
          </a:prstGeom>
          <a:solidFill>
            <a:srgbClr val="0F3460"/>
          </a:solidFill>
          <a:ln w="12700">
            <a:solidFill>
              <a:srgbClr val="533483"/>
            </a:solidFill>
            <a:prstDash val="solid"/>
          </a:ln>
        </p:spPr>
      </p:sp>
      <p:sp>
        <p:nvSpPr>
          <p:cNvPr id="8" name="Text 5"/>
          <p:cNvSpPr/>
          <p:nvPr/>
        </p:nvSpPr>
        <p:spPr>
          <a:xfrm>
            <a:off x="6035040" y="822960"/>
            <a:ext cx="26974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94560"/>
                </a:solidFill>
                <a:effectLst/>
                <a:uLnTx/>
                <a:uFillTx/>
                <a:latin typeface="Calibri" pitchFamily="34" charset="0"/>
                <a:ea typeface="Calibri" pitchFamily="34" charset="-122"/>
                <a:cs typeface="Calibri" pitchFamily="34" charset="-120"/>
              </a:rPr>
              <a:t>Interpretation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6035040" y="1188720"/>
            <a:ext cx="2697480" cy="12801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8D6E5"/>
                </a:solidFill>
                <a:effectLst/>
                <a:uLnTx/>
                <a:uFillTx/>
                <a:latin typeface="Calibri" pitchFamily="34" charset="0"/>
                <a:ea typeface="Calibri" pitchFamily="34" charset="-122"/>
                <a:cs typeface="Calibri" pitchFamily="34" charset="-120"/>
              </a:rPr>
              <a:t>With 1,000 samples of size 500, the distribution of sample means forms a near-perfect bell curve centered around 27–28 kWh, validating CLT for this dataset.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035040" y="2560320"/>
            <a:ext cx="269748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94560"/>
                </a:solidFill>
                <a:effectLst/>
                <a:uLnTx/>
                <a:uFillTx/>
                <a:latin typeface="Calibri" pitchFamily="34" charset="0"/>
                <a:ea typeface="Calibri" pitchFamily="34" charset="-122"/>
                <a:cs typeface="Calibri" pitchFamily="34" charset="-120"/>
              </a:rPr>
              <a:t>Business Insights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6035040" y="2926080"/>
            <a:ext cx="2697480" cy="1645920"/>
          </a:xfrm>
          <a:prstGeom prst="rect">
            <a:avLst/>
          </a:prstGeom>
          <a:noFill/>
          <a:ln/>
        </p:spPr>
        <p:txBody>
          <a:bodyPr wrap="square" rtlCol="0" anchor="t"/>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C8D6E5"/>
                </a:solidFill>
                <a:effectLst/>
                <a:uLnTx/>
                <a:uFillTx/>
                <a:latin typeface="Calibri" pitchFamily="34" charset="0"/>
                <a:ea typeface="Calibri" pitchFamily="34" charset="-122"/>
                <a:cs typeface="Calibri" pitchFamily="34" charset="-120"/>
              </a:rPr>
              <a:t>Population data is right-skewed; sample means are normal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C8D6E5"/>
                </a:solidFill>
                <a:effectLst/>
                <a:uLnTx/>
                <a:uFillTx/>
                <a:latin typeface="Calibri" pitchFamily="34" charset="0"/>
                <a:ea typeface="Calibri" pitchFamily="34" charset="-122"/>
                <a:cs typeface="Calibri" pitchFamily="34" charset="-120"/>
              </a:rPr>
              <a:t>CLT enables valid use of t-tests and z-tests on this data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C8D6E5"/>
                </a:solidFill>
                <a:effectLst/>
                <a:uLnTx/>
                <a:uFillTx/>
                <a:latin typeface="Calibri" pitchFamily="34" charset="0"/>
                <a:ea typeface="Calibri" pitchFamily="34" charset="-122"/>
                <a:cs typeface="Calibri" pitchFamily="34" charset="-120"/>
              </a:rPr>
              <a:t>Mean of sample means ≈ true population mean (~27–28 kWh)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dirty="0">
                <a:ln>
                  <a:noFill/>
                </a:ln>
                <a:solidFill>
                  <a:srgbClr val="C8D6E5"/>
                </a:solidFill>
                <a:effectLst/>
                <a:uLnTx/>
                <a:uFillTx/>
                <a:latin typeface="Calibri" pitchFamily="34" charset="0"/>
                <a:ea typeface="Calibri" pitchFamily="34" charset="-122"/>
                <a:cs typeface="Calibri" pitchFamily="34" charset="-120"/>
              </a:rPr>
              <a:t>Foundation for all parametric hypothesis tests in this project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0" y="4754880"/>
            <a:ext cx="9144000" cy="388620"/>
          </a:xfrm>
          <a:prstGeom prst="rect">
            <a:avLst/>
          </a:prstGeom>
          <a:solidFill>
            <a:srgbClr val="1A1A2E"/>
          </a:solidFill>
          <a:ln w="12700">
            <a:solidFill>
              <a:srgbClr val="1A1A2E"/>
            </a:solidFill>
            <a:prstDash val="solid"/>
          </a:ln>
        </p:spPr>
      </p:sp>
      <p:sp>
        <p:nvSpPr>
          <p:cNvPr id="13" name="Text 10"/>
          <p:cNvSpPr/>
          <p:nvPr/>
        </p:nvSpPr>
        <p:spPr>
          <a:xfrm>
            <a:off x="457200" y="4773168"/>
            <a:ext cx="82296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8899AA"/>
                </a:solidFill>
                <a:effectLst/>
                <a:uLnTx/>
                <a:uFillTx/>
                <a:latin typeface="Calibri" pitchFamily="34" charset="0"/>
                <a:ea typeface="Calibri" pitchFamily="34" charset="-122"/>
                <a:cs typeface="Calibri" pitchFamily="34" charset="-120"/>
              </a:rPr>
              <a:t>Steel Industry Energy Consumption Analysis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When Is Electricity Usage Highest Across the Year?</a:t>
            </a:r>
            <a:endParaRPr lang="en-US" sz="2200" dirty="0"/>
          </a:p>
        </p:txBody>
      </p:sp>
      <p:sp>
        <p:nvSpPr>
          <p:cNvPr id="4" name="Text 2"/>
          <p:cNvSpPr/>
          <p:nvPr/>
        </p:nvSpPr>
        <p:spPr>
          <a:xfrm>
            <a:off x="320040" y="658368"/>
            <a:ext cx="8686800" cy="256032"/>
          </a:xfrm>
          <a:prstGeom prst="rect">
            <a:avLst/>
          </a:prstGeom>
          <a:noFill/>
          <a:ln/>
        </p:spPr>
        <p:txBody>
          <a:bodyPr wrap="square" lIns="0" tIns="0" rIns="0" bIns="0" rtlCol="0" anchor="ctr"/>
          <a:lstStyle/>
          <a:p>
            <a:pPr marL="0" indent="0">
              <a:buNone/>
            </a:pPr>
            <a:r>
              <a:rPr lang="en-US" sz="1050" i="1" dirty="0">
                <a:solidFill>
                  <a:srgbClr val="3B9FE7"/>
                </a:solidFill>
              </a:rPr>
              <a:t>Monthly patterns reveal seasonal peaks and planning opportunities</a:t>
            </a:r>
            <a:endParaRPr lang="en-US" sz="1050" dirty="0"/>
          </a:p>
        </p:txBody>
      </p:sp>
      <p:pic>
        <p:nvPicPr>
          <p:cNvPr id="5" name="Image 0" descr="preencoded.png"/>
          <p:cNvPicPr>
            <a:picLocks noChangeAspect="1"/>
          </p:cNvPicPr>
          <p:nvPr/>
        </p:nvPicPr>
        <p:blipFill>
          <a:blip r:embed="rId3"/>
          <a:stretch>
            <a:fillRect/>
          </a:stretch>
        </p:blipFill>
        <p:spPr>
          <a:xfrm>
            <a:off x="228600" y="896112"/>
            <a:ext cx="8686800" cy="2926080"/>
          </a:xfrm>
          <a:prstGeom prst="rect">
            <a:avLst/>
          </a:prstGeom>
        </p:spPr>
      </p:pic>
      <p:sp>
        <p:nvSpPr>
          <p:cNvPr id="6" name="Shape 3"/>
          <p:cNvSpPr/>
          <p:nvPr/>
        </p:nvSpPr>
        <p:spPr>
          <a:xfrm>
            <a:off x="274320" y="3895344"/>
            <a:ext cx="8641080" cy="342900"/>
          </a:xfrm>
          <a:prstGeom prst="rect">
            <a:avLst/>
          </a:prstGeom>
          <a:solidFill>
            <a:srgbClr val="EF4444">
              <a:alpha val="12000"/>
            </a:srgbClr>
          </a:solidFill>
          <a:ln w="15240">
            <a:solidFill>
              <a:srgbClr val="EF4444"/>
            </a:solidFill>
            <a:prstDash val="solid"/>
          </a:ln>
        </p:spPr>
      </p:sp>
      <p:sp>
        <p:nvSpPr>
          <p:cNvPr id="7" name="Text 4"/>
          <p:cNvSpPr/>
          <p:nvPr/>
        </p:nvSpPr>
        <p:spPr>
          <a:xfrm>
            <a:off x="320040" y="3895344"/>
            <a:ext cx="8503920" cy="384048"/>
          </a:xfrm>
          <a:prstGeom prst="rect">
            <a:avLst/>
          </a:prstGeom>
          <a:noFill/>
          <a:ln/>
        </p:spPr>
        <p:txBody>
          <a:bodyPr wrap="square" lIns="0" tIns="0" rIns="0" bIns="0" rtlCol="0" anchor="ctr"/>
          <a:lstStyle/>
          <a:p>
            <a:pPr marL="0" indent="0">
              <a:buNone/>
            </a:pPr>
            <a:r>
              <a:rPr lang="en-US" sz="1000" dirty="0">
                <a:solidFill>
                  <a:srgbClr val="1A1A2E"/>
                </a:solidFill>
              </a:rPr>
              <a:t>💡  January is the most expensive month — highest average usage (~42 kWh) AND highest CO2 emissions. Plan for extra energy budget in Q1 every year.</a:t>
            </a:r>
            <a:endParaRPr lang="en-US" sz="1000" dirty="0"/>
          </a:p>
        </p:txBody>
      </p:sp>
      <p:sp>
        <p:nvSpPr>
          <p:cNvPr id="8" name="Shape 5"/>
          <p:cNvSpPr/>
          <p:nvPr/>
        </p:nvSpPr>
        <p:spPr>
          <a:xfrm>
            <a:off x="274320" y="4297680"/>
            <a:ext cx="8641080" cy="342900"/>
          </a:xfrm>
          <a:prstGeom prst="rect">
            <a:avLst/>
          </a:prstGeom>
          <a:solidFill>
            <a:srgbClr val="22C55E">
              <a:alpha val="12000"/>
            </a:srgbClr>
          </a:solidFill>
          <a:ln w="15240">
            <a:solidFill>
              <a:srgbClr val="22C55E"/>
            </a:solidFill>
            <a:prstDash val="solid"/>
          </a:ln>
        </p:spPr>
      </p:sp>
      <p:sp>
        <p:nvSpPr>
          <p:cNvPr id="9" name="Text 6"/>
          <p:cNvSpPr/>
          <p:nvPr/>
        </p:nvSpPr>
        <p:spPr>
          <a:xfrm>
            <a:off x="320040" y="4297680"/>
            <a:ext cx="8503920" cy="384048"/>
          </a:xfrm>
          <a:prstGeom prst="rect">
            <a:avLst/>
          </a:prstGeom>
          <a:noFill/>
          <a:ln/>
        </p:spPr>
        <p:txBody>
          <a:bodyPr wrap="square" lIns="0" tIns="0" rIns="0" bIns="0" rtlCol="0" anchor="ctr"/>
          <a:lstStyle/>
          <a:p>
            <a:pPr marL="0" indent="0">
              <a:buNone/>
            </a:pPr>
            <a:r>
              <a:rPr lang="en-US" sz="1000" dirty="0">
                <a:solidFill>
                  <a:srgbClr val="1A1A2E"/>
                </a:solidFill>
              </a:rPr>
              <a:t>💡  August–September are the cheapest months (~20–23 kWh). Schedule energy-heavy projects in summer to reduce annual costs.</a:t>
            </a:r>
            <a:endParaRPr lang="en-US" sz="1000" dirty="0"/>
          </a:p>
        </p:txBody>
      </p:sp>
      <p:sp>
        <p:nvSpPr>
          <p:cNvPr id="10" name="Shape 7"/>
          <p:cNvSpPr/>
          <p:nvPr/>
        </p:nvSpPr>
        <p:spPr>
          <a:xfrm>
            <a:off x="228600" y="4640580"/>
            <a:ext cx="8686800" cy="384048"/>
          </a:xfrm>
          <a:prstGeom prst="rect">
            <a:avLst/>
          </a:prstGeom>
          <a:solidFill>
            <a:srgbClr val="F59E42">
              <a:alpha val="12000"/>
            </a:srgbClr>
          </a:solidFill>
          <a:ln w="15240">
            <a:solidFill>
              <a:srgbClr val="F59E42"/>
            </a:solidFill>
            <a:prstDash val="solid"/>
          </a:ln>
        </p:spPr>
      </p:sp>
      <p:sp>
        <p:nvSpPr>
          <p:cNvPr id="11" name="Text 8"/>
          <p:cNvSpPr/>
          <p:nvPr/>
        </p:nvSpPr>
        <p:spPr>
          <a:xfrm>
            <a:off x="228600" y="4700016"/>
            <a:ext cx="8595360" cy="219456"/>
          </a:xfrm>
          <a:prstGeom prst="rect">
            <a:avLst/>
          </a:prstGeom>
          <a:noFill/>
          <a:ln/>
        </p:spPr>
        <p:txBody>
          <a:bodyPr wrap="square" lIns="0" tIns="0" rIns="0" bIns="0" rtlCol="0" anchor="ctr"/>
          <a:lstStyle/>
          <a:p>
            <a:pPr marL="0" indent="0">
              <a:buNone/>
            </a:pPr>
            <a:r>
              <a:rPr lang="en-US" sz="1000" dirty="0">
                <a:solidFill>
                  <a:srgbClr val="1A1A2E"/>
                </a:solidFill>
              </a:rPr>
              <a:t>💡  January shows the highest proportion of high-usage hours (~53%). Negotiate seasonal energy contracts before winter starts.</a:t>
            </a:r>
            <a:endParaRPr lang="en-US" sz="1000" dirty="0"/>
          </a:p>
        </p:txBody>
      </p:sp>
      <p:sp>
        <p:nvSpPr>
          <p:cNvPr id="12" name="Shape 9"/>
          <p:cNvSpPr/>
          <p:nvPr/>
        </p:nvSpPr>
        <p:spPr>
          <a:xfrm>
            <a:off x="0" y="4919472"/>
            <a:ext cx="9144000" cy="224028"/>
          </a:xfrm>
          <a:prstGeom prst="rect">
            <a:avLst/>
          </a:prstGeom>
          <a:solidFill>
            <a:srgbClr val="0D1B3E"/>
          </a:solidFill>
          <a:ln w="12700">
            <a:solidFill>
              <a:srgbClr val="0D1B3E"/>
            </a:solidFill>
            <a:prstDash val="solid"/>
          </a:ln>
        </p:spPr>
      </p:sp>
      <p:sp>
        <p:nvSpPr>
          <p:cNvPr id="13" name="Text 10"/>
          <p:cNvSpPr/>
          <p:nvPr/>
        </p:nvSpPr>
        <p:spPr>
          <a:xfrm>
            <a:off x="274320" y="4919472"/>
            <a:ext cx="8595360" cy="224028"/>
          </a:xfrm>
          <a:prstGeom prst="rect">
            <a:avLst/>
          </a:prstGeom>
          <a:noFill/>
          <a:ln/>
        </p:spPr>
        <p:txBody>
          <a:bodyPr wrap="square" lIns="0" tIns="0" rIns="0" bIns="0" rtlCol="0" anchor="ctr"/>
          <a:lstStyle/>
          <a:p>
            <a:pPr marL="0" indent="0">
              <a:buNone/>
            </a:pPr>
            <a:r>
              <a:rPr lang="en-US" sz="850" dirty="0">
                <a:solidFill>
                  <a:srgbClr val="A0B8D8"/>
                </a:solidFill>
              </a:rPr>
              <a:t>Steel Industry Electricity Consumption | ML Analysis Project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DE96B2-DDEA-DD95-063C-329CCE3C4A72}"/>
              </a:ext>
            </a:extLst>
          </p:cNvPr>
          <p:cNvSpPr>
            <a:spLocks noGrp="1"/>
          </p:cNvSpPr>
          <p:nvPr>
            <p:ph type="title"/>
          </p:nvPr>
        </p:nvSpPr>
        <p:spPr>
          <a:xfrm>
            <a:off x="552569" y="368719"/>
            <a:ext cx="8107760" cy="788419"/>
          </a:xfrm>
        </p:spPr>
        <p:txBody>
          <a:bodyPr>
            <a:normAutofit/>
          </a:bodyPr>
          <a:lstStyle/>
          <a:p>
            <a:pPr algn="ctr"/>
            <a:r>
              <a:rPr lang="en-US" sz="2700" b="1" dirty="0">
                <a:latin typeface="Century Schoolbook" panose="02040604050505020304" pitchFamily="18" charset="0"/>
              </a:rPr>
              <a:t>Weekday vs Weekend Electricity Usage</a:t>
            </a:r>
            <a:br>
              <a:rPr lang="en-US" sz="2700" b="1" dirty="0">
                <a:latin typeface="Century Schoolbook" panose="02040604050505020304" pitchFamily="18" charset="0"/>
              </a:rPr>
            </a:br>
            <a:r>
              <a:rPr lang="en-US" sz="1500" b="1" dirty="0">
                <a:latin typeface="Century Schoolbook" panose="02040604050505020304" pitchFamily="18" charset="0"/>
              </a:rPr>
              <a:t>Is electricity usage different between weekdays and weekends ?</a:t>
            </a:r>
            <a:endParaRPr lang="en-IN" sz="5400" b="1" dirty="0">
              <a:latin typeface="Century Schoolbook" panose="02040604050505020304" pitchFamily="18" charset="0"/>
            </a:endParaRPr>
          </a:p>
        </p:txBody>
      </p:sp>
      <p:pic>
        <p:nvPicPr>
          <p:cNvPr id="7" name="Content Placeholder 6" descr="A diagram of a diagram of a time&#10;&#10;Description automatically generated with medium confidence">
            <a:extLst>
              <a:ext uri="{FF2B5EF4-FFF2-40B4-BE49-F238E27FC236}">
                <a16:creationId xmlns:a16="http://schemas.microsoft.com/office/drawing/2014/main" id="{3A600FF8-28CB-876D-756B-107B409C090F}"/>
              </a:ext>
            </a:extLst>
          </p:cNvPr>
          <p:cNvPicPr>
            <a:picLocks noChangeAspect="1"/>
          </p:cNvPicPr>
          <p:nvPr/>
        </p:nvPicPr>
        <p:blipFill>
          <a:blip r:embed="rId2">
            <a:extLst>
              <a:ext uri="{28A0092B-C50C-407E-A947-70E740481C1C}">
                <a14:useLocalDpi xmlns:a14="http://schemas.microsoft.com/office/drawing/2010/main" val="0"/>
              </a:ext>
            </a:extLst>
          </a:blip>
          <a:srcRect t="1650" r="2" b="2"/>
          <a:stretch>
            <a:fillRect/>
          </a:stretch>
        </p:blipFill>
        <p:spPr>
          <a:xfrm>
            <a:off x="90671" y="1630680"/>
            <a:ext cx="5503671" cy="3383032"/>
          </a:xfrm>
          <a:prstGeom prst="rect">
            <a:avLst/>
          </a:prstGeom>
        </p:spPr>
      </p:pic>
      <p:sp>
        <p:nvSpPr>
          <p:cNvPr id="11" name="Content Placeholder 10">
            <a:extLst>
              <a:ext uri="{FF2B5EF4-FFF2-40B4-BE49-F238E27FC236}">
                <a16:creationId xmlns:a16="http://schemas.microsoft.com/office/drawing/2014/main" id="{BA80C2EA-E19C-3D35-3EFA-D0417C3C5631}"/>
              </a:ext>
            </a:extLst>
          </p:cNvPr>
          <p:cNvSpPr>
            <a:spLocks noGrp="1"/>
          </p:cNvSpPr>
          <p:nvPr>
            <p:ph idx="1"/>
          </p:nvPr>
        </p:nvSpPr>
        <p:spPr>
          <a:xfrm>
            <a:off x="5418843" y="1737979"/>
            <a:ext cx="3354262" cy="1667543"/>
          </a:xfrm>
        </p:spPr>
        <p:txBody>
          <a:bodyPr anchor="ctr">
            <a:normAutofit/>
          </a:bodyPr>
          <a:lstStyle/>
          <a:p>
            <a:r>
              <a:rPr lang="en-US" sz="1200" dirty="0">
                <a:latin typeface="Century Schoolbook" panose="02040604050505020304" pitchFamily="18" charset="0"/>
              </a:rPr>
              <a:t>Weekday usage significantly higher than weekend.</a:t>
            </a:r>
          </a:p>
          <a:p>
            <a:r>
              <a:rPr lang="en-US" sz="1200" dirty="0">
                <a:latin typeface="Century Schoolbook" panose="02040604050505020304" pitchFamily="18" charset="0"/>
              </a:rPr>
              <a:t>Nearly 3× increase in average consumption.</a:t>
            </a:r>
          </a:p>
          <a:p>
            <a:r>
              <a:rPr lang="en-US" sz="1200" dirty="0">
                <a:latin typeface="Century Schoolbook" panose="02040604050505020304" pitchFamily="18" charset="0"/>
              </a:rPr>
              <a:t>Greater variability observed on weekdays </a:t>
            </a:r>
            <a:endParaRPr lang="en-US" sz="1800" dirty="0">
              <a:latin typeface="Century Schoolbook" panose="02040604050505020304" pitchFamily="18" charset="0"/>
            </a:endParaRPr>
          </a:p>
        </p:txBody>
      </p:sp>
      <p:sp>
        <p:nvSpPr>
          <p:cNvPr id="9" name="TextBox 8">
            <a:extLst>
              <a:ext uri="{FF2B5EF4-FFF2-40B4-BE49-F238E27FC236}">
                <a16:creationId xmlns:a16="http://schemas.microsoft.com/office/drawing/2014/main" id="{92610525-A242-D8A5-8CC8-06816E5CD0B4}"/>
              </a:ext>
            </a:extLst>
          </p:cNvPr>
          <p:cNvSpPr txBox="1"/>
          <p:nvPr/>
        </p:nvSpPr>
        <p:spPr>
          <a:xfrm>
            <a:off x="5244185" y="3522097"/>
            <a:ext cx="3703577" cy="461665"/>
          </a:xfrm>
          <a:prstGeom prst="rect">
            <a:avLst/>
          </a:prstGeom>
          <a:noFill/>
        </p:spPr>
        <p:txBody>
          <a:bodyPr wrap="square">
            <a:spAutoFit/>
          </a:bodyPr>
          <a:lstStyle/>
          <a:p>
            <a:r>
              <a:rPr lang="en-US" sz="1200" dirty="0">
                <a:latin typeface="Century Schoolbook" panose="02040604050505020304" pitchFamily="18" charset="0"/>
              </a:rPr>
              <a:t>T-test p-value &lt; 0.001 → Statistically significant difference</a:t>
            </a:r>
            <a:endParaRPr lang="en-IN" sz="1200" dirty="0">
              <a:latin typeface="Century Schoolbook" panose="02040604050505020304" pitchFamily="18" charset="0"/>
            </a:endParaRPr>
          </a:p>
        </p:txBody>
      </p:sp>
    </p:spTree>
    <p:extLst>
      <p:ext uri="{BB962C8B-B14F-4D97-AF65-F5344CB8AC3E}">
        <p14:creationId xmlns:p14="http://schemas.microsoft.com/office/powerpoint/2010/main" val="3627752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A9DE1-DC13-4DEC-3E76-C5FF2FFE1DFC}"/>
              </a:ext>
            </a:extLst>
          </p:cNvPr>
          <p:cNvSpPr>
            <a:spLocks noGrp="1"/>
          </p:cNvSpPr>
          <p:nvPr>
            <p:ph type="title"/>
          </p:nvPr>
        </p:nvSpPr>
        <p:spPr/>
        <p:txBody>
          <a:bodyPr>
            <a:normAutofit/>
          </a:bodyPr>
          <a:lstStyle/>
          <a:p>
            <a:pPr algn="ctr"/>
            <a:r>
              <a:rPr lang="en-US" sz="2700" b="1" dirty="0">
                <a:latin typeface="Century Schoolbook" panose="02040604050505020304" pitchFamily="18" charset="0"/>
              </a:rPr>
              <a:t>Electricity Usage vs Standard Benchmark</a:t>
            </a:r>
            <a:br>
              <a:rPr lang="en-US" sz="2700" b="1" dirty="0">
                <a:latin typeface="Century Schoolbook" panose="02040604050505020304" pitchFamily="18" charset="0"/>
              </a:rPr>
            </a:br>
            <a:r>
              <a:rPr lang="en-US" sz="1500" b="1" dirty="0">
                <a:latin typeface="Century Schoolbook" panose="02040604050505020304" pitchFamily="18" charset="0"/>
              </a:rPr>
              <a:t>Is the average electricity usage significantly different from a standard level?</a:t>
            </a:r>
            <a:endParaRPr lang="en-IN" sz="2700" b="1" dirty="0">
              <a:latin typeface="Century Schoolbook" panose="02040604050505020304" pitchFamily="18" charset="0"/>
            </a:endParaRPr>
          </a:p>
        </p:txBody>
      </p:sp>
      <p:pic>
        <p:nvPicPr>
          <p:cNvPr id="6" name="Content Placeholder 5" descr="A graph of a diagram&#10;&#10;Description automatically generated with medium confidence">
            <a:extLst>
              <a:ext uri="{FF2B5EF4-FFF2-40B4-BE49-F238E27FC236}">
                <a16:creationId xmlns:a16="http://schemas.microsoft.com/office/drawing/2014/main" id="{FEB66906-799C-A3CC-13E5-9AF46D43330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2948" y="1268017"/>
            <a:ext cx="4737369" cy="3026651"/>
          </a:xfrm>
        </p:spPr>
      </p:pic>
      <p:sp>
        <p:nvSpPr>
          <p:cNvPr id="7" name="Rectangle 1">
            <a:extLst>
              <a:ext uri="{FF2B5EF4-FFF2-40B4-BE49-F238E27FC236}">
                <a16:creationId xmlns:a16="http://schemas.microsoft.com/office/drawing/2014/main" id="{2496ED35-50FA-802D-A114-A27AF173733D}"/>
              </a:ext>
            </a:extLst>
          </p:cNvPr>
          <p:cNvSpPr>
            <a:spLocks noChangeArrowheads="1"/>
          </p:cNvSpPr>
          <p:nvPr/>
        </p:nvSpPr>
        <p:spPr bwMode="auto">
          <a:xfrm>
            <a:off x="1803648" y="4177160"/>
            <a:ext cx="2035970"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endParaRPr lang="en-US" altLang="en-US" sz="1350" dirty="0">
              <a:solidFill>
                <a:prstClr val="black"/>
              </a:solidFill>
              <a:latin typeface="Arial" panose="020B0604020202020204" pitchFamily="34" charset="0"/>
            </a:endParaRPr>
          </a:p>
          <a:p>
            <a:pPr defTabSz="685800" eaLnBrk="0" fontAlgn="base" hangingPunct="0">
              <a:spcBef>
                <a:spcPct val="0"/>
              </a:spcBef>
              <a:spcAft>
                <a:spcPct val="0"/>
              </a:spcAft>
              <a:buFontTx/>
              <a:buChar char="•"/>
            </a:pPr>
            <a:r>
              <a:rPr lang="en-US" altLang="en-US" sz="1350" dirty="0">
                <a:solidFill>
                  <a:prstClr val="black"/>
                </a:solidFill>
                <a:latin typeface="Arial" panose="020B0604020202020204" pitchFamily="34" charset="0"/>
              </a:rPr>
              <a:t>Mean line (≈ 27.9) </a:t>
            </a:r>
          </a:p>
          <a:p>
            <a:pPr defTabSz="685800" eaLnBrk="0" fontAlgn="base" hangingPunct="0">
              <a:spcBef>
                <a:spcPct val="0"/>
              </a:spcBef>
              <a:spcAft>
                <a:spcPct val="0"/>
              </a:spcAft>
              <a:buFontTx/>
              <a:buChar char="•"/>
            </a:pPr>
            <a:r>
              <a:rPr lang="en-US" altLang="en-US" sz="1350" dirty="0">
                <a:solidFill>
                  <a:prstClr val="black"/>
                </a:solidFill>
                <a:latin typeface="Arial" panose="020B0604020202020204" pitchFamily="34" charset="0"/>
              </a:rPr>
              <a:t>Standard line (50 kWh) </a:t>
            </a:r>
          </a:p>
        </p:txBody>
      </p:sp>
      <p:sp>
        <p:nvSpPr>
          <p:cNvPr id="9" name="TextBox 8">
            <a:extLst>
              <a:ext uri="{FF2B5EF4-FFF2-40B4-BE49-F238E27FC236}">
                <a16:creationId xmlns:a16="http://schemas.microsoft.com/office/drawing/2014/main" id="{567FCA27-A5FA-C7D7-5201-8F8BD5F60219}"/>
              </a:ext>
            </a:extLst>
          </p:cNvPr>
          <p:cNvSpPr txBox="1"/>
          <p:nvPr/>
        </p:nvSpPr>
        <p:spPr>
          <a:xfrm>
            <a:off x="5424171" y="1675948"/>
            <a:ext cx="3266881" cy="1200329"/>
          </a:xfrm>
          <a:prstGeom prst="rect">
            <a:avLst/>
          </a:prstGeom>
          <a:noFill/>
        </p:spPr>
        <p:txBody>
          <a:bodyPr wrap="square">
            <a:spAutoFit/>
          </a:bodyPr>
          <a:lstStyle/>
          <a:p>
            <a:pPr marL="214313" indent="-214313" defTabSz="685800">
              <a:buFont typeface="Arial" panose="020B0604020202020204" pitchFamily="34" charset="0"/>
              <a:buChar char="•"/>
            </a:pPr>
            <a:r>
              <a:rPr lang="en-US" sz="1200" dirty="0">
                <a:solidFill>
                  <a:prstClr val="black"/>
                </a:solidFill>
                <a:latin typeface="Century Schoolbook" panose="02040604050505020304" pitchFamily="18" charset="0"/>
              </a:rPr>
              <a:t>Average usage ≈ 27.9 kWh (well below standard).</a:t>
            </a:r>
          </a:p>
          <a:p>
            <a:pPr marL="214313" indent="-214313" defTabSz="685800">
              <a:buFont typeface="Arial" panose="020B0604020202020204" pitchFamily="34" charset="0"/>
              <a:buChar char="•"/>
            </a:pPr>
            <a:r>
              <a:rPr lang="en-US" sz="1200" dirty="0">
                <a:solidFill>
                  <a:prstClr val="black"/>
                </a:solidFill>
                <a:latin typeface="Century Schoolbook" panose="02040604050505020304" pitchFamily="18" charset="0"/>
              </a:rPr>
              <a:t>Most values concentrated below 50 kWh. </a:t>
            </a:r>
          </a:p>
          <a:p>
            <a:pPr marL="214313" indent="-214313" defTabSz="685800">
              <a:buFont typeface="Arial" panose="020B0604020202020204" pitchFamily="34" charset="0"/>
              <a:buChar char="•"/>
            </a:pPr>
            <a:r>
              <a:rPr lang="en-US" sz="1200" dirty="0">
                <a:solidFill>
                  <a:prstClr val="black"/>
                </a:solidFill>
                <a:latin typeface="Century Schoolbook" panose="02040604050505020304" pitchFamily="18" charset="0"/>
              </a:rPr>
              <a:t>Right-skewed distribution with few high usage spikes </a:t>
            </a:r>
            <a:endParaRPr lang="en-IN" sz="1200" dirty="0">
              <a:solidFill>
                <a:prstClr val="black"/>
              </a:solidFill>
              <a:latin typeface="Century Schoolbook" panose="02040604050505020304" pitchFamily="18" charset="0"/>
            </a:endParaRPr>
          </a:p>
        </p:txBody>
      </p:sp>
      <p:sp>
        <p:nvSpPr>
          <p:cNvPr id="11" name="TextBox 10">
            <a:extLst>
              <a:ext uri="{FF2B5EF4-FFF2-40B4-BE49-F238E27FC236}">
                <a16:creationId xmlns:a16="http://schemas.microsoft.com/office/drawing/2014/main" id="{9AF6D6F4-5239-042D-961F-5E8C0C6A4F41}"/>
              </a:ext>
            </a:extLst>
          </p:cNvPr>
          <p:cNvSpPr txBox="1"/>
          <p:nvPr/>
        </p:nvSpPr>
        <p:spPr>
          <a:xfrm>
            <a:off x="5262634" y="2915505"/>
            <a:ext cx="3589954" cy="461665"/>
          </a:xfrm>
          <a:prstGeom prst="rect">
            <a:avLst/>
          </a:prstGeom>
          <a:noFill/>
        </p:spPr>
        <p:txBody>
          <a:bodyPr wrap="square">
            <a:spAutoFit/>
          </a:bodyPr>
          <a:lstStyle/>
          <a:p>
            <a:pPr defTabSz="685800"/>
            <a:r>
              <a:rPr lang="en-US" sz="1200" dirty="0">
                <a:solidFill>
                  <a:prstClr val="black"/>
                </a:solidFill>
                <a:latin typeface="Century Schoolbook" panose="02040604050505020304" pitchFamily="18" charset="0"/>
              </a:rPr>
              <a:t>Z-test p-value &lt; 0.001 → Significant difference from standard</a:t>
            </a:r>
            <a:endParaRPr lang="en-IN" sz="1200" dirty="0">
              <a:solidFill>
                <a:prstClr val="black"/>
              </a:solidFill>
              <a:latin typeface="Century Schoolbook" panose="02040604050505020304" pitchFamily="18" charset="0"/>
            </a:endParaRPr>
          </a:p>
        </p:txBody>
      </p:sp>
    </p:spTree>
    <p:extLst>
      <p:ext uri="{BB962C8B-B14F-4D97-AF65-F5344CB8AC3E}">
        <p14:creationId xmlns:p14="http://schemas.microsoft.com/office/powerpoint/2010/main" val="1316881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7DFDC-0F32-7C69-6D0D-9DFA367AC248}"/>
              </a:ext>
            </a:extLst>
          </p:cNvPr>
          <p:cNvSpPr>
            <a:spLocks noGrp="1"/>
          </p:cNvSpPr>
          <p:nvPr>
            <p:ph type="title"/>
          </p:nvPr>
        </p:nvSpPr>
        <p:spPr/>
        <p:txBody>
          <a:bodyPr>
            <a:normAutofit fontScale="90000"/>
          </a:bodyPr>
          <a:lstStyle/>
          <a:p>
            <a:pPr algn="ctr"/>
            <a:endParaRPr lang="en-IN" sz="2700" b="1" dirty="0">
              <a:latin typeface="Century Schoolbook" panose="02040604050505020304" pitchFamily="18" charset="0"/>
            </a:endParaRPr>
          </a:p>
        </p:txBody>
      </p:sp>
      <p:pic>
        <p:nvPicPr>
          <p:cNvPr id="6" name="Content Placeholder 5" descr="A graph of a load distribution&#10;&#10;Description automatically generated">
            <a:extLst>
              <a:ext uri="{FF2B5EF4-FFF2-40B4-BE49-F238E27FC236}">
                <a16:creationId xmlns:a16="http://schemas.microsoft.com/office/drawing/2014/main" id="{9C055E3A-2ED2-5113-9FFB-AFCE7BEB3E3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78619" y="1486368"/>
            <a:ext cx="4193381" cy="3282053"/>
          </a:xfrm>
        </p:spPr>
      </p:pic>
      <p:sp>
        <p:nvSpPr>
          <p:cNvPr id="9" name="TextBox 8">
            <a:extLst>
              <a:ext uri="{FF2B5EF4-FFF2-40B4-BE49-F238E27FC236}">
                <a16:creationId xmlns:a16="http://schemas.microsoft.com/office/drawing/2014/main" id="{0843F04D-9CAB-4B0F-5709-11EBD354E400}"/>
              </a:ext>
            </a:extLst>
          </p:cNvPr>
          <p:cNvSpPr txBox="1"/>
          <p:nvPr/>
        </p:nvSpPr>
        <p:spPr>
          <a:xfrm>
            <a:off x="4701898" y="1603901"/>
            <a:ext cx="3813452" cy="1569660"/>
          </a:xfrm>
          <a:prstGeom prst="rect">
            <a:avLst/>
          </a:prstGeom>
          <a:noFill/>
        </p:spPr>
        <p:txBody>
          <a:bodyPr wrap="square">
            <a:spAutoFit/>
          </a:bodyPr>
          <a:lstStyle/>
          <a:p>
            <a:pPr marL="214313" indent="-214313">
              <a:buFont typeface="Arial" panose="020B0604020202020204" pitchFamily="34" charset="0"/>
              <a:buChar char="•"/>
            </a:pPr>
            <a:r>
              <a:rPr lang="en-IN" sz="1200" dirty="0">
                <a:latin typeface="Century Schoolbook" panose="02040604050505020304" pitchFamily="18" charset="0"/>
              </a:rPr>
              <a:t>Load type distribution varies across different months.</a:t>
            </a:r>
          </a:p>
          <a:p>
            <a:pPr marL="214313" indent="-214313">
              <a:buFont typeface="Arial" panose="020B0604020202020204" pitchFamily="34" charset="0"/>
              <a:buChar char="•"/>
            </a:pPr>
            <a:r>
              <a:rPr lang="en-IN" sz="1200" dirty="0">
                <a:latin typeface="Century Schoolbook" panose="02040604050505020304" pitchFamily="18" charset="0"/>
              </a:rPr>
              <a:t>Indicates time-based changes in electricity demand.</a:t>
            </a:r>
          </a:p>
          <a:p>
            <a:pPr marL="214313" indent="-214313">
              <a:buFont typeface="Arial" panose="020B0604020202020204" pitchFamily="34" charset="0"/>
              <a:buChar char="•"/>
            </a:pPr>
            <a:r>
              <a:rPr lang="en-IN" sz="1200" dirty="0">
                <a:latin typeface="Century Schoolbook" panose="02040604050505020304" pitchFamily="18" charset="0"/>
              </a:rPr>
              <a:t>Suggests presence of seasonal consumption patterns.</a:t>
            </a:r>
          </a:p>
          <a:p>
            <a:pPr marL="214313" indent="-214313">
              <a:buFont typeface="Arial" panose="020B0604020202020204" pitchFamily="34" charset="0"/>
              <a:buChar char="•"/>
            </a:pPr>
            <a:r>
              <a:rPr lang="en-US" sz="1200" dirty="0">
                <a:latin typeface="Century Schoolbook" panose="02040604050505020304" pitchFamily="18" charset="0"/>
              </a:rPr>
              <a:t>Supports better demand forecasting and seasonal resource planning</a:t>
            </a:r>
            <a:r>
              <a:rPr lang="en-IN" sz="1200" dirty="0">
                <a:latin typeface="Century Schoolbook" panose="02040604050505020304" pitchFamily="18" charset="0"/>
              </a:rPr>
              <a:t> </a:t>
            </a:r>
          </a:p>
        </p:txBody>
      </p:sp>
      <p:sp>
        <p:nvSpPr>
          <p:cNvPr id="11" name="TextBox 10">
            <a:extLst>
              <a:ext uri="{FF2B5EF4-FFF2-40B4-BE49-F238E27FC236}">
                <a16:creationId xmlns:a16="http://schemas.microsoft.com/office/drawing/2014/main" id="{0F3B6499-F41B-9B12-D591-FCD102216E69}"/>
              </a:ext>
            </a:extLst>
          </p:cNvPr>
          <p:cNvSpPr txBox="1"/>
          <p:nvPr/>
        </p:nvSpPr>
        <p:spPr>
          <a:xfrm>
            <a:off x="4688706" y="3559061"/>
            <a:ext cx="3826644" cy="461665"/>
          </a:xfrm>
          <a:prstGeom prst="rect">
            <a:avLst/>
          </a:prstGeom>
          <a:noFill/>
        </p:spPr>
        <p:txBody>
          <a:bodyPr wrap="square">
            <a:spAutoFit/>
          </a:bodyPr>
          <a:lstStyle/>
          <a:p>
            <a:r>
              <a:rPr lang="en-IN" sz="1200" dirty="0">
                <a:latin typeface="Century Schoolbook" panose="02040604050505020304" pitchFamily="18" charset="0"/>
              </a:rPr>
              <a:t>Chi-square p-value &lt; 0.001 → Load type depends on month</a:t>
            </a:r>
          </a:p>
        </p:txBody>
      </p:sp>
      <p:sp>
        <p:nvSpPr>
          <p:cNvPr id="4" name="TextBox 3">
            <a:extLst>
              <a:ext uri="{FF2B5EF4-FFF2-40B4-BE49-F238E27FC236}">
                <a16:creationId xmlns:a16="http://schemas.microsoft.com/office/drawing/2014/main" id="{3EFC80C9-0558-8C91-74DA-FE91D286CF1E}"/>
              </a:ext>
            </a:extLst>
          </p:cNvPr>
          <p:cNvSpPr txBox="1"/>
          <p:nvPr/>
        </p:nvSpPr>
        <p:spPr>
          <a:xfrm>
            <a:off x="3058886" y="105774"/>
            <a:ext cx="6085114" cy="538609"/>
          </a:xfrm>
          <a:prstGeom prst="rect">
            <a:avLst/>
          </a:prstGeom>
          <a:noFill/>
        </p:spPr>
        <p:txBody>
          <a:bodyPr wrap="square">
            <a:spAutoFit/>
          </a:bodyPr>
          <a:lstStyle/>
          <a:p>
            <a:pPr algn="ctr"/>
            <a:r>
              <a:rPr lang="en-US" sz="1800" b="1" dirty="0">
                <a:latin typeface="Century Schoolbook" panose="02040604050505020304" pitchFamily="18" charset="0"/>
              </a:rPr>
              <a:t>Load Type Variation Across Months</a:t>
            </a:r>
            <a:br>
              <a:rPr lang="en-US" sz="1800" b="1" dirty="0">
                <a:latin typeface="Century Schoolbook" panose="02040604050505020304" pitchFamily="18" charset="0"/>
              </a:rPr>
            </a:br>
            <a:r>
              <a:rPr lang="en-US" sz="1100" b="1" dirty="0">
                <a:latin typeface="Century Schoolbook" panose="02040604050505020304" pitchFamily="18" charset="0"/>
              </a:rPr>
              <a:t>Is load type dependent on month?</a:t>
            </a:r>
            <a:endParaRPr lang="en-IN" sz="1800" b="1" dirty="0">
              <a:latin typeface="Century Schoolbook" panose="02040604050505020304" pitchFamily="18" charset="0"/>
            </a:endParaRPr>
          </a:p>
        </p:txBody>
      </p:sp>
      <p:pic>
        <p:nvPicPr>
          <p:cNvPr id="5" name="Content Placeholder 5" descr="A graph of a load distribution">
            <a:extLst>
              <a:ext uri="{FF2B5EF4-FFF2-40B4-BE49-F238E27FC236}">
                <a16:creationId xmlns:a16="http://schemas.microsoft.com/office/drawing/2014/main" id="{00383FA4-1046-2138-5744-6408D101F5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826" y="1123398"/>
            <a:ext cx="5591174" cy="4376070"/>
          </a:xfrm>
        </p:spPr>
      </p:pic>
      <p:pic>
        <p:nvPicPr>
          <p:cNvPr id="8" name="Picture 7">
            <a:extLst>
              <a:ext uri="{FF2B5EF4-FFF2-40B4-BE49-F238E27FC236}">
                <a16:creationId xmlns:a16="http://schemas.microsoft.com/office/drawing/2014/main" id="{BE45A385-4B6E-9FC6-2B8A-24F3A40DF4C5}"/>
              </a:ext>
            </a:extLst>
          </p:cNvPr>
          <p:cNvPicPr>
            <a:picLocks noChangeAspect="1"/>
          </p:cNvPicPr>
          <p:nvPr/>
        </p:nvPicPr>
        <p:blipFill>
          <a:blip r:embed="rId3"/>
          <a:stretch>
            <a:fillRect/>
          </a:stretch>
        </p:blipFill>
        <p:spPr>
          <a:xfrm>
            <a:off x="1" y="1023257"/>
            <a:ext cx="4701898" cy="4120243"/>
          </a:xfrm>
          <a:prstGeom prst="rect">
            <a:avLst/>
          </a:prstGeom>
        </p:spPr>
      </p:pic>
    </p:spTree>
    <p:extLst>
      <p:ext uri="{BB962C8B-B14F-4D97-AF65-F5344CB8AC3E}">
        <p14:creationId xmlns:p14="http://schemas.microsoft.com/office/powerpoint/2010/main" val="3616314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47608-4284-6628-4EB8-3676FC8FD21B}"/>
              </a:ext>
            </a:extLst>
          </p:cNvPr>
          <p:cNvSpPr>
            <a:spLocks noGrp="1"/>
          </p:cNvSpPr>
          <p:nvPr>
            <p:ph type="title"/>
          </p:nvPr>
        </p:nvSpPr>
        <p:spPr/>
        <p:txBody>
          <a:bodyPr>
            <a:normAutofit/>
          </a:bodyPr>
          <a:lstStyle/>
          <a:p>
            <a:pPr algn="ctr"/>
            <a:r>
              <a:rPr lang="en-IN" sz="2700" b="1" dirty="0">
                <a:latin typeface="Century Schoolbook" panose="02040604050505020304" pitchFamily="18" charset="0"/>
              </a:rPr>
              <a:t>CO2 Emission Distribution Analysis</a:t>
            </a:r>
          </a:p>
        </p:txBody>
      </p:sp>
      <p:pic>
        <p:nvPicPr>
          <p:cNvPr id="5" name="Content Placeholder 4" descr="A graph with a red line and blue lines&#10;&#10;Description automatically generated">
            <a:extLst>
              <a:ext uri="{FF2B5EF4-FFF2-40B4-BE49-F238E27FC236}">
                <a16:creationId xmlns:a16="http://schemas.microsoft.com/office/drawing/2014/main" id="{60E4C10D-4601-0D10-F8FB-B532DF11AD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846" y="1303735"/>
            <a:ext cx="4985432" cy="3121829"/>
          </a:xfrm>
        </p:spPr>
      </p:pic>
      <p:sp>
        <p:nvSpPr>
          <p:cNvPr id="6" name="Title 1">
            <a:extLst>
              <a:ext uri="{FF2B5EF4-FFF2-40B4-BE49-F238E27FC236}">
                <a16:creationId xmlns:a16="http://schemas.microsoft.com/office/drawing/2014/main" id="{F5F29A7D-58B0-A3FD-A865-4E4D2F71457C}"/>
              </a:ext>
            </a:extLst>
          </p:cNvPr>
          <p:cNvSpPr txBox="1">
            <a:spLocks/>
          </p:cNvSpPr>
          <p:nvPr/>
        </p:nvSpPr>
        <p:spPr>
          <a:xfrm>
            <a:off x="628650" y="238126"/>
            <a:ext cx="7886700"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a:endParaRPr lang="en-IN" sz="3300" dirty="0">
              <a:solidFill>
                <a:prstClr val="black"/>
              </a:solidFill>
              <a:latin typeface="Calibri Light" panose="020F0302020204030204"/>
            </a:endParaRPr>
          </a:p>
        </p:txBody>
      </p:sp>
      <p:sp>
        <p:nvSpPr>
          <p:cNvPr id="8" name="TextBox 7">
            <a:extLst>
              <a:ext uri="{FF2B5EF4-FFF2-40B4-BE49-F238E27FC236}">
                <a16:creationId xmlns:a16="http://schemas.microsoft.com/office/drawing/2014/main" id="{42F32A47-DB77-F992-635E-130D792FAAC1}"/>
              </a:ext>
            </a:extLst>
          </p:cNvPr>
          <p:cNvSpPr txBox="1"/>
          <p:nvPr/>
        </p:nvSpPr>
        <p:spPr>
          <a:xfrm>
            <a:off x="5484652" y="1745143"/>
            <a:ext cx="2779938" cy="1338828"/>
          </a:xfrm>
          <a:prstGeom prst="rect">
            <a:avLst/>
          </a:prstGeom>
          <a:noFill/>
        </p:spPr>
        <p:txBody>
          <a:bodyPr wrap="square">
            <a:spAutoFit/>
          </a:bodyPr>
          <a:lstStyle/>
          <a:p>
            <a:pPr marL="214313" indent="-214313" defTabSz="685800">
              <a:buFont typeface="Arial" panose="020B0604020202020204" pitchFamily="34" charset="0"/>
              <a:buChar char="•"/>
            </a:pPr>
            <a:r>
              <a:rPr lang="en-US" sz="1350" dirty="0">
                <a:solidFill>
                  <a:prstClr val="black"/>
                </a:solidFill>
                <a:latin typeface="Century Schoolbook" panose="02040604050505020304" pitchFamily="18" charset="0"/>
              </a:rPr>
              <a:t>CO2 values are highly right-skewed.</a:t>
            </a:r>
          </a:p>
          <a:p>
            <a:pPr marL="214313" indent="-214313" defTabSz="685800">
              <a:buFont typeface="Arial" panose="020B0604020202020204" pitchFamily="34" charset="0"/>
              <a:buChar char="•"/>
            </a:pPr>
            <a:r>
              <a:rPr lang="en-US" sz="1350" dirty="0">
                <a:solidFill>
                  <a:prstClr val="black"/>
                </a:solidFill>
                <a:latin typeface="Century Schoolbook" panose="02040604050505020304" pitchFamily="18" charset="0"/>
              </a:rPr>
              <a:t>Most observations are near low emission levels.</a:t>
            </a:r>
          </a:p>
          <a:p>
            <a:pPr marL="214313" indent="-214313" defTabSz="685800">
              <a:buFont typeface="Arial" panose="020B0604020202020204" pitchFamily="34" charset="0"/>
              <a:buChar char="•"/>
            </a:pPr>
            <a:r>
              <a:rPr lang="en-US" sz="1350" dirty="0">
                <a:solidFill>
                  <a:prstClr val="black"/>
                </a:solidFill>
                <a:latin typeface="Century Schoolbook" panose="02040604050505020304" pitchFamily="18" charset="0"/>
              </a:rPr>
              <a:t>Few extreme values create long tail </a:t>
            </a:r>
            <a:endParaRPr lang="en-IN" sz="1350" dirty="0">
              <a:solidFill>
                <a:prstClr val="black"/>
              </a:solidFill>
              <a:latin typeface="Century Schoolbook" panose="02040604050505020304" pitchFamily="18" charset="0"/>
            </a:endParaRPr>
          </a:p>
        </p:txBody>
      </p:sp>
      <p:sp>
        <p:nvSpPr>
          <p:cNvPr id="10" name="TextBox 9">
            <a:extLst>
              <a:ext uri="{FF2B5EF4-FFF2-40B4-BE49-F238E27FC236}">
                <a16:creationId xmlns:a16="http://schemas.microsoft.com/office/drawing/2014/main" id="{E613D153-1DDE-FD14-5B05-4E09655AF999}"/>
              </a:ext>
            </a:extLst>
          </p:cNvPr>
          <p:cNvSpPr txBox="1"/>
          <p:nvPr/>
        </p:nvSpPr>
        <p:spPr>
          <a:xfrm>
            <a:off x="5122277" y="3212086"/>
            <a:ext cx="3913608" cy="507831"/>
          </a:xfrm>
          <a:prstGeom prst="rect">
            <a:avLst/>
          </a:prstGeom>
          <a:noFill/>
        </p:spPr>
        <p:txBody>
          <a:bodyPr wrap="square">
            <a:spAutoFit/>
          </a:bodyPr>
          <a:lstStyle/>
          <a:p>
            <a:pPr defTabSz="685800"/>
            <a:r>
              <a:rPr lang="en-IN" sz="1350" dirty="0">
                <a:solidFill>
                  <a:prstClr val="black"/>
                </a:solidFill>
                <a:latin typeface="Century Schoolbook" panose="02040604050505020304" pitchFamily="18" charset="0"/>
              </a:rPr>
              <a:t>Normality test p-value &lt; 0.001 → Data is not normally distributed</a:t>
            </a:r>
          </a:p>
        </p:txBody>
      </p:sp>
    </p:spTree>
    <p:extLst>
      <p:ext uri="{BB962C8B-B14F-4D97-AF65-F5344CB8AC3E}">
        <p14:creationId xmlns:p14="http://schemas.microsoft.com/office/powerpoint/2010/main" val="246065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sp>
        <p:nvSpPr>
          <p:cNvPr id="2" name="Title 1">
            <a:extLst>
              <a:ext uri="{FF2B5EF4-FFF2-40B4-BE49-F238E27FC236}">
                <a16:creationId xmlns:a16="http://schemas.microsoft.com/office/drawing/2014/main" id="{30D4A6A7-49AA-5A0D-323C-BEEA8CDB6422}"/>
              </a:ext>
            </a:extLst>
          </p:cNvPr>
          <p:cNvSpPr>
            <a:spLocks noGrp="1"/>
          </p:cNvSpPr>
          <p:nvPr>
            <p:ph type="title"/>
          </p:nvPr>
        </p:nvSpPr>
        <p:spPr>
          <a:xfrm>
            <a:off x="628650" y="417892"/>
            <a:ext cx="2530602" cy="4175918"/>
          </a:xfrm>
        </p:spPr>
        <p:txBody>
          <a:bodyPr>
            <a:normAutofit/>
          </a:bodyPr>
          <a:lstStyle/>
          <a:p>
            <a:r>
              <a:rPr lang="en-IN" sz="3000" b="1">
                <a:latin typeface="Century Schoolbook" panose="02040604050505020304" pitchFamily="18" charset="0"/>
              </a:rPr>
              <a:t>Model Building – Linear Regression</a:t>
            </a:r>
          </a:p>
        </p:txBody>
      </p:sp>
      <p:graphicFrame>
        <p:nvGraphicFramePr>
          <p:cNvPr id="5" name="Content Placeholder 2">
            <a:extLst>
              <a:ext uri="{FF2B5EF4-FFF2-40B4-BE49-F238E27FC236}">
                <a16:creationId xmlns:a16="http://schemas.microsoft.com/office/drawing/2014/main" id="{1824CCD0-89BA-06CE-FCFB-0A3BC7ED468D}"/>
              </a:ext>
            </a:extLst>
          </p:cNvPr>
          <p:cNvGraphicFramePr>
            <a:graphicFrameLocks noGrp="1"/>
          </p:cNvGraphicFramePr>
          <p:nvPr>
            <p:ph idx="1"/>
          </p:nvPr>
        </p:nvGraphicFramePr>
        <p:xfrm>
          <a:off x="3819906" y="465294"/>
          <a:ext cx="4697730" cy="41285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3075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Predicting Exactly How Much Electricity Will Be Used</a:t>
            </a:r>
            <a:endParaRPr lang="en-US" sz="2200" dirty="0"/>
          </a:p>
        </p:txBody>
      </p:sp>
      <p:sp>
        <p:nvSpPr>
          <p:cNvPr id="4" name="Text 2"/>
          <p:cNvSpPr/>
          <p:nvPr/>
        </p:nvSpPr>
        <p:spPr>
          <a:xfrm>
            <a:off x="320040" y="658368"/>
            <a:ext cx="8686800" cy="256032"/>
          </a:xfrm>
          <a:prstGeom prst="rect">
            <a:avLst/>
          </a:prstGeom>
          <a:noFill/>
          <a:ln/>
        </p:spPr>
        <p:txBody>
          <a:bodyPr wrap="square" lIns="0" tIns="0" rIns="0" bIns="0" rtlCol="0" anchor="ctr"/>
          <a:lstStyle/>
          <a:p>
            <a:pPr marL="0" indent="0">
              <a:buNone/>
            </a:pPr>
            <a:r>
              <a:rPr lang="en-US" sz="1050" i="1" dirty="0">
                <a:solidFill>
                  <a:srgbClr val="3B9FE7"/>
                </a:solidFill>
              </a:rPr>
              <a:t>Forecasting kWh consumption — model performance &amp; results</a:t>
            </a:r>
            <a:endParaRPr lang="en-US" sz="1050" dirty="0"/>
          </a:p>
        </p:txBody>
      </p:sp>
      <p:sp>
        <p:nvSpPr>
          <p:cNvPr id="5" name="Shape 3"/>
          <p:cNvSpPr/>
          <p:nvPr/>
        </p:nvSpPr>
        <p:spPr>
          <a:xfrm>
            <a:off x="256032" y="914400"/>
            <a:ext cx="2761488" cy="868680"/>
          </a:xfrm>
          <a:prstGeom prst="rect">
            <a:avLst/>
          </a:prstGeom>
          <a:solidFill>
            <a:srgbClr val="FFFFFF"/>
          </a:solidFill>
          <a:ln w="19050">
            <a:solidFill>
              <a:srgbClr val="22C55E"/>
            </a:solidFill>
            <a:prstDash val="solid"/>
          </a:ln>
          <a:effectLst>
            <a:outerShdw blurRad="101600" dist="38100" dir="8100000" algn="bl" rotWithShape="0">
              <a:srgbClr val="000000">
                <a:alpha val="12000"/>
              </a:srgbClr>
            </a:outerShdw>
          </a:effectLst>
        </p:spPr>
      </p:sp>
      <p:sp>
        <p:nvSpPr>
          <p:cNvPr id="6" name="Text 4"/>
          <p:cNvSpPr/>
          <p:nvPr/>
        </p:nvSpPr>
        <p:spPr>
          <a:xfrm>
            <a:off x="256032" y="932688"/>
            <a:ext cx="2761488" cy="438912"/>
          </a:xfrm>
          <a:prstGeom prst="rect">
            <a:avLst/>
          </a:prstGeom>
          <a:noFill/>
          <a:ln/>
        </p:spPr>
        <p:txBody>
          <a:bodyPr wrap="square" lIns="0" tIns="0" rIns="0" bIns="0" rtlCol="0" anchor="ctr"/>
          <a:lstStyle/>
          <a:p>
            <a:pPr marL="0" indent="0" algn="ctr">
              <a:buNone/>
            </a:pPr>
            <a:r>
              <a:rPr lang="en-US" sz="2600" b="1" dirty="0">
                <a:solidFill>
                  <a:srgbClr val="22C55E"/>
                </a:solidFill>
              </a:rPr>
              <a:t>98%</a:t>
            </a:r>
            <a:endParaRPr lang="en-US" sz="2600" dirty="0"/>
          </a:p>
        </p:txBody>
      </p:sp>
      <p:sp>
        <p:nvSpPr>
          <p:cNvPr id="7" name="Text 5"/>
          <p:cNvSpPr/>
          <p:nvPr/>
        </p:nvSpPr>
        <p:spPr>
          <a:xfrm>
            <a:off x="256032" y="1371600"/>
            <a:ext cx="2761488" cy="201168"/>
          </a:xfrm>
          <a:prstGeom prst="rect">
            <a:avLst/>
          </a:prstGeom>
          <a:noFill/>
          <a:ln/>
        </p:spPr>
        <p:txBody>
          <a:bodyPr wrap="square" lIns="0" tIns="0" rIns="0" bIns="0" rtlCol="0" anchor="ctr"/>
          <a:lstStyle/>
          <a:p>
            <a:pPr marL="0" indent="0" algn="ctr">
              <a:buNone/>
            </a:pPr>
            <a:r>
              <a:rPr lang="en-US" sz="950" b="1" dirty="0">
                <a:solidFill>
                  <a:srgbClr val="1A1A2E"/>
                </a:solidFill>
              </a:rPr>
              <a:t>Accuracy (R²)</a:t>
            </a:r>
            <a:endParaRPr lang="en-US" sz="950" dirty="0"/>
          </a:p>
        </p:txBody>
      </p:sp>
      <p:sp>
        <p:nvSpPr>
          <p:cNvPr id="8" name="Text 6"/>
          <p:cNvSpPr/>
          <p:nvPr/>
        </p:nvSpPr>
        <p:spPr>
          <a:xfrm>
            <a:off x="256032" y="1572768"/>
            <a:ext cx="2761488" cy="182880"/>
          </a:xfrm>
          <a:prstGeom prst="rect">
            <a:avLst/>
          </a:prstGeom>
          <a:noFill/>
          <a:ln/>
        </p:spPr>
        <p:txBody>
          <a:bodyPr wrap="square" lIns="0" tIns="0" rIns="0" bIns="0" rtlCol="0" anchor="ctr"/>
          <a:lstStyle/>
          <a:p>
            <a:pPr marL="0" indent="0" algn="ctr">
              <a:buNone/>
            </a:pPr>
            <a:r>
              <a:rPr lang="en-US" sz="800" i="1" dirty="0">
                <a:solidFill>
                  <a:srgbClr val="64748B"/>
                </a:solidFill>
              </a:rPr>
              <a:t>Model explains 98% of all variation</a:t>
            </a:r>
            <a:endParaRPr lang="en-US" sz="800" dirty="0"/>
          </a:p>
        </p:txBody>
      </p:sp>
      <p:sp>
        <p:nvSpPr>
          <p:cNvPr id="9" name="Shape 7"/>
          <p:cNvSpPr/>
          <p:nvPr/>
        </p:nvSpPr>
        <p:spPr>
          <a:xfrm>
            <a:off x="3200400" y="914400"/>
            <a:ext cx="2761488" cy="868680"/>
          </a:xfrm>
          <a:prstGeom prst="rect">
            <a:avLst/>
          </a:prstGeom>
          <a:solidFill>
            <a:srgbClr val="FFFFFF"/>
          </a:solidFill>
          <a:ln w="19050">
            <a:solidFill>
              <a:srgbClr val="1A56DB"/>
            </a:solidFill>
            <a:prstDash val="solid"/>
          </a:ln>
          <a:effectLst>
            <a:outerShdw blurRad="101600" dist="38100" dir="8100000" algn="bl" rotWithShape="0">
              <a:srgbClr val="000000">
                <a:alpha val="12000"/>
              </a:srgbClr>
            </a:outerShdw>
          </a:effectLst>
        </p:spPr>
      </p:sp>
      <p:sp>
        <p:nvSpPr>
          <p:cNvPr id="10" name="Text 8"/>
          <p:cNvSpPr/>
          <p:nvPr/>
        </p:nvSpPr>
        <p:spPr>
          <a:xfrm>
            <a:off x="3200400" y="932688"/>
            <a:ext cx="2761488" cy="438912"/>
          </a:xfrm>
          <a:prstGeom prst="rect">
            <a:avLst/>
          </a:prstGeom>
          <a:noFill/>
          <a:ln/>
        </p:spPr>
        <p:txBody>
          <a:bodyPr wrap="square" lIns="0" tIns="0" rIns="0" bIns="0" rtlCol="0" anchor="ctr"/>
          <a:lstStyle/>
          <a:p>
            <a:pPr marL="0" indent="0" algn="ctr">
              <a:buNone/>
            </a:pPr>
            <a:r>
              <a:rPr lang="en-US" sz="2600" b="1" dirty="0">
                <a:solidFill>
                  <a:srgbClr val="1A56DB"/>
                </a:solidFill>
              </a:rPr>
              <a:t>±4.5 kWh</a:t>
            </a:r>
            <a:endParaRPr lang="en-US" sz="2600" dirty="0"/>
          </a:p>
        </p:txBody>
      </p:sp>
      <p:sp>
        <p:nvSpPr>
          <p:cNvPr id="11" name="Text 9"/>
          <p:cNvSpPr/>
          <p:nvPr/>
        </p:nvSpPr>
        <p:spPr>
          <a:xfrm>
            <a:off x="3200400" y="1371600"/>
            <a:ext cx="2761488" cy="201168"/>
          </a:xfrm>
          <a:prstGeom prst="rect">
            <a:avLst/>
          </a:prstGeom>
          <a:noFill/>
          <a:ln/>
        </p:spPr>
        <p:txBody>
          <a:bodyPr wrap="square" lIns="0" tIns="0" rIns="0" bIns="0" rtlCol="0" anchor="ctr"/>
          <a:lstStyle/>
          <a:p>
            <a:pPr marL="0" indent="0" algn="ctr">
              <a:buNone/>
            </a:pPr>
            <a:r>
              <a:rPr lang="en-US" sz="950" b="1" dirty="0">
                <a:solidFill>
                  <a:srgbClr val="1A1A2E"/>
                </a:solidFill>
              </a:rPr>
              <a:t>Average Error</a:t>
            </a:r>
            <a:endParaRPr lang="en-US" sz="950" dirty="0"/>
          </a:p>
        </p:txBody>
      </p:sp>
      <p:sp>
        <p:nvSpPr>
          <p:cNvPr id="12" name="Text 10"/>
          <p:cNvSpPr/>
          <p:nvPr/>
        </p:nvSpPr>
        <p:spPr>
          <a:xfrm>
            <a:off x="3200400" y="1572768"/>
            <a:ext cx="2761488" cy="182880"/>
          </a:xfrm>
          <a:prstGeom prst="rect">
            <a:avLst/>
          </a:prstGeom>
          <a:noFill/>
          <a:ln/>
        </p:spPr>
        <p:txBody>
          <a:bodyPr wrap="square" lIns="0" tIns="0" rIns="0" bIns="0" rtlCol="0" anchor="ctr"/>
          <a:lstStyle/>
          <a:p>
            <a:pPr marL="0" indent="0" algn="ctr">
              <a:buNone/>
            </a:pPr>
            <a:r>
              <a:rPr lang="en-US" sz="800" i="1" dirty="0">
                <a:solidFill>
                  <a:srgbClr val="64748B"/>
                </a:solidFill>
              </a:rPr>
              <a:t>Predictions off by ~4.5 kWh on average</a:t>
            </a:r>
            <a:endParaRPr lang="en-US" sz="800" dirty="0"/>
          </a:p>
        </p:txBody>
      </p:sp>
      <p:sp>
        <p:nvSpPr>
          <p:cNvPr id="13" name="Shape 11"/>
          <p:cNvSpPr/>
          <p:nvPr/>
        </p:nvSpPr>
        <p:spPr>
          <a:xfrm>
            <a:off x="6144768" y="914400"/>
            <a:ext cx="2761488" cy="868680"/>
          </a:xfrm>
          <a:prstGeom prst="rect">
            <a:avLst/>
          </a:prstGeom>
          <a:solidFill>
            <a:srgbClr val="FFFFFF"/>
          </a:solidFill>
          <a:ln w="19050">
            <a:solidFill>
              <a:srgbClr val="0E9F9F"/>
            </a:solidFill>
            <a:prstDash val="solid"/>
          </a:ln>
          <a:effectLst>
            <a:outerShdw blurRad="101600" dist="38100" dir="8100000" algn="bl" rotWithShape="0">
              <a:srgbClr val="000000">
                <a:alpha val="12000"/>
              </a:srgbClr>
            </a:outerShdw>
          </a:effectLst>
        </p:spPr>
      </p:sp>
      <p:sp>
        <p:nvSpPr>
          <p:cNvPr id="14" name="Text 12"/>
          <p:cNvSpPr/>
          <p:nvPr/>
        </p:nvSpPr>
        <p:spPr>
          <a:xfrm>
            <a:off x="6144768" y="932688"/>
            <a:ext cx="2761488" cy="438912"/>
          </a:xfrm>
          <a:prstGeom prst="rect">
            <a:avLst/>
          </a:prstGeom>
          <a:noFill/>
          <a:ln/>
        </p:spPr>
        <p:txBody>
          <a:bodyPr wrap="square" lIns="0" tIns="0" rIns="0" bIns="0" rtlCol="0" anchor="ctr"/>
          <a:lstStyle/>
          <a:p>
            <a:pPr marL="0" indent="0" algn="ctr">
              <a:buNone/>
            </a:pPr>
            <a:r>
              <a:rPr lang="en-US" sz="2600" b="1" dirty="0">
                <a:solidFill>
                  <a:srgbClr val="0E9F9F"/>
                </a:solidFill>
              </a:rPr>
              <a:t>±2.8 kWh</a:t>
            </a:r>
            <a:endParaRPr lang="en-US" sz="2600" dirty="0"/>
          </a:p>
        </p:txBody>
      </p:sp>
      <p:sp>
        <p:nvSpPr>
          <p:cNvPr id="15" name="Text 13"/>
          <p:cNvSpPr/>
          <p:nvPr/>
        </p:nvSpPr>
        <p:spPr>
          <a:xfrm>
            <a:off x="6144768" y="1371600"/>
            <a:ext cx="2761488" cy="201168"/>
          </a:xfrm>
          <a:prstGeom prst="rect">
            <a:avLst/>
          </a:prstGeom>
          <a:noFill/>
          <a:ln/>
        </p:spPr>
        <p:txBody>
          <a:bodyPr wrap="square" lIns="0" tIns="0" rIns="0" bIns="0" rtlCol="0" anchor="ctr"/>
          <a:lstStyle/>
          <a:p>
            <a:pPr marL="0" indent="0" algn="ctr">
              <a:buNone/>
            </a:pPr>
            <a:r>
              <a:rPr lang="en-US" sz="950" b="1" dirty="0">
                <a:solidFill>
                  <a:srgbClr val="1A1A2E"/>
                </a:solidFill>
              </a:rPr>
              <a:t>Typical Error</a:t>
            </a:r>
            <a:endParaRPr lang="en-US" sz="950" dirty="0"/>
          </a:p>
        </p:txBody>
      </p:sp>
      <p:sp>
        <p:nvSpPr>
          <p:cNvPr id="16" name="Text 14"/>
          <p:cNvSpPr/>
          <p:nvPr/>
        </p:nvSpPr>
        <p:spPr>
          <a:xfrm>
            <a:off x="6144768" y="1572768"/>
            <a:ext cx="2761488" cy="182880"/>
          </a:xfrm>
          <a:prstGeom prst="rect">
            <a:avLst/>
          </a:prstGeom>
          <a:noFill/>
          <a:ln/>
        </p:spPr>
        <p:txBody>
          <a:bodyPr wrap="square" lIns="0" tIns="0" rIns="0" bIns="0" rtlCol="0" anchor="ctr"/>
          <a:lstStyle/>
          <a:p>
            <a:pPr marL="0" indent="0" algn="ctr">
              <a:buNone/>
            </a:pPr>
            <a:r>
              <a:rPr lang="en-US" sz="800" i="1" dirty="0">
                <a:solidFill>
                  <a:srgbClr val="64748B"/>
                </a:solidFill>
              </a:rPr>
              <a:t>Most predictions within 2.8 kWh</a:t>
            </a:r>
            <a:endParaRPr lang="en-US" sz="800" dirty="0"/>
          </a:p>
        </p:txBody>
      </p:sp>
      <p:pic>
        <p:nvPicPr>
          <p:cNvPr id="17" name="Image 0" descr="preencoded.png"/>
          <p:cNvPicPr>
            <a:picLocks noChangeAspect="1"/>
          </p:cNvPicPr>
          <p:nvPr/>
        </p:nvPicPr>
        <p:blipFill>
          <a:blip r:embed="rId3"/>
          <a:stretch>
            <a:fillRect/>
          </a:stretch>
        </p:blipFill>
        <p:spPr>
          <a:xfrm>
            <a:off x="256032" y="1901952"/>
            <a:ext cx="4251960" cy="2450592"/>
          </a:xfrm>
          <a:prstGeom prst="rect">
            <a:avLst/>
          </a:prstGeom>
        </p:spPr>
      </p:pic>
      <p:pic>
        <p:nvPicPr>
          <p:cNvPr id="18" name="Image 1" descr="preencoded.png"/>
          <p:cNvPicPr>
            <a:picLocks noChangeAspect="1"/>
          </p:cNvPicPr>
          <p:nvPr/>
        </p:nvPicPr>
        <p:blipFill>
          <a:blip r:embed="rId4"/>
          <a:stretch>
            <a:fillRect/>
          </a:stretch>
        </p:blipFill>
        <p:spPr>
          <a:xfrm>
            <a:off x="4663440" y="1901952"/>
            <a:ext cx="4251960" cy="2450592"/>
          </a:xfrm>
          <a:prstGeom prst="rect">
            <a:avLst/>
          </a:prstGeom>
        </p:spPr>
      </p:pic>
      <p:sp>
        <p:nvSpPr>
          <p:cNvPr id="19" name="Text 15"/>
          <p:cNvSpPr/>
          <p:nvPr/>
        </p:nvSpPr>
        <p:spPr>
          <a:xfrm>
            <a:off x="256032" y="4370832"/>
            <a:ext cx="4251960" cy="201168"/>
          </a:xfrm>
          <a:prstGeom prst="rect">
            <a:avLst/>
          </a:prstGeom>
          <a:noFill/>
          <a:ln/>
        </p:spPr>
        <p:txBody>
          <a:bodyPr wrap="square" lIns="0" tIns="0" rIns="0" bIns="0" rtlCol="0" anchor="ctr"/>
          <a:lstStyle/>
          <a:p>
            <a:pPr marL="0" indent="0" algn="ctr">
              <a:buNone/>
            </a:pPr>
            <a:r>
              <a:rPr lang="en-US" sz="850" i="1" dirty="0">
                <a:solidFill>
                  <a:srgbClr val="64748B"/>
                </a:solidFill>
              </a:rPr>
              <a:t>Predicted vs Actual Usage — points follow the diagonal = accurate</a:t>
            </a:r>
            <a:endParaRPr lang="en-US" sz="850" dirty="0"/>
          </a:p>
        </p:txBody>
      </p:sp>
      <p:sp>
        <p:nvSpPr>
          <p:cNvPr id="20" name="Text 16"/>
          <p:cNvSpPr/>
          <p:nvPr/>
        </p:nvSpPr>
        <p:spPr>
          <a:xfrm>
            <a:off x="4663440" y="4370832"/>
            <a:ext cx="4251960" cy="201168"/>
          </a:xfrm>
          <a:prstGeom prst="rect">
            <a:avLst/>
          </a:prstGeom>
          <a:noFill/>
          <a:ln/>
        </p:spPr>
        <p:txBody>
          <a:bodyPr wrap="square" lIns="0" tIns="0" rIns="0" bIns="0" rtlCol="0" anchor="ctr"/>
          <a:lstStyle/>
          <a:p>
            <a:pPr marL="0" indent="0" algn="ctr">
              <a:buNone/>
            </a:pPr>
            <a:r>
              <a:rPr lang="en-US" sz="850" i="1" dirty="0">
                <a:solidFill>
                  <a:srgbClr val="64748B"/>
                </a:solidFill>
              </a:rPr>
              <a:t>Error distribution — bell curve centred at zero = unbiased model</a:t>
            </a:r>
            <a:endParaRPr lang="en-US" sz="850" dirty="0"/>
          </a:p>
        </p:txBody>
      </p:sp>
      <p:sp>
        <p:nvSpPr>
          <p:cNvPr id="21" name="Shape 17"/>
          <p:cNvSpPr/>
          <p:nvPr/>
        </p:nvSpPr>
        <p:spPr>
          <a:xfrm>
            <a:off x="256032" y="4626864"/>
            <a:ext cx="8631936" cy="384048"/>
          </a:xfrm>
          <a:prstGeom prst="rect">
            <a:avLst/>
          </a:prstGeom>
          <a:solidFill>
            <a:srgbClr val="22C55E">
              <a:alpha val="12000"/>
            </a:srgbClr>
          </a:solidFill>
          <a:ln w="15240">
            <a:solidFill>
              <a:srgbClr val="22C55E"/>
            </a:solidFill>
            <a:prstDash val="solid"/>
          </a:ln>
        </p:spPr>
      </p:sp>
      <p:sp>
        <p:nvSpPr>
          <p:cNvPr id="22" name="Text 18"/>
          <p:cNvSpPr/>
          <p:nvPr/>
        </p:nvSpPr>
        <p:spPr>
          <a:xfrm>
            <a:off x="347472" y="4626864"/>
            <a:ext cx="8449056" cy="384048"/>
          </a:xfrm>
          <a:prstGeom prst="rect">
            <a:avLst/>
          </a:prstGeom>
          <a:noFill/>
          <a:ln/>
        </p:spPr>
        <p:txBody>
          <a:bodyPr wrap="square" lIns="0" tIns="0" rIns="0" bIns="0" rtlCol="0" anchor="ctr"/>
          <a:lstStyle/>
          <a:p>
            <a:pPr marL="0" indent="0">
              <a:buNone/>
            </a:pPr>
            <a:r>
              <a:rPr lang="en-US" sz="1000" dirty="0">
                <a:solidFill>
                  <a:srgbClr val="1A1A2E"/>
                </a:solidFill>
              </a:rPr>
              <a:t>💡  The model predicts electricity usage with 98% accuracy. Errors are small and unbiased — trustworthy enough for procurement planning and cost forecasting.</a:t>
            </a:r>
            <a:endParaRPr lang="en-US" sz="1000" dirty="0"/>
          </a:p>
        </p:txBody>
      </p:sp>
      <p:sp>
        <p:nvSpPr>
          <p:cNvPr id="23" name="Shape 19"/>
          <p:cNvSpPr/>
          <p:nvPr/>
        </p:nvSpPr>
        <p:spPr>
          <a:xfrm>
            <a:off x="0" y="4919472"/>
            <a:ext cx="9144000" cy="224028"/>
          </a:xfrm>
          <a:prstGeom prst="rect">
            <a:avLst/>
          </a:prstGeom>
          <a:solidFill>
            <a:srgbClr val="0D1B3E"/>
          </a:solidFill>
          <a:ln w="12700">
            <a:solidFill>
              <a:srgbClr val="0D1B3E"/>
            </a:solidFill>
            <a:prstDash val="solid"/>
          </a:ln>
        </p:spPr>
      </p:sp>
      <p:sp>
        <p:nvSpPr>
          <p:cNvPr id="24" name="Text 20"/>
          <p:cNvSpPr/>
          <p:nvPr/>
        </p:nvSpPr>
        <p:spPr>
          <a:xfrm>
            <a:off x="274320" y="4919472"/>
            <a:ext cx="8595360" cy="224028"/>
          </a:xfrm>
          <a:prstGeom prst="rect">
            <a:avLst/>
          </a:prstGeom>
          <a:noFill/>
          <a:ln/>
        </p:spPr>
        <p:txBody>
          <a:bodyPr wrap="square" lIns="0" tIns="0" rIns="0" bIns="0" rtlCol="0" anchor="ctr"/>
          <a:lstStyle/>
          <a:p>
            <a:pPr marL="0" indent="0">
              <a:buNone/>
            </a:pPr>
            <a:r>
              <a:rPr lang="en-US" sz="850" dirty="0">
                <a:solidFill>
                  <a:srgbClr val="A0B8D8"/>
                </a:solidFill>
              </a:rPr>
              <a:t>Steel Industry Electricity Consumption | ML Analysis Project</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Is Our Prediction Model Working Correctly?</a:t>
            </a:r>
            <a:endParaRPr lang="en-US" sz="2200" dirty="0"/>
          </a:p>
        </p:txBody>
      </p:sp>
      <p:sp>
        <p:nvSpPr>
          <p:cNvPr id="4" name="Text 2"/>
          <p:cNvSpPr/>
          <p:nvPr/>
        </p:nvSpPr>
        <p:spPr>
          <a:xfrm>
            <a:off x="320040" y="658368"/>
            <a:ext cx="8686800" cy="256032"/>
          </a:xfrm>
          <a:prstGeom prst="rect">
            <a:avLst/>
          </a:prstGeom>
          <a:noFill/>
          <a:ln/>
        </p:spPr>
        <p:txBody>
          <a:bodyPr wrap="square" lIns="0" tIns="0" rIns="0" bIns="0" rtlCol="0" anchor="ctr"/>
          <a:lstStyle/>
          <a:p>
            <a:pPr marL="0" indent="0">
              <a:buNone/>
            </a:pPr>
            <a:r>
              <a:rPr lang="en-US" sz="1050" i="1" dirty="0">
                <a:solidFill>
                  <a:srgbClr val="3B9FE7"/>
                </a:solidFill>
              </a:rPr>
              <a:t>Checking that the model's errors are small, random and unbiased</a:t>
            </a:r>
            <a:endParaRPr lang="en-US" sz="1050" dirty="0"/>
          </a:p>
        </p:txBody>
      </p:sp>
      <p:pic>
        <p:nvPicPr>
          <p:cNvPr id="5" name="Image 0" descr="preencoded.png"/>
          <p:cNvPicPr>
            <a:picLocks noChangeAspect="1"/>
          </p:cNvPicPr>
          <p:nvPr/>
        </p:nvPicPr>
        <p:blipFill>
          <a:blip r:embed="rId3"/>
          <a:stretch>
            <a:fillRect/>
          </a:stretch>
        </p:blipFill>
        <p:spPr>
          <a:xfrm>
            <a:off x="256032" y="868680"/>
            <a:ext cx="5486400" cy="3291840"/>
          </a:xfrm>
          <a:prstGeom prst="rect">
            <a:avLst/>
          </a:prstGeom>
        </p:spPr>
      </p:pic>
      <p:sp>
        <p:nvSpPr>
          <p:cNvPr id="6" name="Shape 3"/>
          <p:cNvSpPr/>
          <p:nvPr/>
        </p:nvSpPr>
        <p:spPr>
          <a:xfrm>
            <a:off x="5989320" y="868680"/>
            <a:ext cx="2926080" cy="3291840"/>
          </a:xfrm>
          <a:prstGeom prst="rect">
            <a:avLst/>
          </a:prstGeom>
          <a:solidFill>
            <a:srgbClr val="FFFFFF"/>
          </a:solidFill>
          <a:ln w="19050">
            <a:solidFill>
              <a:srgbClr val="1A56DB"/>
            </a:solidFill>
            <a:prstDash val="solid"/>
          </a:ln>
          <a:effectLst>
            <a:outerShdw blurRad="101600" dist="38100" dir="8100000" algn="bl" rotWithShape="0">
              <a:srgbClr val="000000">
                <a:alpha val="12000"/>
              </a:srgbClr>
            </a:outerShdw>
          </a:effectLst>
        </p:spPr>
      </p:sp>
      <p:sp>
        <p:nvSpPr>
          <p:cNvPr id="7" name="Shape 4"/>
          <p:cNvSpPr/>
          <p:nvPr/>
        </p:nvSpPr>
        <p:spPr>
          <a:xfrm>
            <a:off x="5989320" y="868680"/>
            <a:ext cx="2926080" cy="320040"/>
          </a:xfrm>
          <a:prstGeom prst="rect">
            <a:avLst/>
          </a:prstGeom>
          <a:solidFill>
            <a:srgbClr val="1A56DB"/>
          </a:solidFill>
          <a:ln w="12700">
            <a:solidFill>
              <a:srgbClr val="1A56DB"/>
            </a:solidFill>
            <a:prstDash val="solid"/>
          </a:ln>
        </p:spPr>
      </p:sp>
      <p:sp>
        <p:nvSpPr>
          <p:cNvPr id="8" name="Text 5"/>
          <p:cNvSpPr/>
          <p:nvPr/>
        </p:nvSpPr>
        <p:spPr>
          <a:xfrm>
            <a:off x="6053328" y="868680"/>
            <a:ext cx="2798064" cy="320040"/>
          </a:xfrm>
          <a:prstGeom prst="rect">
            <a:avLst/>
          </a:prstGeom>
          <a:noFill/>
          <a:ln/>
        </p:spPr>
        <p:txBody>
          <a:bodyPr wrap="square" lIns="0" tIns="0" rIns="0" bIns="0" rtlCol="0" anchor="ctr"/>
          <a:lstStyle/>
          <a:p>
            <a:pPr marL="0" indent="0">
              <a:buNone/>
            </a:pPr>
            <a:r>
              <a:rPr lang="en-US" sz="1100" b="1" dirty="0">
                <a:solidFill>
                  <a:srgbClr val="FFFFFF"/>
                </a:solidFill>
              </a:rPr>
              <a:t>Reading This Chart</a:t>
            </a:r>
            <a:endParaRPr lang="en-US" sz="1100" dirty="0"/>
          </a:p>
        </p:txBody>
      </p:sp>
      <p:sp>
        <p:nvSpPr>
          <p:cNvPr id="9" name="Text 6"/>
          <p:cNvSpPr/>
          <p:nvPr/>
        </p:nvSpPr>
        <p:spPr>
          <a:xfrm>
            <a:off x="6080760" y="1261872"/>
            <a:ext cx="2743200" cy="201168"/>
          </a:xfrm>
          <a:prstGeom prst="rect">
            <a:avLst/>
          </a:prstGeom>
          <a:noFill/>
          <a:ln/>
        </p:spPr>
        <p:txBody>
          <a:bodyPr wrap="square" lIns="0" tIns="0" rIns="0" bIns="0" rtlCol="0" anchor="ctr"/>
          <a:lstStyle/>
          <a:p>
            <a:pPr marL="0" indent="0">
              <a:buNone/>
            </a:pPr>
            <a:r>
              <a:rPr lang="en-US" sz="950" b="1" dirty="0">
                <a:solidFill>
                  <a:srgbClr val="0E9F9F"/>
                </a:solidFill>
              </a:rPr>
              <a:t>Errors should look random</a:t>
            </a:r>
            <a:endParaRPr lang="en-US" sz="950" dirty="0"/>
          </a:p>
        </p:txBody>
      </p:sp>
      <p:sp>
        <p:nvSpPr>
          <p:cNvPr id="10" name="Text 7"/>
          <p:cNvSpPr/>
          <p:nvPr/>
        </p:nvSpPr>
        <p:spPr>
          <a:xfrm>
            <a:off x="6080760" y="1463040"/>
            <a:ext cx="2743200" cy="274320"/>
          </a:xfrm>
          <a:prstGeom prst="rect">
            <a:avLst/>
          </a:prstGeom>
          <a:noFill/>
          <a:ln/>
        </p:spPr>
        <p:txBody>
          <a:bodyPr wrap="square" lIns="0" tIns="0" rIns="0" bIns="0" rtlCol="0" anchor="ctr"/>
          <a:lstStyle/>
          <a:p>
            <a:pPr marL="0" indent="0">
              <a:buNone/>
            </a:pPr>
            <a:r>
              <a:rPr lang="en-US" sz="880" dirty="0">
                <a:solidFill>
                  <a:srgbClr val="1A1A2E"/>
                </a:solidFill>
              </a:rPr>
              <a:t>If the model is good, gaps between predicted and actual values should have no pattern — just random scatter.</a:t>
            </a:r>
            <a:endParaRPr lang="en-US" sz="880" dirty="0"/>
          </a:p>
        </p:txBody>
      </p:sp>
      <p:sp>
        <p:nvSpPr>
          <p:cNvPr id="11" name="Text 8"/>
          <p:cNvSpPr/>
          <p:nvPr/>
        </p:nvSpPr>
        <p:spPr>
          <a:xfrm>
            <a:off x="6080760" y="1755648"/>
            <a:ext cx="2743200" cy="201168"/>
          </a:xfrm>
          <a:prstGeom prst="rect">
            <a:avLst/>
          </a:prstGeom>
          <a:noFill/>
          <a:ln/>
        </p:spPr>
        <p:txBody>
          <a:bodyPr wrap="square" lIns="0" tIns="0" rIns="0" bIns="0" rtlCol="0" anchor="ctr"/>
          <a:lstStyle/>
          <a:p>
            <a:pPr marL="0" indent="0">
              <a:buNone/>
            </a:pPr>
            <a:r>
              <a:rPr lang="en-US" sz="950" b="1" dirty="0">
                <a:solidFill>
                  <a:srgbClr val="22C55E"/>
                </a:solidFill>
              </a:rPr>
              <a:t>No big systematic bias</a:t>
            </a:r>
            <a:endParaRPr lang="en-US" sz="950" dirty="0"/>
          </a:p>
        </p:txBody>
      </p:sp>
      <p:sp>
        <p:nvSpPr>
          <p:cNvPr id="12" name="Text 9"/>
          <p:cNvSpPr/>
          <p:nvPr/>
        </p:nvSpPr>
        <p:spPr>
          <a:xfrm>
            <a:off x="6080760" y="1956816"/>
            <a:ext cx="2743200" cy="274320"/>
          </a:xfrm>
          <a:prstGeom prst="rect">
            <a:avLst/>
          </a:prstGeom>
          <a:noFill/>
          <a:ln/>
        </p:spPr>
        <p:txBody>
          <a:bodyPr wrap="square" lIns="0" tIns="0" rIns="0" bIns="0" rtlCol="0" anchor="ctr"/>
          <a:lstStyle/>
          <a:p>
            <a:pPr marL="0" indent="0">
              <a:buNone/>
            </a:pPr>
            <a:r>
              <a:rPr lang="en-US" sz="880" dirty="0">
                <a:solidFill>
                  <a:srgbClr val="1A1A2E"/>
                </a:solidFill>
              </a:rPr>
              <a:t>The model should not always over-predict or under-predict. Errors should be balanced above and below zero.</a:t>
            </a:r>
            <a:endParaRPr lang="en-US" sz="880" dirty="0"/>
          </a:p>
        </p:txBody>
      </p:sp>
      <p:sp>
        <p:nvSpPr>
          <p:cNvPr id="13" name="Text 10"/>
          <p:cNvSpPr/>
          <p:nvPr/>
        </p:nvSpPr>
        <p:spPr>
          <a:xfrm>
            <a:off x="6080760" y="2249424"/>
            <a:ext cx="2743200" cy="201168"/>
          </a:xfrm>
          <a:prstGeom prst="rect">
            <a:avLst/>
          </a:prstGeom>
          <a:noFill/>
          <a:ln/>
        </p:spPr>
        <p:txBody>
          <a:bodyPr wrap="square" lIns="0" tIns="0" rIns="0" bIns="0" rtlCol="0" anchor="ctr"/>
          <a:lstStyle/>
          <a:p>
            <a:pPr marL="0" indent="0">
              <a:buNone/>
            </a:pPr>
            <a:r>
              <a:rPr lang="en-US" sz="950" b="1" dirty="0">
                <a:solidFill>
                  <a:srgbClr val="1A56DB"/>
                </a:solidFill>
              </a:rPr>
              <a:t>What the chart confirms</a:t>
            </a:r>
            <a:endParaRPr lang="en-US" sz="950" dirty="0"/>
          </a:p>
        </p:txBody>
      </p:sp>
      <p:sp>
        <p:nvSpPr>
          <p:cNvPr id="14" name="Text 11"/>
          <p:cNvSpPr/>
          <p:nvPr/>
        </p:nvSpPr>
        <p:spPr>
          <a:xfrm>
            <a:off x="6080760" y="2450592"/>
            <a:ext cx="2743200" cy="274320"/>
          </a:xfrm>
          <a:prstGeom prst="rect">
            <a:avLst/>
          </a:prstGeom>
          <a:noFill/>
          <a:ln/>
        </p:spPr>
        <p:txBody>
          <a:bodyPr wrap="square" lIns="0" tIns="0" rIns="0" bIns="0" rtlCol="0" anchor="ctr"/>
          <a:lstStyle/>
          <a:p>
            <a:pPr marL="0" indent="0">
              <a:buNone/>
            </a:pPr>
            <a:r>
              <a:rPr lang="en-US" sz="880" dirty="0">
                <a:solidFill>
                  <a:srgbClr val="1A1A2E"/>
                </a:solidFill>
              </a:rPr>
              <a:t>Most errors cluster tightly around zero across all predicted values — the model is well-behaved and reliable.</a:t>
            </a:r>
            <a:endParaRPr lang="en-US" sz="880" dirty="0"/>
          </a:p>
        </p:txBody>
      </p:sp>
      <p:sp>
        <p:nvSpPr>
          <p:cNvPr id="15" name="Text 12"/>
          <p:cNvSpPr/>
          <p:nvPr/>
        </p:nvSpPr>
        <p:spPr>
          <a:xfrm>
            <a:off x="6080760" y="2743200"/>
            <a:ext cx="2743200" cy="201168"/>
          </a:xfrm>
          <a:prstGeom prst="rect">
            <a:avLst/>
          </a:prstGeom>
          <a:noFill/>
          <a:ln/>
        </p:spPr>
        <p:txBody>
          <a:bodyPr wrap="square" lIns="0" tIns="0" rIns="0" bIns="0" rtlCol="0" anchor="ctr"/>
          <a:lstStyle/>
          <a:p>
            <a:pPr marL="0" indent="0">
              <a:buNone/>
            </a:pPr>
            <a:r>
              <a:rPr lang="en-US" sz="950" b="1" dirty="0">
                <a:solidFill>
                  <a:srgbClr val="F59E42"/>
                </a:solidFill>
              </a:rPr>
              <a:t>A few outliers at low values</a:t>
            </a:r>
            <a:endParaRPr lang="en-US" sz="950" dirty="0"/>
          </a:p>
        </p:txBody>
      </p:sp>
      <p:sp>
        <p:nvSpPr>
          <p:cNvPr id="16" name="Text 13"/>
          <p:cNvSpPr/>
          <p:nvPr/>
        </p:nvSpPr>
        <p:spPr>
          <a:xfrm>
            <a:off x="6080760" y="2944368"/>
            <a:ext cx="2743200" cy="274320"/>
          </a:xfrm>
          <a:prstGeom prst="rect">
            <a:avLst/>
          </a:prstGeom>
          <a:noFill/>
          <a:ln/>
        </p:spPr>
        <p:txBody>
          <a:bodyPr wrap="square" lIns="0" tIns="0" rIns="0" bIns="0" rtlCol="0" anchor="ctr"/>
          <a:lstStyle/>
          <a:p>
            <a:pPr marL="0" indent="0">
              <a:buNone/>
            </a:pPr>
            <a:r>
              <a:rPr lang="en-US" sz="880" dirty="0">
                <a:solidFill>
                  <a:srgbClr val="1A1A2E"/>
                </a:solidFill>
              </a:rPr>
              <a:t>A few high errors appear at very low usage values (unusual operating conditions). These don't affect overall quality.</a:t>
            </a:r>
            <a:endParaRPr lang="en-US" sz="880" dirty="0"/>
          </a:p>
        </p:txBody>
      </p:sp>
      <p:sp>
        <p:nvSpPr>
          <p:cNvPr id="17" name="Shape 14"/>
          <p:cNvSpPr/>
          <p:nvPr/>
        </p:nvSpPr>
        <p:spPr>
          <a:xfrm>
            <a:off x="256032" y="4233672"/>
            <a:ext cx="8613648" cy="384048"/>
          </a:xfrm>
          <a:prstGeom prst="rect">
            <a:avLst/>
          </a:prstGeom>
          <a:solidFill>
            <a:srgbClr val="1A56DB">
              <a:alpha val="12000"/>
            </a:srgbClr>
          </a:solidFill>
          <a:ln w="15240">
            <a:solidFill>
              <a:srgbClr val="1A56DB"/>
            </a:solidFill>
            <a:prstDash val="solid"/>
          </a:ln>
        </p:spPr>
      </p:sp>
      <p:sp>
        <p:nvSpPr>
          <p:cNvPr id="18" name="Text 15"/>
          <p:cNvSpPr/>
          <p:nvPr/>
        </p:nvSpPr>
        <p:spPr>
          <a:xfrm>
            <a:off x="347472" y="4233672"/>
            <a:ext cx="8430768" cy="384048"/>
          </a:xfrm>
          <a:prstGeom prst="rect">
            <a:avLst/>
          </a:prstGeom>
          <a:noFill/>
          <a:ln/>
        </p:spPr>
        <p:txBody>
          <a:bodyPr wrap="square" lIns="0" tIns="0" rIns="0" bIns="0" rtlCol="0" anchor="ctr"/>
          <a:lstStyle/>
          <a:p>
            <a:pPr marL="0" indent="0">
              <a:buNone/>
            </a:pPr>
            <a:r>
              <a:rPr lang="en-US" sz="1000" dirty="0">
                <a:solidFill>
                  <a:srgbClr val="1A1A2E"/>
                </a:solidFill>
              </a:rPr>
              <a:t>💡  The residuals chart confirms our prediction model is working correctly — errors are small and random, meaning forecasts are reliable for operational planning.</a:t>
            </a:r>
            <a:endParaRPr lang="en-US" sz="1000" dirty="0"/>
          </a:p>
        </p:txBody>
      </p:sp>
      <p:sp>
        <p:nvSpPr>
          <p:cNvPr id="19" name="Shape 16"/>
          <p:cNvSpPr/>
          <p:nvPr/>
        </p:nvSpPr>
        <p:spPr>
          <a:xfrm>
            <a:off x="0" y="4919472"/>
            <a:ext cx="9144000" cy="224028"/>
          </a:xfrm>
          <a:prstGeom prst="rect">
            <a:avLst/>
          </a:prstGeom>
          <a:solidFill>
            <a:srgbClr val="0D1B3E"/>
          </a:solidFill>
          <a:ln w="12700">
            <a:solidFill>
              <a:srgbClr val="0D1B3E"/>
            </a:solidFill>
            <a:prstDash val="solid"/>
          </a:ln>
        </p:spPr>
      </p:sp>
      <p:sp>
        <p:nvSpPr>
          <p:cNvPr id="20" name="Text 17"/>
          <p:cNvSpPr/>
          <p:nvPr/>
        </p:nvSpPr>
        <p:spPr>
          <a:xfrm>
            <a:off x="274320" y="4919472"/>
            <a:ext cx="8595360" cy="224028"/>
          </a:xfrm>
          <a:prstGeom prst="rect">
            <a:avLst/>
          </a:prstGeom>
          <a:noFill/>
          <a:ln/>
        </p:spPr>
        <p:txBody>
          <a:bodyPr wrap="square" lIns="0" tIns="0" rIns="0" bIns="0" rtlCol="0" anchor="ctr"/>
          <a:lstStyle/>
          <a:p>
            <a:pPr marL="0" indent="0">
              <a:buNone/>
            </a:pPr>
            <a:r>
              <a:rPr lang="en-US" sz="850" dirty="0">
                <a:solidFill>
                  <a:srgbClr val="A0B8D8"/>
                </a:solidFill>
              </a:rPr>
              <a:t>Steel Industry Electricity Consumption | ML Analysis Project</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r>
              <a:rPr lang="en-US" sz="1600" b="1" dirty="0">
                <a:solidFill>
                  <a:schemeClr val="bg1"/>
                </a:solidFill>
              </a:rPr>
              <a:t>Predict high-cost electricity hours to reduce operational energy expenses and improve planning.</a:t>
            </a:r>
            <a:endParaRPr lang="en-US" sz="1600" dirty="0">
              <a:solidFill>
                <a:schemeClr val="bg1"/>
              </a:solidFill>
            </a:endParaRPr>
          </a:p>
        </p:txBody>
      </p:sp>
      <p:sp>
        <p:nvSpPr>
          <p:cNvPr id="4" name="Text 2"/>
          <p:cNvSpPr/>
          <p:nvPr/>
        </p:nvSpPr>
        <p:spPr>
          <a:xfrm>
            <a:off x="320040" y="658368"/>
            <a:ext cx="8686800" cy="256032"/>
          </a:xfrm>
          <a:prstGeom prst="rect">
            <a:avLst/>
          </a:prstGeom>
          <a:noFill/>
          <a:ln/>
        </p:spPr>
        <p:txBody>
          <a:bodyPr wrap="square" lIns="0" tIns="0" rIns="0" bIns="0" rtlCol="0" anchor="ctr"/>
          <a:lstStyle/>
          <a:p>
            <a:pPr marL="0" indent="0">
              <a:buNone/>
            </a:pPr>
            <a:r>
              <a:rPr lang="en-US" sz="1050" i="1" dirty="0">
                <a:solidFill>
                  <a:srgbClr val="3B9FE7"/>
                </a:solidFill>
              </a:rPr>
              <a:t>Classification model — identifying expensive hours in advance</a:t>
            </a:r>
            <a:endParaRPr lang="en-US" sz="1050" dirty="0"/>
          </a:p>
        </p:txBody>
      </p:sp>
      <p:sp>
        <p:nvSpPr>
          <p:cNvPr id="5" name="Shape 3"/>
          <p:cNvSpPr/>
          <p:nvPr/>
        </p:nvSpPr>
        <p:spPr>
          <a:xfrm>
            <a:off x="352394" y="982980"/>
            <a:ext cx="1567492" cy="612648"/>
          </a:xfrm>
          <a:prstGeom prst="rect">
            <a:avLst/>
          </a:prstGeom>
          <a:solidFill>
            <a:srgbClr val="FFFFFF"/>
          </a:solidFill>
          <a:ln w="19050">
            <a:solidFill>
              <a:srgbClr val="22C55E"/>
            </a:solidFill>
            <a:prstDash val="solid"/>
          </a:ln>
          <a:effectLst>
            <a:outerShdw blurRad="101600" dist="38100" dir="8100000" algn="bl" rotWithShape="0">
              <a:srgbClr val="000000">
                <a:alpha val="12000"/>
              </a:srgbClr>
            </a:outerShdw>
          </a:effectLst>
        </p:spPr>
      </p:sp>
      <p:sp>
        <p:nvSpPr>
          <p:cNvPr id="6" name="Text 4"/>
          <p:cNvSpPr/>
          <p:nvPr/>
        </p:nvSpPr>
        <p:spPr>
          <a:xfrm>
            <a:off x="583808" y="987552"/>
            <a:ext cx="928469" cy="365760"/>
          </a:xfrm>
          <a:prstGeom prst="rect">
            <a:avLst/>
          </a:prstGeom>
          <a:noFill/>
          <a:ln/>
        </p:spPr>
        <p:txBody>
          <a:bodyPr wrap="square" lIns="0" tIns="0" rIns="0" bIns="0" rtlCol="0" anchor="ctr"/>
          <a:lstStyle/>
          <a:p>
            <a:pPr marL="0" indent="0" algn="ctr">
              <a:buNone/>
            </a:pPr>
            <a:r>
              <a:rPr lang="en-US" b="1" dirty="0">
                <a:solidFill>
                  <a:srgbClr val="22C55E"/>
                </a:solidFill>
              </a:rPr>
              <a:t>98%</a:t>
            </a:r>
            <a:endParaRPr lang="en-US" dirty="0"/>
          </a:p>
        </p:txBody>
      </p:sp>
      <p:sp>
        <p:nvSpPr>
          <p:cNvPr id="7" name="Text 5"/>
          <p:cNvSpPr/>
          <p:nvPr/>
        </p:nvSpPr>
        <p:spPr>
          <a:xfrm>
            <a:off x="583808" y="1312164"/>
            <a:ext cx="977705" cy="228600"/>
          </a:xfrm>
          <a:prstGeom prst="rect">
            <a:avLst/>
          </a:prstGeom>
          <a:noFill/>
          <a:ln/>
        </p:spPr>
        <p:txBody>
          <a:bodyPr wrap="square" lIns="0" tIns="0" rIns="0" bIns="0" rtlCol="0" anchor="ctr"/>
          <a:lstStyle/>
          <a:p>
            <a:pPr marL="0" indent="0" algn="ctr">
              <a:buNone/>
            </a:pPr>
            <a:r>
              <a:rPr lang="en-US" sz="950" b="1" dirty="0">
                <a:solidFill>
                  <a:srgbClr val="1A1A2E"/>
                </a:solidFill>
              </a:rPr>
              <a:t>Accuracy</a:t>
            </a:r>
            <a:endParaRPr lang="en-US" sz="950" dirty="0"/>
          </a:p>
        </p:txBody>
      </p:sp>
      <p:sp>
        <p:nvSpPr>
          <p:cNvPr id="8" name="Shape 6"/>
          <p:cNvSpPr/>
          <p:nvPr/>
        </p:nvSpPr>
        <p:spPr>
          <a:xfrm>
            <a:off x="2096438" y="980694"/>
            <a:ext cx="1567493" cy="596646"/>
          </a:xfrm>
          <a:prstGeom prst="rect">
            <a:avLst/>
          </a:prstGeom>
          <a:solidFill>
            <a:srgbClr val="FFFFFF"/>
          </a:solidFill>
          <a:ln w="19050">
            <a:solidFill>
              <a:srgbClr val="1A56DB"/>
            </a:solidFill>
            <a:prstDash val="solid"/>
          </a:ln>
          <a:effectLst>
            <a:outerShdw blurRad="101600" dist="38100" dir="8100000" algn="bl" rotWithShape="0">
              <a:srgbClr val="000000">
                <a:alpha val="12000"/>
              </a:srgbClr>
            </a:outerShdw>
          </a:effectLst>
        </p:spPr>
      </p:sp>
      <p:sp>
        <p:nvSpPr>
          <p:cNvPr id="9" name="Text 7"/>
          <p:cNvSpPr/>
          <p:nvPr/>
        </p:nvSpPr>
        <p:spPr>
          <a:xfrm>
            <a:off x="2449184" y="1049274"/>
            <a:ext cx="941129" cy="262890"/>
          </a:xfrm>
          <a:prstGeom prst="rect">
            <a:avLst/>
          </a:prstGeom>
          <a:noFill/>
          <a:ln/>
        </p:spPr>
        <p:txBody>
          <a:bodyPr wrap="square" lIns="0" tIns="0" rIns="0" bIns="0" rtlCol="0" anchor="ctr"/>
          <a:lstStyle/>
          <a:p>
            <a:pPr marL="0" indent="0" algn="ctr">
              <a:buNone/>
            </a:pPr>
            <a:r>
              <a:rPr lang="en-US" b="1" dirty="0">
                <a:solidFill>
                  <a:srgbClr val="1A56DB"/>
                </a:solidFill>
              </a:rPr>
              <a:t>99%</a:t>
            </a:r>
            <a:endParaRPr lang="en-US" dirty="0"/>
          </a:p>
        </p:txBody>
      </p:sp>
      <p:sp>
        <p:nvSpPr>
          <p:cNvPr id="10" name="Text 8"/>
          <p:cNvSpPr/>
          <p:nvPr/>
        </p:nvSpPr>
        <p:spPr>
          <a:xfrm>
            <a:off x="2432304" y="1371600"/>
            <a:ext cx="958010" cy="205740"/>
          </a:xfrm>
          <a:prstGeom prst="rect">
            <a:avLst/>
          </a:prstGeom>
          <a:noFill/>
          <a:ln/>
        </p:spPr>
        <p:txBody>
          <a:bodyPr wrap="square" lIns="0" tIns="0" rIns="0" bIns="0" rtlCol="0" anchor="ctr"/>
          <a:lstStyle/>
          <a:p>
            <a:pPr marL="0" indent="0" algn="ctr">
              <a:buNone/>
            </a:pPr>
            <a:r>
              <a:rPr lang="en-US" sz="950" b="1" dirty="0">
                <a:solidFill>
                  <a:srgbClr val="1A1A2E"/>
                </a:solidFill>
              </a:rPr>
              <a:t>Precision</a:t>
            </a:r>
            <a:endParaRPr lang="en-US" sz="950" dirty="0"/>
          </a:p>
        </p:txBody>
      </p:sp>
      <p:sp>
        <p:nvSpPr>
          <p:cNvPr id="11" name="Shape 9"/>
          <p:cNvSpPr/>
          <p:nvPr/>
        </p:nvSpPr>
        <p:spPr>
          <a:xfrm>
            <a:off x="3811641" y="968209"/>
            <a:ext cx="1480625" cy="618275"/>
          </a:xfrm>
          <a:prstGeom prst="rect">
            <a:avLst/>
          </a:prstGeom>
          <a:solidFill>
            <a:srgbClr val="FFFFFF"/>
          </a:solidFill>
          <a:ln w="19050">
            <a:solidFill>
              <a:srgbClr val="0E9F9F"/>
            </a:solidFill>
            <a:prstDash val="solid"/>
          </a:ln>
          <a:effectLst>
            <a:outerShdw blurRad="101600" dist="38100" dir="8100000" algn="bl" rotWithShape="0">
              <a:srgbClr val="000000">
                <a:alpha val="12000"/>
              </a:srgbClr>
            </a:outerShdw>
          </a:effectLst>
        </p:spPr>
      </p:sp>
      <p:sp>
        <p:nvSpPr>
          <p:cNvPr id="12" name="Text 10"/>
          <p:cNvSpPr/>
          <p:nvPr/>
        </p:nvSpPr>
        <p:spPr>
          <a:xfrm>
            <a:off x="4051497" y="982980"/>
            <a:ext cx="1025535" cy="379476"/>
          </a:xfrm>
          <a:prstGeom prst="rect">
            <a:avLst/>
          </a:prstGeom>
          <a:noFill/>
          <a:ln/>
        </p:spPr>
        <p:txBody>
          <a:bodyPr wrap="square" lIns="0" tIns="0" rIns="0" bIns="0" rtlCol="0" anchor="ctr"/>
          <a:lstStyle/>
          <a:p>
            <a:pPr marL="0" indent="0" algn="ctr">
              <a:buNone/>
            </a:pPr>
            <a:r>
              <a:rPr lang="en-US" b="1" dirty="0">
                <a:solidFill>
                  <a:srgbClr val="0E9F9F"/>
                </a:solidFill>
              </a:rPr>
              <a:t>96%</a:t>
            </a:r>
            <a:endParaRPr lang="en-US" dirty="0"/>
          </a:p>
        </p:txBody>
      </p:sp>
      <p:sp>
        <p:nvSpPr>
          <p:cNvPr id="13" name="Text 11"/>
          <p:cNvSpPr/>
          <p:nvPr/>
        </p:nvSpPr>
        <p:spPr>
          <a:xfrm>
            <a:off x="4141348" y="1362456"/>
            <a:ext cx="800454" cy="224028"/>
          </a:xfrm>
          <a:prstGeom prst="rect">
            <a:avLst/>
          </a:prstGeom>
          <a:noFill/>
          <a:ln/>
        </p:spPr>
        <p:txBody>
          <a:bodyPr wrap="square" lIns="0" tIns="0" rIns="0" bIns="0" rtlCol="0" anchor="ctr"/>
          <a:lstStyle/>
          <a:p>
            <a:pPr marL="0" indent="0" algn="ctr">
              <a:buNone/>
            </a:pPr>
            <a:r>
              <a:rPr lang="en-US" sz="950" b="1" dirty="0">
                <a:solidFill>
                  <a:srgbClr val="1A1A2E"/>
                </a:solidFill>
              </a:rPr>
              <a:t>Recall</a:t>
            </a:r>
            <a:endParaRPr lang="en-US" sz="950" dirty="0"/>
          </a:p>
        </p:txBody>
      </p:sp>
      <p:sp>
        <p:nvSpPr>
          <p:cNvPr id="14" name="Shape 12"/>
          <p:cNvSpPr/>
          <p:nvPr/>
        </p:nvSpPr>
        <p:spPr>
          <a:xfrm>
            <a:off x="6973876" y="987552"/>
            <a:ext cx="1656653" cy="608076"/>
          </a:xfrm>
          <a:prstGeom prst="rect">
            <a:avLst/>
          </a:prstGeom>
          <a:solidFill>
            <a:srgbClr val="FFFFFF"/>
          </a:solidFill>
          <a:ln w="19050">
            <a:solidFill>
              <a:srgbClr val="F59E42"/>
            </a:solidFill>
            <a:prstDash val="solid"/>
          </a:ln>
          <a:effectLst>
            <a:outerShdw blurRad="101600" dist="38100" dir="8100000" algn="bl" rotWithShape="0">
              <a:srgbClr val="000000">
                <a:alpha val="12000"/>
              </a:srgbClr>
            </a:outerShdw>
          </a:effectLst>
        </p:spPr>
      </p:sp>
      <p:sp>
        <p:nvSpPr>
          <p:cNvPr id="15" name="Text 13"/>
          <p:cNvSpPr/>
          <p:nvPr/>
        </p:nvSpPr>
        <p:spPr>
          <a:xfrm>
            <a:off x="7202045" y="1049274"/>
            <a:ext cx="1161628" cy="290322"/>
          </a:xfrm>
          <a:prstGeom prst="rect">
            <a:avLst/>
          </a:prstGeom>
          <a:noFill/>
          <a:ln/>
        </p:spPr>
        <p:txBody>
          <a:bodyPr wrap="square" lIns="0" tIns="0" rIns="0" bIns="0" rtlCol="0" anchor="ctr"/>
          <a:lstStyle/>
          <a:p>
            <a:pPr marL="0" indent="0" algn="ctr">
              <a:buNone/>
            </a:pPr>
            <a:r>
              <a:rPr lang="en-US" b="1" dirty="0">
                <a:solidFill>
                  <a:srgbClr val="F59E42"/>
                </a:solidFill>
              </a:rPr>
              <a:t>1.00</a:t>
            </a:r>
            <a:endParaRPr lang="en-US" dirty="0"/>
          </a:p>
        </p:txBody>
      </p:sp>
      <p:sp>
        <p:nvSpPr>
          <p:cNvPr id="16" name="Text 14"/>
          <p:cNvSpPr/>
          <p:nvPr/>
        </p:nvSpPr>
        <p:spPr>
          <a:xfrm>
            <a:off x="7121586" y="1371600"/>
            <a:ext cx="1333097" cy="192024"/>
          </a:xfrm>
          <a:prstGeom prst="rect">
            <a:avLst/>
          </a:prstGeom>
          <a:noFill/>
          <a:ln/>
        </p:spPr>
        <p:txBody>
          <a:bodyPr wrap="square" lIns="0" tIns="0" rIns="0" bIns="0" rtlCol="0" anchor="ctr"/>
          <a:lstStyle/>
          <a:p>
            <a:pPr marL="0" indent="0" algn="ctr">
              <a:buNone/>
            </a:pPr>
            <a:r>
              <a:rPr lang="en-US" sz="950" b="1" dirty="0">
                <a:solidFill>
                  <a:srgbClr val="1A1A2E"/>
                </a:solidFill>
              </a:rPr>
              <a:t>AUC Score</a:t>
            </a:r>
            <a:endParaRPr lang="en-US" sz="950" dirty="0"/>
          </a:p>
        </p:txBody>
      </p:sp>
      <p:sp>
        <p:nvSpPr>
          <p:cNvPr id="22" name="Text 18"/>
          <p:cNvSpPr/>
          <p:nvPr/>
        </p:nvSpPr>
        <p:spPr>
          <a:xfrm>
            <a:off x="10375" y="4495071"/>
            <a:ext cx="436449" cy="148218"/>
          </a:xfrm>
          <a:prstGeom prst="rect">
            <a:avLst/>
          </a:prstGeom>
          <a:noFill/>
          <a:ln/>
        </p:spPr>
        <p:txBody>
          <a:bodyPr wrap="square" lIns="0" tIns="0" rIns="0" bIns="0" rtlCol="0" anchor="ctr"/>
          <a:lstStyle/>
          <a:p>
            <a:pPr marL="0" indent="0">
              <a:buNone/>
            </a:pPr>
            <a:r>
              <a:rPr lang="en-US" sz="1000" dirty="0">
                <a:solidFill>
                  <a:srgbClr val="1A1A2E"/>
                </a:solidFill>
              </a:rPr>
              <a:t>.</a:t>
            </a:r>
            <a:endParaRPr lang="en-US" sz="1000" dirty="0"/>
          </a:p>
        </p:txBody>
      </p:sp>
      <p:sp>
        <p:nvSpPr>
          <p:cNvPr id="23" name="Shape 19"/>
          <p:cNvSpPr/>
          <p:nvPr/>
        </p:nvSpPr>
        <p:spPr>
          <a:xfrm>
            <a:off x="10375" y="4910327"/>
            <a:ext cx="9144000" cy="224028"/>
          </a:xfrm>
          <a:prstGeom prst="rect">
            <a:avLst/>
          </a:prstGeom>
          <a:solidFill>
            <a:srgbClr val="0D1B3E"/>
          </a:solidFill>
          <a:ln w="12700">
            <a:solidFill>
              <a:srgbClr val="0D1B3E"/>
            </a:solidFill>
            <a:prstDash val="solid"/>
          </a:ln>
        </p:spPr>
        <p:txBody>
          <a:bodyPr/>
          <a:lstStyle/>
          <a:p>
            <a:endParaRPr lang="en-IN" dirty="0"/>
          </a:p>
        </p:txBody>
      </p:sp>
      <p:sp>
        <p:nvSpPr>
          <p:cNvPr id="25" name="Shape 6">
            <a:extLst>
              <a:ext uri="{FF2B5EF4-FFF2-40B4-BE49-F238E27FC236}">
                <a16:creationId xmlns:a16="http://schemas.microsoft.com/office/drawing/2014/main" id="{9A2FDB90-4E48-C7BD-55EE-C51392B1DFEC}"/>
              </a:ext>
            </a:extLst>
          </p:cNvPr>
          <p:cNvSpPr/>
          <p:nvPr/>
        </p:nvSpPr>
        <p:spPr>
          <a:xfrm>
            <a:off x="5382117" y="968208"/>
            <a:ext cx="1501908" cy="627419"/>
          </a:xfrm>
          <a:prstGeom prst="rect">
            <a:avLst/>
          </a:prstGeom>
          <a:solidFill>
            <a:srgbClr val="FFFFFF"/>
          </a:solidFill>
          <a:ln w="19050">
            <a:solidFill>
              <a:srgbClr val="1A56DB"/>
            </a:solidFill>
            <a:prstDash val="solid"/>
          </a:ln>
          <a:effectLst>
            <a:outerShdw blurRad="101600" dist="38100" dir="8100000" algn="bl" rotWithShape="0">
              <a:srgbClr val="000000">
                <a:alpha val="12000"/>
              </a:srgbClr>
            </a:outerShdw>
          </a:effectLst>
        </p:spPr>
      </p:sp>
      <p:sp>
        <p:nvSpPr>
          <p:cNvPr id="26" name="TextBox 25">
            <a:extLst>
              <a:ext uri="{FF2B5EF4-FFF2-40B4-BE49-F238E27FC236}">
                <a16:creationId xmlns:a16="http://schemas.microsoft.com/office/drawing/2014/main" id="{649C1CB1-190F-9FBB-F0D0-401383B26DC2}"/>
              </a:ext>
            </a:extLst>
          </p:cNvPr>
          <p:cNvSpPr txBox="1"/>
          <p:nvPr/>
        </p:nvSpPr>
        <p:spPr>
          <a:xfrm>
            <a:off x="5576962" y="1029700"/>
            <a:ext cx="923190" cy="369332"/>
          </a:xfrm>
          <a:prstGeom prst="rect">
            <a:avLst/>
          </a:prstGeom>
          <a:noFill/>
        </p:spPr>
        <p:txBody>
          <a:bodyPr wrap="square" rtlCol="0">
            <a:spAutoFit/>
          </a:bodyPr>
          <a:lstStyle/>
          <a:p>
            <a:pPr algn="ctr"/>
            <a:r>
              <a:rPr lang="en-US" b="1" dirty="0">
                <a:solidFill>
                  <a:srgbClr val="1A56DB"/>
                </a:solidFill>
              </a:rPr>
              <a:t>98%</a:t>
            </a:r>
            <a:endParaRPr lang="en-US" dirty="0"/>
          </a:p>
        </p:txBody>
      </p:sp>
      <p:sp>
        <p:nvSpPr>
          <p:cNvPr id="28" name="TextBox 27">
            <a:extLst>
              <a:ext uri="{FF2B5EF4-FFF2-40B4-BE49-F238E27FC236}">
                <a16:creationId xmlns:a16="http://schemas.microsoft.com/office/drawing/2014/main" id="{14915C49-8059-451B-EB0E-12CB55F72F55}"/>
              </a:ext>
            </a:extLst>
          </p:cNvPr>
          <p:cNvSpPr txBox="1"/>
          <p:nvPr/>
        </p:nvSpPr>
        <p:spPr>
          <a:xfrm>
            <a:off x="5700137" y="1322721"/>
            <a:ext cx="981925" cy="253916"/>
          </a:xfrm>
          <a:prstGeom prst="rect">
            <a:avLst/>
          </a:prstGeom>
          <a:noFill/>
        </p:spPr>
        <p:txBody>
          <a:bodyPr wrap="square" rtlCol="0">
            <a:spAutoFit/>
          </a:bodyPr>
          <a:lstStyle/>
          <a:p>
            <a:r>
              <a:rPr lang="en-IN" sz="1050" b="1" dirty="0"/>
              <a:t>F1 Score</a:t>
            </a:r>
          </a:p>
        </p:txBody>
      </p:sp>
      <p:pic>
        <p:nvPicPr>
          <p:cNvPr id="1030" name="Picture 6">
            <a:extLst>
              <a:ext uri="{FF2B5EF4-FFF2-40B4-BE49-F238E27FC236}">
                <a16:creationId xmlns:a16="http://schemas.microsoft.com/office/drawing/2014/main" id="{9612D090-68B4-62EB-C94E-D535CCEE9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394" y="1818632"/>
            <a:ext cx="2974615" cy="2469799"/>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D0AA4463-DE59-3111-3269-95AD8520C3FD}"/>
              </a:ext>
            </a:extLst>
          </p:cNvPr>
          <p:cNvSpPr txBox="1"/>
          <p:nvPr/>
        </p:nvSpPr>
        <p:spPr>
          <a:xfrm>
            <a:off x="4051498" y="1778508"/>
            <a:ext cx="4691574" cy="2516073"/>
          </a:xfrm>
          <a:prstGeom prst="rect">
            <a:avLst/>
          </a:prstGeom>
          <a:noFill/>
        </p:spPr>
        <p:txBody>
          <a:bodyPr wrap="square" rtlCol="0">
            <a:spAutoFit/>
          </a:bodyPr>
          <a:lstStyle/>
          <a:p>
            <a:pPr marL="171450" indent="-171450">
              <a:buFont typeface="Wingdings" panose="05000000000000000000" pitchFamily="2" charset="2"/>
              <a:buChar char="q"/>
            </a:pPr>
            <a:r>
              <a:rPr lang="en-US" sz="1050" dirty="0"/>
              <a:t>The logistic regression model demonstrates </a:t>
            </a:r>
            <a:r>
              <a:rPr lang="en-US" sz="1050" b="1" dirty="0"/>
              <a:t>excellent performance in identifying high-cost electricity usage hours</a:t>
            </a:r>
            <a:r>
              <a:rPr lang="en-US" sz="1050" dirty="0"/>
              <a:t>. With an accuracy of 98% and a near-perfect ROC-AUC score of 1.00, the model can clearly distinguish between normal and high-usage periods.</a:t>
            </a:r>
          </a:p>
          <a:p>
            <a:pPr marL="171450" indent="-171450">
              <a:buFont typeface="Wingdings" panose="05000000000000000000" pitchFamily="2" charset="2"/>
              <a:buChar char="q"/>
            </a:pPr>
            <a:endParaRPr lang="en-US" sz="1050" dirty="0"/>
          </a:p>
          <a:p>
            <a:pPr marL="171450" indent="-171450">
              <a:buFont typeface="Wingdings" panose="05000000000000000000" pitchFamily="2" charset="2"/>
              <a:buChar char="q"/>
            </a:pPr>
            <a:r>
              <a:rPr lang="en-US" sz="1050" dirty="0"/>
              <a:t>The high precision (99%) indicates that </a:t>
            </a:r>
            <a:r>
              <a:rPr lang="en-US" sz="1050" b="1" dirty="0"/>
              <a:t>alerts for high-cost hours are highly reliable</a:t>
            </a:r>
            <a:r>
              <a:rPr lang="en-US" sz="1050" dirty="0"/>
              <a:t>, while the strong recall (97%) shows that </a:t>
            </a:r>
            <a:r>
              <a:rPr lang="en-US" sz="1050" b="1" dirty="0"/>
              <a:t>most expensive periods are successfully detected with minimal misses</a:t>
            </a:r>
            <a:r>
              <a:rPr lang="en-US" sz="1050" dirty="0"/>
              <a:t>. The confusion matrix further confirms that both false alarms and missed high-cost hours are very low.</a:t>
            </a:r>
          </a:p>
          <a:p>
            <a:pPr marL="171450" indent="-171450">
              <a:buFont typeface="Wingdings" panose="05000000000000000000" pitchFamily="2" charset="2"/>
              <a:buChar char="q"/>
            </a:pPr>
            <a:endParaRPr lang="en-US" sz="1050" dirty="0"/>
          </a:p>
          <a:p>
            <a:pPr marL="171450" indent="-171450">
              <a:buFont typeface="Wingdings" panose="05000000000000000000" pitchFamily="2" charset="2"/>
              <a:buChar char="q"/>
            </a:pPr>
            <a:r>
              <a:rPr lang="en-US" sz="1050" dirty="0"/>
              <a:t>From a business perspective, this means the model can be confidently used as a </a:t>
            </a:r>
            <a:r>
              <a:rPr lang="en-US" sz="1050" b="1" dirty="0"/>
              <a:t>real-time decision support tool</a:t>
            </a:r>
            <a:r>
              <a:rPr lang="en-US" sz="1050" dirty="0"/>
              <a:t>. It enables the company to </a:t>
            </a:r>
            <a:r>
              <a:rPr lang="en-US" sz="1050" b="1" dirty="0"/>
              <a:t>anticipate high electricity usage in advance</a:t>
            </a:r>
            <a:r>
              <a:rPr lang="en-US" sz="1050" dirty="0"/>
              <a:t>, take preventive actions, and optimize operational scheduling.</a:t>
            </a:r>
          </a:p>
          <a:p>
            <a:pPr marL="171450" indent="-171450">
              <a:buFont typeface="Wingdings" panose="05000000000000000000" pitchFamily="2" charset="2"/>
              <a:buChar char="q"/>
            </a:pPr>
            <a:endParaRPr lang="en-IN"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16851"/>
            <a:ext cx="9144000" cy="615782"/>
          </a:xfrm>
          <a:prstGeom prst="rect">
            <a:avLst/>
          </a:prstGeom>
          <a:solidFill>
            <a:srgbClr val="0D1B3E"/>
          </a:solidFill>
          <a:ln w="12700">
            <a:solidFill>
              <a:srgbClr val="0D1B3E"/>
            </a:solidFill>
            <a:prstDash val="solid"/>
          </a:ln>
        </p:spPr>
      </p:sp>
      <p:sp>
        <p:nvSpPr>
          <p:cNvPr id="3" name="Text 1"/>
          <p:cNvSpPr/>
          <p:nvPr/>
        </p:nvSpPr>
        <p:spPr>
          <a:xfrm>
            <a:off x="320040" y="42586"/>
            <a:ext cx="8503920" cy="615782"/>
          </a:xfrm>
          <a:prstGeom prst="rect">
            <a:avLst/>
          </a:prstGeom>
          <a:noFill/>
          <a:ln/>
        </p:spPr>
        <p:txBody>
          <a:bodyPr wrap="square" lIns="0" tIns="0" rIns="0" bIns="0" rtlCol="0" anchor="ctr"/>
          <a:lstStyle/>
          <a:p>
            <a:r>
              <a:rPr lang="en-US" dirty="0">
                <a:solidFill>
                  <a:schemeClr val="bg1"/>
                </a:solidFill>
              </a:rPr>
              <a:t>To identify distinct electricity usage patterns for better operational and energy management</a:t>
            </a:r>
          </a:p>
        </p:txBody>
      </p:sp>
      <p:sp>
        <p:nvSpPr>
          <p:cNvPr id="36" name="Shape 33"/>
          <p:cNvSpPr/>
          <p:nvPr/>
        </p:nvSpPr>
        <p:spPr>
          <a:xfrm>
            <a:off x="0" y="4933963"/>
            <a:ext cx="9144000" cy="209537"/>
          </a:xfrm>
          <a:prstGeom prst="rect">
            <a:avLst/>
          </a:prstGeom>
          <a:solidFill>
            <a:srgbClr val="0D1B3E"/>
          </a:solidFill>
          <a:ln w="12700">
            <a:solidFill>
              <a:srgbClr val="0D1B3E"/>
            </a:solidFill>
            <a:prstDash val="solid"/>
          </a:ln>
        </p:spPr>
      </p:sp>
      <p:sp>
        <p:nvSpPr>
          <p:cNvPr id="37" name="Text 34"/>
          <p:cNvSpPr/>
          <p:nvPr/>
        </p:nvSpPr>
        <p:spPr>
          <a:xfrm>
            <a:off x="274320" y="4933962"/>
            <a:ext cx="8595360" cy="209537"/>
          </a:xfrm>
          <a:prstGeom prst="rect">
            <a:avLst/>
          </a:prstGeom>
          <a:noFill/>
          <a:ln/>
        </p:spPr>
        <p:txBody>
          <a:bodyPr wrap="square" lIns="0" tIns="0" rIns="0" bIns="0" rtlCol="0" anchor="ctr"/>
          <a:lstStyle/>
          <a:p>
            <a:pPr marL="0" indent="0">
              <a:buNone/>
            </a:pPr>
            <a:endParaRPr lang="en-US" sz="850" dirty="0"/>
          </a:p>
        </p:txBody>
      </p:sp>
      <p:pic>
        <p:nvPicPr>
          <p:cNvPr id="2050" name="Picture 2">
            <a:extLst>
              <a:ext uri="{FF2B5EF4-FFF2-40B4-BE49-F238E27FC236}">
                <a16:creationId xmlns:a16="http://schemas.microsoft.com/office/drawing/2014/main" id="{6379E17F-E6AA-450C-AC8D-D4819E57BC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846" y="2570366"/>
            <a:ext cx="4691575" cy="2193543"/>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51288756-6492-392D-66FB-ED5B90169E92}"/>
              </a:ext>
            </a:extLst>
          </p:cNvPr>
          <p:cNvSpPr txBox="1"/>
          <p:nvPr/>
        </p:nvSpPr>
        <p:spPr>
          <a:xfrm>
            <a:off x="5254283" y="687895"/>
            <a:ext cx="3573194" cy="4216539"/>
          </a:xfrm>
          <a:prstGeom prst="rect">
            <a:avLst/>
          </a:prstGeom>
          <a:noFill/>
        </p:spPr>
        <p:txBody>
          <a:bodyPr wrap="square" rtlCol="0">
            <a:spAutoFit/>
          </a:bodyPr>
          <a:lstStyle/>
          <a:p>
            <a:r>
              <a:rPr lang="en-US" sz="1600" b="1" dirty="0"/>
              <a:t>  Interpretation </a:t>
            </a:r>
          </a:p>
          <a:p>
            <a:pPr marL="171450" indent="-171450">
              <a:buFont typeface="Wingdings" panose="05000000000000000000" pitchFamily="2" charset="2"/>
              <a:buChar char="q"/>
            </a:pPr>
            <a:r>
              <a:rPr lang="en-US" sz="1050" dirty="0"/>
              <a:t>The clustering model successfully identifies </a:t>
            </a:r>
            <a:r>
              <a:rPr lang="en-US" sz="1050" b="1" dirty="0"/>
              <a:t>three distinct patterns of electricity usage</a:t>
            </a:r>
            <a:r>
              <a:rPr lang="en-US" sz="1050" dirty="0"/>
              <a:t>, representing different operating conditions of the factory.</a:t>
            </a:r>
          </a:p>
          <a:p>
            <a:pPr marL="171450" indent="-171450">
              <a:buFont typeface="Wingdings" panose="05000000000000000000" pitchFamily="2" charset="2"/>
              <a:buChar char="q"/>
            </a:pPr>
            <a:r>
              <a:rPr lang="en-US" sz="1050" b="1" dirty="0"/>
              <a:t>Cluster 1 (High Usage)</a:t>
            </a:r>
            <a:br>
              <a:rPr lang="en-US" sz="1050" dirty="0"/>
            </a:br>
            <a:r>
              <a:rPr lang="en-US" sz="1050" dirty="0"/>
              <a:t>→ High energy consumption (~67 kWh)</a:t>
            </a:r>
            <a:br>
              <a:rPr lang="en-US" sz="1050" dirty="0"/>
            </a:br>
            <a:r>
              <a:rPr lang="en-US" sz="1050" dirty="0"/>
              <a:t>→ Represents </a:t>
            </a:r>
            <a:r>
              <a:rPr lang="en-US" sz="1050" b="1" dirty="0"/>
              <a:t>peak production hours with highest cost</a:t>
            </a:r>
            <a:r>
              <a:rPr lang="en-US" sz="1050" dirty="0"/>
              <a:t> </a:t>
            </a:r>
          </a:p>
          <a:p>
            <a:pPr marL="171450" indent="-171450">
              <a:buFont typeface="Wingdings" panose="05000000000000000000" pitchFamily="2" charset="2"/>
              <a:buChar char="q"/>
            </a:pPr>
            <a:r>
              <a:rPr lang="en-US" sz="1050" b="1" dirty="0"/>
              <a:t>Cluster 2 (Low Usage)</a:t>
            </a:r>
            <a:br>
              <a:rPr lang="en-US" sz="1050" dirty="0"/>
            </a:br>
            <a:r>
              <a:rPr lang="en-US" sz="1050" dirty="0"/>
              <a:t>→ Very low consumption (~4 kWh)</a:t>
            </a:r>
            <a:br>
              <a:rPr lang="en-US" sz="1050" dirty="0"/>
            </a:br>
            <a:r>
              <a:rPr lang="en-US" sz="1050" dirty="0"/>
              <a:t>→ Indicates </a:t>
            </a:r>
            <a:r>
              <a:rPr lang="en-US" sz="1050" b="1" dirty="0"/>
              <a:t>idle or low-activity periods (night/weekend)</a:t>
            </a:r>
            <a:r>
              <a:rPr lang="en-US" sz="1050" dirty="0"/>
              <a:t> </a:t>
            </a:r>
          </a:p>
          <a:p>
            <a:pPr marL="171450" indent="-171450">
              <a:buFont typeface="Wingdings" panose="05000000000000000000" pitchFamily="2" charset="2"/>
              <a:buChar char="q"/>
            </a:pPr>
            <a:r>
              <a:rPr lang="en-US" sz="1050" b="1" dirty="0"/>
              <a:t>Cluster 3 (Medium Usage)</a:t>
            </a:r>
            <a:br>
              <a:rPr lang="en-US" sz="1050" dirty="0"/>
            </a:br>
            <a:r>
              <a:rPr lang="en-US" sz="1050" dirty="0"/>
              <a:t>→ Moderate consumption (~8 kWh)</a:t>
            </a:r>
            <a:br>
              <a:rPr lang="en-US" sz="1050" dirty="0"/>
            </a:br>
            <a:r>
              <a:rPr lang="en-US" sz="1050" dirty="0"/>
              <a:t>→ Reflects </a:t>
            </a:r>
            <a:r>
              <a:rPr lang="en-US" sz="1050" b="1" dirty="0"/>
              <a:t>partial operations or transition periods</a:t>
            </a:r>
            <a:r>
              <a:rPr lang="en-US" sz="1050" dirty="0"/>
              <a:t> </a:t>
            </a:r>
          </a:p>
          <a:p>
            <a:pPr marL="171450" indent="-171450">
              <a:buFont typeface="Wingdings" panose="05000000000000000000" pitchFamily="2" charset="2"/>
              <a:buChar char="q"/>
            </a:pPr>
            <a:r>
              <a:rPr lang="en-US" sz="1050" dirty="0"/>
              <a:t>The evaluation metrics support the quality of clustering:</a:t>
            </a:r>
          </a:p>
          <a:p>
            <a:pPr marL="171450" indent="-171450">
              <a:buFont typeface="Wingdings" panose="05000000000000000000" pitchFamily="2" charset="2"/>
              <a:buChar char="q"/>
            </a:pPr>
            <a:r>
              <a:rPr lang="en-US" sz="1050" b="1" dirty="0"/>
              <a:t>Silhouette Score (~0.44)</a:t>
            </a:r>
            <a:r>
              <a:rPr lang="en-US" sz="1050" dirty="0"/>
              <a:t> → Good separation between clusters </a:t>
            </a:r>
          </a:p>
          <a:p>
            <a:pPr marL="171450" indent="-171450">
              <a:buFont typeface="Wingdings" panose="05000000000000000000" pitchFamily="2" charset="2"/>
              <a:buChar char="q"/>
            </a:pPr>
            <a:r>
              <a:rPr lang="en-US" sz="1050" b="1" dirty="0" err="1"/>
              <a:t>Calinski-Harabasz</a:t>
            </a:r>
            <a:r>
              <a:rPr lang="en-US" sz="1050" b="1" dirty="0"/>
              <a:t> (High)</a:t>
            </a:r>
            <a:r>
              <a:rPr lang="en-US" sz="1050" dirty="0"/>
              <a:t> → Strong cluster structure </a:t>
            </a:r>
          </a:p>
          <a:p>
            <a:pPr marL="171450" indent="-171450">
              <a:buFont typeface="Wingdings" panose="05000000000000000000" pitchFamily="2" charset="2"/>
              <a:buChar char="q"/>
            </a:pPr>
            <a:r>
              <a:rPr lang="en-US" sz="1050" b="1" dirty="0"/>
              <a:t>Davies-Bouldin (~0.95)</a:t>
            </a:r>
            <a:r>
              <a:rPr lang="en-US" sz="1050" dirty="0"/>
              <a:t> → Low overlap between clusters </a:t>
            </a:r>
          </a:p>
          <a:p>
            <a:pPr marL="171450" indent="-171450">
              <a:buFont typeface="Wingdings" panose="05000000000000000000" pitchFamily="2" charset="2"/>
              <a:buChar char="q"/>
            </a:pPr>
            <a:r>
              <a:rPr lang="en-US" sz="1050" dirty="0"/>
              <a:t>The scatter plot further shows a clear relationship between:</a:t>
            </a:r>
          </a:p>
          <a:p>
            <a:pPr marL="171450" indent="-171450">
              <a:buFont typeface="Wingdings" panose="05000000000000000000" pitchFamily="2" charset="2"/>
              <a:buChar char="q"/>
            </a:pPr>
            <a:r>
              <a:rPr lang="en-US" sz="1050" b="1" dirty="0"/>
              <a:t>Energy Usage (quantity)</a:t>
            </a:r>
            <a:r>
              <a:rPr lang="en-US" sz="1050" dirty="0"/>
              <a:t> and </a:t>
            </a:r>
          </a:p>
          <a:p>
            <a:pPr marL="171450" indent="-171450">
              <a:buFont typeface="Wingdings" panose="05000000000000000000" pitchFamily="2" charset="2"/>
              <a:buChar char="q"/>
            </a:pPr>
            <a:r>
              <a:rPr lang="en-US" sz="1050" b="1" dirty="0"/>
              <a:t>Power Factor (efficiency)</a:t>
            </a:r>
            <a:r>
              <a:rPr lang="en-US" sz="1050" dirty="0"/>
              <a:t> </a:t>
            </a:r>
          </a:p>
          <a:p>
            <a:pPr marL="171450" indent="-171450">
              <a:buFont typeface="Wingdings" panose="05000000000000000000" pitchFamily="2" charset="2"/>
              <a:buChar char="q"/>
            </a:pPr>
            <a:r>
              <a:rPr lang="en-US" sz="1050" dirty="0"/>
              <a:t>👉 High usage is often linked with </a:t>
            </a:r>
            <a:r>
              <a:rPr lang="en-US" sz="1050" b="1" dirty="0"/>
              <a:t>lower efficiency</a:t>
            </a:r>
            <a:r>
              <a:rPr lang="en-US" sz="1050" dirty="0"/>
              <a:t>, indicating potential energy waste.</a:t>
            </a:r>
          </a:p>
          <a:p>
            <a:pPr marL="171450" indent="-171450">
              <a:buFont typeface="Wingdings" panose="05000000000000000000" pitchFamily="2" charset="2"/>
              <a:buChar char="q"/>
            </a:pPr>
            <a:endParaRPr lang="en-IN" sz="1050" dirty="0"/>
          </a:p>
        </p:txBody>
      </p:sp>
      <p:pic>
        <p:nvPicPr>
          <p:cNvPr id="5" name="Picture 4">
            <a:extLst>
              <a:ext uri="{FF2B5EF4-FFF2-40B4-BE49-F238E27FC236}">
                <a16:creationId xmlns:a16="http://schemas.microsoft.com/office/drawing/2014/main" id="{7C7886B8-A98F-AE97-6BBE-5B6580928A44}"/>
              </a:ext>
            </a:extLst>
          </p:cNvPr>
          <p:cNvPicPr>
            <a:picLocks noChangeAspect="1"/>
          </p:cNvPicPr>
          <p:nvPr/>
        </p:nvPicPr>
        <p:blipFill>
          <a:blip r:embed="rId4"/>
          <a:stretch>
            <a:fillRect/>
          </a:stretch>
        </p:blipFill>
        <p:spPr>
          <a:xfrm>
            <a:off x="0" y="598931"/>
            <a:ext cx="4934243" cy="188507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56DB"/>
          </a:solidFill>
          <a:ln w="12700">
            <a:solidFill>
              <a:srgbClr val="1A56DB"/>
            </a:solidFill>
            <a:prstDash val="solid"/>
          </a:ln>
        </p:spPr>
      </p:sp>
      <p:sp>
        <p:nvSpPr>
          <p:cNvPr id="3" name="Text 1"/>
          <p:cNvSpPr/>
          <p:nvPr/>
        </p:nvSpPr>
        <p:spPr>
          <a:xfrm>
            <a:off x="384048" y="137160"/>
            <a:ext cx="8412480" cy="292608"/>
          </a:xfrm>
          <a:prstGeom prst="rect">
            <a:avLst/>
          </a:prstGeom>
          <a:noFill/>
          <a:ln/>
        </p:spPr>
        <p:txBody>
          <a:bodyPr wrap="square" lIns="0" tIns="0" rIns="0" bIns="0" rtlCol="0" anchor="ctr"/>
          <a:lstStyle/>
          <a:p>
            <a:pPr marL="0" indent="0">
              <a:buNone/>
            </a:pPr>
            <a:r>
              <a:rPr lang="en-US" sz="1000" b="1" kern="0" spc="500" dirty="0">
                <a:solidFill>
                  <a:srgbClr val="3B9FE7"/>
                </a:solidFill>
              </a:rPr>
              <a:t>CONCLUSION &amp; SUMMARY</a:t>
            </a:r>
            <a:endParaRPr lang="en-US" sz="1000" dirty="0"/>
          </a:p>
        </p:txBody>
      </p:sp>
      <p:sp>
        <p:nvSpPr>
          <p:cNvPr id="4" name="Text 2"/>
          <p:cNvSpPr/>
          <p:nvPr/>
        </p:nvSpPr>
        <p:spPr>
          <a:xfrm>
            <a:off x="384048" y="411480"/>
            <a:ext cx="8412480" cy="384048"/>
          </a:xfrm>
          <a:prstGeom prst="rect">
            <a:avLst/>
          </a:prstGeom>
          <a:noFill/>
          <a:ln/>
        </p:spPr>
        <p:txBody>
          <a:bodyPr wrap="square" lIns="0" tIns="0" rIns="0" bIns="0" rtlCol="0" anchor="ctr"/>
          <a:lstStyle/>
          <a:p>
            <a:pPr marL="0" indent="0">
              <a:buNone/>
            </a:pPr>
            <a:r>
              <a:rPr lang="en-US" sz="1800" b="1" dirty="0">
                <a:solidFill>
                  <a:srgbClr val="FFFFFF"/>
                </a:solidFill>
              </a:rPr>
              <a:t>What We Learned — and What It Means for the Business</a:t>
            </a:r>
            <a:endParaRPr lang="en-US" sz="1800" dirty="0"/>
          </a:p>
        </p:txBody>
      </p:sp>
      <p:sp>
        <p:nvSpPr>
          <p:cNvPr id="5" name="Shape 3"/>
          <p:cNvSpPr/>
          <p:nvPr/>
        </p:nvSpPr>
        <p:spPr>
          <a:xfrm>
            <a:off x="347472" y="932688"/>
            <a:ext cx="4206240" cy="1143000"/>
          </a:xfrm>
          <a:prstGeom prst="rect">
            <a:avLst/>
          </a:prstGeom>
          <a:solidFill>
            <a:srgbClr val="FFFFFF">
              <a:alpha val="7000"/>
            </a:srgbClr>
          </a:solidFill>
          <a:ln w="19050">
            <a:solidFill>
              <a:srgbClr val="F59E42"/>
            </a:solidFill>
            <a:prstDash val="solid"/>
          </a:ln>
        </p:spPr>
      </p:sp>
      <p:sp>
        <p:nvSpPr>
          <p:cNvPr id="6" name="Text 4"/>
          <p:cNvSpPr/>
          <p:nvPr/>
        </p:nvSpPr>
        <p:spPr>
          <a:xfrm>
            <a:off x="420624" y="950976"/>
            <a:ext cx="438912" cy="111556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7" name="Text 5"/>
          <p:cNvSpPr/>
          <p:nvPr/>
        </p:nvSpPr>
        <p:spPr>
          <a:xfrm>
            <a:off x="914400" y="1005840"/>
            <a:ext cx="3566160" cy="256032"/>
          </a:xfrm>
          <a:prstGeom prst="rect">
            <a:avLst/>
          </a:prstGeom>
          <a:noFill/>
          <a:ln/>
        </p:spPr>
        <p:txBody>
          <a:bodyPr wrap="square" lIns="0" tIns="0" rIns="0" bIns="0" rtlCol="0" anchor="ctr"/>
          <a:lstStyle/>
          <a:p>
            <a:pPr marL="0" indent="0">
              <a:buNone/>
            </a:pPr>
            <a:r>
              <a:rPr lang="en-US" sz="1050" b="1" dirty="0">
                <a:solidFill>
                  <a:srgbClr val="F59E42"/>
                </a:solidFill>
              </a:rPr>
              <a:t>High usage is frequent — 38% of all hours</a:t>
            </a:r>
            <a:endParaRPr lang="en-US" sz="1050" dirty="0"/>
          </a:p>
        </p:txBody>
      </p:sp>
      <p:sp>
        <p:nvSpPr>
          <p:cNvPr id="8" name="Text 6"/>
          <p:cNvSpPr/>
          <p:nvPr/>
        </p:nvSpPr>
        <p:spPr>
          <a:xfrm>
            <a:off x="914400" y="1261872"/>
            <a:ext cx="3566160" cy="749808"/>
          </a:xfrm>
          <a:prstGeom prst="rect">
            <a:avLst/>
          </a:prstGeom>
          <a:noFill/>
          <a:ln/>
        </p:spPr>
        <p:txBody>
          <a:bodyPr wrap="square" lIns="0" tIns="0" rIns="0" bIns="0" rtlCol="0" anchor="ctr"/>
          <a:lstStyle/>
          <a:p>
            <a:pPr marL="0" indent="0">
              <a:buNone/>
            </a:pPr>
            <a:r>
              <a:rPr lang="en-US" sz="1000" dirty="0">
                <a:solidFill>
                  <a:schemeClr val="bg1"/>
                </a:solidFill>
              </a:rPr>
              <a:t>Nearly 4 in 10 hours hit expensive peak levels. This is not occasional — it needs a systematic management strategy.</a:t>
            </a:r>
          </a:p>
        </p:txBody>
      </p:sp>
      <p:sp>
        <p:nvSpPr>
          <p:cNvPr id="9" name="Shape 7"/>
          <p:cNvSpPr/>
          <p:nvPr/>
        </p:nvSpPr>
        <p:spPr>
          <a:xfrm>
            <a:off x="4754880" y="932688"/>
            <a:ext cx="4206240" cy="1143000"/>
          </a:xfrm>
          <a:prstGeom prst="rect">
            <a:avLst/>
          </a:prstGeom>
          <a:solidFill>
            <a:srgbClr val="FFFFFF">
              <a:alpha val="7000"/>
            </a:srgbClr>
          </a:solidFill>
          <a:ln w="19050">
            <a:solidFill>
              <a:srgbClr val="EF4444"/>
            </a:solidFill>
            <a:prstDash val="solid"/>
          </a:ln>
        </p:spPr>
      </p:sp>
      <p:sp>
        <p:nvSpPr>
          <p:cNvPr id="10" name="Text 8"/>
          <p:cNvSpPr/>
          <p:nvPr/>
        </p:nvSpPr>
        <p:spPr>
          <a:xfrm>
            <a:off x="4828032" y="950976"/>
            <a:ext cx="438912" cy="111556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5321808" y="1005840"/>
            <a:ext cx="3566160" cy="256032"/>
          </a:xfrm>
          <a:prstGeom prst="rect">
            <a:avLst/>
          </a:prstGeom>
          <a:noFill/>
          <a:ln/>
        </p:spPr>
        <p:txBody>
          <a:bodyPr wrap="square" lIns="0" tIns="0" rIns="0" bIns="0" rtlCol="0" anchor="ctr"/>
          <a:lstStyle/>
          <a:p>
            <a:pPr marL="0" indent="0">
              <a:buNone/>
            </a:pPr>
            <a:r>
              <a:rPr lang="en-US" sz="1050" b="1" dirty="0">
                <a:solidFill>
                  <a:srgbClr val="EF4444"/>
                </a:solidFill>
              </a:rPr>
              <a:t>January is the most expensive month</a:t>
            </a:r>
            <a:endParaRPr lang="en-US" sz="1050" dirty="0"/>
          </a:p>
        </p:txBody>
      </p:sp>
      <p:sp>
        <p:nvSpPr>
          <p:cNvPr id="12" name="Text 10"/>
          <p:cNvSpPr/>
          <p:nvPr/>
        </p:nvSpPr>
        <p:spPr>
          <a:xfrm>
            <a:off x="5321808" y="1261872"/>
            <a:ext cx="3566160" cy="749808"/>
          </a:xfrm>
          <a:prstGeom prst="rect">
            <a:avLst/>
          </a:prstGeom>
          <a:noFill/>
          <a:ln/>
        </p:spPr>
        <p:txBody>
          <a:bodyPr wrap="square" lIns="0" tIns="0" rIns="0" bIns="0" rtlCol="0" anchor="ctr"/>
          <a:lstStyle/>
          <a:p>
            <a:pPr marL="0" indent="0">
              <a:buNone/>
            </a:pPr>
            <a:r>
              <a:rPr lang="en-US" sz="950" dirty="0">
                <a:solidFill>
                  <a:srgbClr val="DCE9F8"/>
                </a:solidFill>
              </a:rPr>
              <a:t>Winter brings the highest usage and CO2. Seasonal planning and energy contracts should focus on Q1.</a:t>
            </a:r>
            <a:endParaRPr lang="en-US" sz="950" dirty="0"/>
          </a:p>
        </p:txBody>
      </p:sp>
      <p:sp>
        <p:nvSpPr>
          <p:cNvPr id="13" name="Shape 11"/>
          <p:cNvSpPr/>
          <p:nvPr/>
        </p:nvSpPr>
        <p:spPr>
          <a:xfrm>
            <a:off x="347472" y="2194560"/>
            <a:ext cx="4206240" cy="1143000"/>
          </a:xfrm>
          <a:prstGeom prst="rect">
            <a:avLst/>
          </a:prstGeom>
          <a:solidFill>
            <a:srgbClr val="FFFFFF">
              <a:alpha val="7000"/>
            </a:srgbClr>
          </a:solidFill>
          <a:ln w="19050">
            <a:solidFill>
              <a:srgbClr val="22C55E"/>
            </a:solidFill>
            <a:prstDash val="solid"/>
          </a:ln>
        </p:spPr>
      </p:sp>
      <p:sp>
        <p:nvSpPr>
          <p:cNvPr id="14" name="Text 12"/>
          <p:cNvSpPr/>
          <p:nvPr/>
        </p:nvSpPr>
        <p:spPr>
          <a:xfrm>
            <a:off x="420624" y="2212848"/>
            <a:ext cx="438912" cy="111556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914400" y="2267712"/>
            <a:ext cx="3566160" cy="256032"/>
          </a:xfrm>
          <a:prstGeom prst="rect">
            <a:avLst/>
          </a:prstGeom>
          <a:noFill/>
          <a:ln/>
        </p:spPr>
        <p:txBody>
          <a:bodyPr wrap="square" lIns="0" tIns="0" rIns="0" bIns="0" rtlCol="0" anchor="ctr"/>
          <a:lstStyle/>
          <a:p>
            <a:pPr marL="0" indent="0">
              <a:buNone/>
            </a:pPr>
            <a:r>
              <a:rPr lang="en-US" sz="1050" b="1" dirty="0">
                <a:solidFill>
                  <a:srgbClr val="22C55E"/>
                </a:solidFill>
              </a:rPr>
              <a:t>Prediction accuracy is outstanding — 98%</a:t>
            </a:r>
            <a:endParaRPr lang="en-US" sz="1050" dirty="0"/>
          </a:p>
        </p:txBody>
      </p:sp>
      <p:sp>
        <p:nvSpPr>
          <p:cNvPr id="16" name="Text 14"/>
          <p:cNvSpPr/>
          <p:nvPr/>
        </p:nvSpPr>
        <p:spPr>
          <a:xfrm>
            <a:off x="914400" y="2523744"/>
            <a:ext cx="3566160" cy="749808"/>
          </a:xfrm>
          <a:prstGeom prst="rect">
            <a:avLst/>
          </a:prstGeom>
          <a:noFill/>
          <a:ln/>
        </p:spPr>
        <p:txBody>
          <a:bodyPr wrap="square" lIns="0" tIns="0" rIns="0" bIns="0" rtlCol="0" anchor="ctr"/>
          <a:lstStyle/>
          <a:p>
            <a:r>
              <a:rPr lang="en-US" sz="1000" b="1" dirty="0">
                <a:solidFill>
                  <a:schemeClr val="bg1"/>
                </a:solidFill>
              </a:rPr>
              <a:t>The model predicts electricity usage within ±4.5 kWh, providing sufficient accuracy for planning and budgeting.</a:t>
            </a:r>
            <a:endParaRPr lang="en-US" sz="1000" dirty="0">
              <a:solidFill>
                <a:schemeClr val="bg1"/>
              </a:solidFill>
            </a:endParaRPr>
          </a:p>
          <a:p>
            <a:pPr marL="0" indent="0">
              <a:buNone/>
            </a:pPr>
            <a:endParaRPr lang="en-US" sz="950" dirty="0">
              <a:solidFill>
                <a:schemeClr val="bg1"/>
              </a:solidFill>
            </a:endParaRPr>
          </a:p>
        </p:txBody>
      </p:sp>
      <p:sp>
        <p:nvSpPr>
          <p:cNvPr id="17" name="Shape 15"/>
          <p:cNvSpPr/>
          <p:nvPr/>
        </p:nvSpPr>
        <p:spPr>
          <a:xfrm>
            <a:off x="4754880" y="2194560"/>
            <a:ext cx="4206240" cy="1143000"/>
          </a:xfrm>
          <a:prstGeom prst="rect">
            <a:avLst/>
          </a:prstGeom>
          <a:solidFill>
            <a:srgbClr val="FFFFFF">
              <a:alpha val="7000"/>
            </a:srgbClr>
          </a:solidFill>
          <a:ln w="19050">
            <a:solidFill>
              <a:srgbClr val="3B9FE7"/>
            </a:solidFill>
            <a:prstDash val="solid"/>
          </a:ln>
        </p:spPr>
      </p:sp>
      <p:sp>
        <p:nvSpPr>
          <p:cNvPr id="18" name="Text 16"/>
          <p:cNvSpPr/>
          <p:nvPr/>
        </p:nvSpPr>
        <p:spPr>
          <a:xfrm>
            <a:off x="4828032" y="2212848"/>
            <a:ext cx="438912" cy="111556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9" name="Text 17"/>
          <p:cNvSpPr/>
          <p:nvPr/>
        </p:nvSpPr>
        <p:spPr>
          <a:xfrm>
            <a:off x="5321808" y="2267712"/>
            <a:ext cx="3566160" cy="256032"/>
          </a:xfrm>
          <a:prstGeom prst="rect">
            <a:avLst/>
          </a:prstGeom>
          <a:noFill/>
          <a:ln/>
        </p:spPr>
        <p:txBody>
          <a:bodyPr wrap="square" lIns="0" tIns="0" rIns="0" bIns="0" rtlCol="0" anchor="ctr"/>
          <a:lstStyle/>
          <a:p>
            <a:pPr marL="0" indent="0">
              <a:buNone/>
            </a:pPr>
            <a:r>
              <a:rPr lang="en-US" sz="1050" b="1" dirty="0">
                <a:solidFill>
                  <a:srgbClr val="3B9FE7"/>
                </a:solidFill>
              </a:rPr>
              <a:t>High-usage hours can be predicted perfectly</a:t>
            </a:r>
            <a:endParaRPr lang="en-US" sz="1050" dirty="0"/>
          </a:p>
        </p:txBody>
      </p:sp>
      <p:sp>
        <p:nvSpPr>
          <p:cNvPr id="20" name="Text 18"/>
          <p:cNvSpPr/>
          <p:nvPr/>
        </p:nvSpPr>
        <p:spPr>
          <a:xfrm>
            <a:off x="5321808" y="2523744"/>
            <a:ext cx="3566160" cy="749808"/>
          </a:xfrm>
          <a:prstGeom prst="rect">
            <a:avLst/>
          </a:prstGeom>
          <a:noFill/>
          <a:ln/>
        </p:spPr>
        <p:txBody>
          <a:bodyPr wrap="square" lIns="0" tIns="0" rIns="0" bIns="0" rtlCol="0" anchor="ctr"/>
          <a:lstStyle/>
          <a:p>
            <a:r>
              <a:rPr lang="en-US" sz="1000" dirty="0">
                <a:solidFill>
                  <a:schemeClr val="bg1"/>
                </a:solidFill>
              </a:rPr>
              <a:t>The classifier consistently identifies high-cost hours, enabling real-time alerts and proactive cost optimization..</a:t>
            </a:r>
          </a:p>
        </p:txBody>
      </p:sp>
      <p:sp>
        <p:nvSpPr>
          <p:cNvPr id="21" name="Shape 19"/>
          <p:cNvSpPr/>
          <p:nvPr/>
        </p:nvSpPr>
        <p:spPr>
          <a:xfrm>
            <a:off x="347472" y="3456432"/>
            <a:ext cx="4206240" cy="1143000"/>
          </a:xfrm>
          <a:prstGeom prst="rect">
            <a:avLst/>
          </a:prstGeom>
          <a:solidFill>
            <a:srgbClr val="FFFFFF">
              <a:alpha val="7000"/>
            </a:srgbClr>
          </a:solidFill>
          <a:ln w="19050">
            <a:solidFill>
              <a:srgbClr val="FBBF24"/>
            </a:solidFill>
            <a:prstDash val="solid"/>
          </a:ln>
        </p:spPr>
      </p:sp>
      <p:sp>
        <p:nvSpPr>
          <p:cNvPr id="22" name="Text 20"/>
          <p:cNvSpPr/>
          <p:nvPr/>
        </p:nvSpPr>
        <p:spPr>
          <a:xfrm>
            <a:off x="420624" y="3474720"/>
            <a:ext cx="438912" cy="111556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3" name="Text 21"/>
          <p:cNvSpPr/>
          <p:nvPr/>
        </p:nvSpPr>
        <p:spPr>
          <a:xfrm>
            <a:off x="914400" y="3529584"/>
            <a:ext cx="3566160" cy="256032"/>
          </a:xfrm>
          <a:prstGeom prst="rect">
            <a:avLst/>
          </a:prstGeom>
          <a:noFill/>
          <a:ln/>
        </p:spPr>
        <p:txBody>
          <a:bodyPr wrap="square" lIns="0" tIns="0" rIns="0" bIns="0" rtlCol="0" anchor="ctr"/>
          <a:lstStyle/>
          <a:p>
            <a:pPr marL="0" indent="0">
              <a:buNone/>
            </a:pPr>
            <a:r>
              <a:rPr lang="en-US" sz="1050" b="1" dirty="0">
                <a:solidFill>
                  <a:srgbClr val="FBBF24"/>
                </a:solidFill>
              </a:rPr>
              <a:t>Three operating modes exist naturally</a:t>
            </a:r>
            <a:endParaRPr lang="en-US" sz="1050" dirty="0"/>
          </a:p>
        </p:txBody>
      </p:sp>
      <p:sp>
        <p:nvSpPr>
          <p:cNvPr id="24" name="Text 22"/>
          <p:cNvSpPr/>
          <p:nvPr/>
        </p:nvSpPr>
        <p:spPr>
          <a:xfrm>
            <a:off x="914400" y="3785616"/>
            <a:ext cx="3566160" cy="749808"/>
          </a:xfrm>
          <a:prstGeom prst="rect">
            <a:avLst/>
          </a:prstGeom>
          <a:noFill/>
          <a:ln/>
        </p:spPr>
        <p:txBody>
          <a:bodyPr wrap="square" lIns="0" tIns="0" rIns="0" bIns="0" rtlCol="0" anchor="ctr"/>
          <a:lstStyle/>
          <a:p>
            <a:pPr marL="0" indent="0">
              <a:buNone/>
            </a:pPr>
            <a:r>
              <a:rPr lang="en-US" sz="950" dirty="0">
                <a:solidFill>
                  <a:srgbClr val="DCE9F8"/>
                </a:solidFill>
              </a:rPr>
              <a:t>High / Medium / Low usage groups each need their own energy strategy — one-size-fits-all doesn't work.</a:t>
            </a:r>
            <a:endParaRPr lang="en-US" sz="950" dirty="0"/>
          </a:p>
        </p:txBody>
      </p:sp>
      <p:sp>
        <p:nvSpPr>
          <p:cNvPr id="25" name="Shape 23"/>
          <p:cNvSpPr/>
          <p:nvPr/>
        </p:nvSpPr>
        <p:spPr>
          <a:xfrm>
            <a:off x="4754880" y="3456432"/>
            <a:ext cx="4206240" cy="1143000"/>
          </a:xfrm>
          <a:prstGeom prst="rect">
            <a:avLst/>
          </a:prstGeom>
          <a:solidFill>
            <a:srgbClr val="FFFFFF">
              <a:alpha val="7000"/>
            </a:srgbClr>
          </a:solidFill>
          <a:ln w="19050">
            <a:solidFill>
              <a:srgbClr val="0E9F9F"/>
            </a:solidFill>
            <a:prstDash val="solid"/>
          </a:ln>
        </p:spPr>
      </p:sp>
      <p:sp>
        <p:nvSpPr>
          <p:cNvPr id="26" name="Text 24"/>
          <p:cNvSpPr/>
          <p:nvPr/>
        </p:nvSpPr>
        <p:spPr>
          <a:xfrm>
            <a:off x="4828032" y="3474720"/>
            <a:ext cx="438912" cy="111556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7" name="Text 25"/>
          <p:cNvSpPr/>
          <p:nvPr/>
        </p:nvSpPr>
        <p:spPr>
          <a:xfrm>
            <a:off x="5321808" y="3529584"/>
            <a:ext cx="3566160" cy="256032"/>
          </a:xfrm>
          <a:prstGeom prst="rect">
            <a:avLst/>
          </a:prstGeom>
          <a:noFill/>
          <a:ln/>
        </p:spPr>
        <p:txBody>
          <a:bodyPr wrap="square" lIns="0" tIns="0" rIns="0" bIns="0" rtlCol="0" anchor="ctr"/>
          <a:lstStyle/>
          <a:p>
            <a:pPr marL="0" indent="0">
              <a:buNone/>
            </a:pPr>
            <a:r>
              <a:rPr lang="en-US" sz="1050" b="1" dirty="0">
                <a:solidFill>
                  <a:srgbClr val="0E9F9F"/>
                </a:solidFill>
              </a:rPr>
              <a:t>Weekdays are significantly costlier than weekends</a:t>
            </a:r>
            <a:endParaRPr lang="en-US" sz="1050" dirty="0"/>
          </a:p>
        </p:txBody>
      </p:sp>
      <p:sp>
        <p:nvSpPr>
          <p:cNvPr id="28" name="Text 26"/>
          <p:cNvSpPr/>
          <p:nvPr/>
        </p:nvSpPr>
        <p:spPr>
          <a:xfrm>
            <a:off x="5321808" y="3785616"/>
            <a:ext cx="3566160" cy="749808"/>
          </a:xfrm>
          <a:prstGeom prst="rect">
            <a:avLst/>
          </a:prstGeom>
          <a:noFill/>
          <a:ln/>
        </p:spPr>
        <p:txBody>
          <a:bodyPr wrap="square" lIns="0" tIns="0" rIns="0" bIns="0" rtlCol="0" anchor="ctr"/>
          <a:lstStyle/>
          <a:p>
            <a:pPr marL="0" indent="0">
              <a:buNone/>
            </a:pPr>
            <a:r>
              <a:rPr lang="en-US" sz="950" dirty="0">
                <a:solidFill>
                  <a:srgbClr val="DCE9F8"/>
                </a:solidFill>
              </a:rPr>
              <a:t>Proven by testing — negotiate cheaper weekend tariffs and shift heavy loads to weekends where possible.</a:t>
            </a:r>
            <a:endParaRPr lang="en-US" sz="950" dirty="0"/>
          </a:p>
        </p:txBody>
      </p:sp>
      <p:sp>
        <p:nvSpPr>
          <p:cNvPr id="29" name="Shape 27"/>
          <p:cNvSpPr/>
          <p:nvPr/>
        </p:nvSpPr>
        <p:spPr>
          <a:xfrm>
            <a:off x="0" y="4919472"/>
            <a:ext cx="9144000" cy="224028"/>
          </a:xfrm>
          <a:prstGeom prst="rect">
            <a:avLst/>
          </a:prstGeom>
          <a:solidFill>
            <a:srgbClr val="0D1B3E"/>
          </a:solidFill>
          <a:ln w="12700">
            <a:solidFill>
              <a:srgbClr val="0D1B3E"/>
            </a:solidFill>
            <a:prstDash val="solid"/>
          </a:ln>
        </p:spPr>
      </p:sp>
      <p:sp>
        <p:nvSpPr>
          <p:cNvPr id="30" name="Text 28"/>
          <p:cNvSpPr/>
          <p:nvPr/>
        </p:nvSpPr>
        <p:spPr>
          <a:xfrm>
            <a:off x="274320" y="4919472"/>
            <a:ext cx="8595360" cy="224028"/>
          </a:xfrm>
          <a:prstGeom prst="rect">
            <a:avLst/>
          </a:prstGeom>
          <a:noFill/>
          <a:ln/>
        </p:spPr>
        <p:txBody>
          <a:bodyPr wrap="square" lIns="0" tIns="0" rIns="0" bIns="0" rtlCol="0" anchor="ctr"/>
          <a:lstStyle/>
          <a:p>
            <a:pPr marL="0" indent="0">
              <a:buNone/>
            </a:pPr>
            <a:r>
              <a:rPr lang="en-US" sz="850" dirty="0">
                <a:solidFill>
                  <a:srgbClr val="A0B8D8"/>
                </a:solidFill>
              </a:rPr>
              <a:t>Steel Industry Electricity Consumption | Conclusion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1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3E"/>
          </a:solidFill>
          <a:ln w="12700">
            <a:solidFill>
              <a:srgbClr val="0D1B3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Suggestions &amp; Way Forward</a:t>
            </a:r>
            <a:endParaRPr lang="en-US" sz="2200" dirty="0"/>
          </a:p>
        </p:txBody>
      </p:sp>
      <p:sp>
        <p:nvSpPr>
          <p:cNvPr id="4" name="Text 2"/>
          <p:cNvSpPr/>
          <p:nvPr/>
        </p:nvSpPr>
        <p:spPr>
          <a:xfrm>
            <a:off x="320040" y="658368"/>
            <a:ext cx="8686800" cy="256032"/>
          </a:xfrm>
          <a:prstGeom prst="rect">
            <a:avLst/>
          </a:prstGeom>
          <a:noFill/>
          <a:ln/>
        </p:spPr>
        <p:txBody>
          <a:bodyPr wrap="square" lIns="0" tIns="0" rIns="0" bIns="0" rtlCol="0" anchor="ctr"/>
          <a:lstStyle/>
          <a:p>
            <a:pPr marL="0" indent="0">
              <a:buNone/>
            </a:pPr>
            <a:r>
              <a:rPr lang="en-US" sz="1050" i="1" dirty="0">
                <a:solidFill>
                  <a:srgbClr val="3B9FE7"/>
                </a:solidFill>
              </a:rPr>
              <a:t>Turning insights into action — what the company should do next</a:t>
            </a:r>
            <a:endParaRPr lang="en-US" sz="1050" dirty="0"/>
          </a:p>
        </p:txBody>
      </p:sp>
      <p:sp>
        <p:nvSpPr>
          <p:cNvPr id="5" name="Shape 3"/>
          <p:cNvSpPr/>
          <p:nvPr/>
        </p:nvSpPr>
        <p:spPr>
          <a:xfrm>
            <a:off x="268693" y="987552"/>
            <a:ext cx="2730539" cy="3931920"/>
          </a:xfrm>
          <a:prstGeom prst="rect">
            <a:avLst/>
          </a:prstGeom>
          <a:solidFill>
            <a:srgbClr val="FFFFFF"/>
          </a:solidFill>
          <a:ln w="19050">
            <a:solidFill>
              <a:srgbClr val="EF4444"/>
            </a:solidFill>
            <a:prstDash val="solid"/>
          </a:ln>
          <a:effectLst>
            <a:outerShdw blurRad="101600" dist="38100" dir="8100000" algn="bl" rotWithShape="0">
              <a:srgbClr val="000000">
                <a:alpha val="12000"/>
              </a:srgbClr>
            </a:outerShdw>
          </a:effectLst>
        </p:spPr>
        <p:txBody>
          <a:bodyPr/>
          <a:lstStyle/>
          <a:p>
            <a:endParaRPr lang="en-IN" dirty="0"/>
          </a:p>
        </p:txBody>
      </p:sp>
      <p:sp>
        <p:nvSpPr>
          <p:cNvPr id="6" name="Shape 4"/>
          <p:cNvSpPr/>
          <p:nvPr/>
        </p:nvSpPr>
        <p:spPr>
          <a:xfrm>
            <a:off x="256032" y="914400"/>
            <a:ext cx="2761488" cy="502920"/>
          </a:xfrm>
          <a:prstGeom prst="rect">
            <a:avLst/>
          </a:prstGeom>
          <a:solidFill>
            <a:srgbClr val="EF4444"/>
          </a:solidFill>
          <a:ln w="12700">
            <a:solidFill>
              <a:srgbClr val="EF4444"/>
            </a:solidFill>
            <a:prstDash val="solid"/>
          </a:ln>
        </p:spPr>
      </p:sp>
      <p:sp>
        <p:nvSpPr>
          <p:cNvPr id="7" name="Text 5"/>
          <p:cNvSpPr/>
          <p:nvPr/>
        </p:nvSpPr>
        <p:spPr>
          <a:xfrm>
            <a:off x="347472" y="932688"/>
            <a:ext cx="2606040" cy="256032"/>
          </a:xfrm>
          <a:prstGeom prst="rect">
            <a:avLst/>
          </a:prstGeom>
          <a:noFill/>
          <a:ln/>
        </p:spPr>
        <p:txBody>
          <a:bodyPr wrap="square" lIns="0" tIns="0" rIns="0" bIns="0" rtlCol="0" anchor="ctr"/>
          <a:lstStyle/>
          <a:p>
            <a:pPr marL="0" indent="0">
              <a:buNone/>
            </a:pPr>
            <a:r>
              <a:rPr lang="en-US" sz="1200" b="1" dirty="0">
                <a:solidFill>
                  <a:srgbClr val="FFFFFF"/>
                </a:solidFill>
              </a:rPr>
              <a:t>Right Now</a:t>
            </a:r>
            <a:endParaRPr lang="en-US" sz="1200" dirty="0"/>
          </a:p>
        </p:txBody>
      </p:sp>
      <p:sp>
        <p:nvSpPr>
          <p:cNvPr id="8" name="Text 6"/>
          <p:cNvSpPr/>
          <p:nvPr/>
        </p:nvSpPr>
        <p:spPr>
          <a:xfrm>
            <a:off x="347472" y="1188720"/>
            <a:ext cx="2606040" cy="201168"/>
          </a:xfrm>
          <a:prstGeom prst="rect">
            <a:avLst/>
          </a:prstGeom>
          <a:noFill/>
          <a:ln/>
        </p:spPr>
        <p:txBody>
          <a:bodyPr wrap="square" lIns="0" tIns="0" rIns="0" bIns="0" rtlCol="0" anchor="ctr"/>
          <a:lstStyle/>
          <a:p>
            <a:pPr marL="0" indent="0">
              <a:buNone/>
            </a:pPr>
            <a:r>
              <a:rPr lang="en-US" sz="900" i="1" dirty="0">
                <a:solidFill>
                  <a:srgbClr val="FFFFFF"/>
                </a:solidFill>
              </a:rPr>
              <a:t>Immediate Actions</a:t>
            </a:r>
            <a:endParaRPr lang="en-US" sz="900" dirty="0"/>
          </a:p>
        </p:txBody>
      </p:sp>
      <p:sp>
        <p:nvSpPr>
          <p:cNvPr id="9" name="Shape 7"/>
          <p:cNvSpPr/>
          <p:nvPr/>
        </p:nvSpPr>
        <p:spPr>
          <a:xfrm>
            <a:off x="347472" y="1508760"/>
            <a:ext cx="201168" cy="201168"/>
          </a:xfrm>
          <a:prstGeom prst="ellipse">
            <a:avLst/>
          </a:prstGeom>
          <a:solidFill>
            <a:srgbClr val="EF4444"/>
          </a:solidFill>
          <a:ln w="12700">
            <a:solidFill>
              <a:srgbClr val="EF4444"/>
            </a:solidFill>
            <a:prstDash val="solid"/>
          </a:ln>
        </p:spPr>
      </p:sp>
      <p:sp>
        <p:nvSpPr>
          <p:cNvPr id="10" name="Text 8"/>
          <p:cNvSpPr/>
          <p:nvPr/>
        </p:nvSpPr>
        <p:spPr>
          <a:xfrm>
            <a:off x="347472" y="150876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11" name="Text 9"/>
          <p:cNvSpPr/>
          <p:nvPr/>
        </p:nvSpPr>
        <p:spPr>
          <a:xfrm>
            <a:off x="603504" y="1481328"/>
            <a:ext cx="2294441" cy="987552"/>
          </a:xfrm>
          <a:prstGeom prst="rect">
            <a:avLst/>
          </a:prstGeom>
          <a:noFill/>
          <a:ln/>
        </p:spPr>
        <p:txBody>
          <a:bodyPr wrap="square" lIns="0" tIns="0" rIns="0" bIns="0" rtlCol="0" anchor="ctr"/>
          <a:lstStyle/>
          <a:p>
            <a:r>
              <a:rPr lang="en-US" sz="1100" b="1" dirty="0"/>
              <a:t>Avoid expensive hours</a:t>
            </a:r>
          </a:p>
          <a:p>
            <a:br>
              <a:rPr lang="en-US" sz="1100" dirty="0"/>
            </a:br>
            <a:r>
              <a:rPr lang="en-US" sz="1100" dirty="0"/>
              <a:t>→ Shift production away from peak time to cut costs immediately. </a:t>
            </a:r>
          </a:p>
          <a:p>
            <a:endParaRPr lang="en-US" sz="1100" dirty="0"/>
          </a:p>
        </p:txBody>
      </p:sp>
      <p:sp>
        <p:nvSpPr>
          <p:cNvPr id="12" name="Shape 10"/>
          <p:cNvSpPr/>
          <p:nvPr/>
        </p:nvSpPr>
        <p:spPr>
          <a:xfrm>
            <a:off x="347472" y="2532888"/>
            <a:ext cx="201168" cy="201168"/>
          </a:xfrm>
          <a:prstGeom prst="ellipse">
            <a:avLst/>
          </a:prstGeom>
          <a:solidFill>
            <a:srgbClr val="EF4444"/>
          </a:solidFill>
          <a:ln w="12700">
            <a:solidFill>
              <a:srgbClr val="EF4444"/>
            </a:solidFill>
            <a:prstDash val="solid"/>
          </a:ln>
        </p:spPr>
      </p:sp>
      <p:sp>
        <p:nvSpPr>
          <p:cNvPr id="13" name="Text 11"/>
          <p:cNvSpPr/>
          <p:nvPr/>
        </p:nvSpPr>
        <p:spPr>
          <a:xfrm>
            <a:off x="347472" y="2532888"/>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14" name="Text 12"/>
          <p:cNvSpPr/>
          <p:nvPr/>
        </p:nvSpPr>
        <p:spPr>
          <a:xfrm>
            <a:off x="603504" y="2505456"/>
            <a:ext cx="2395728" cy="960120"/>
          </a:xfrm>
          <a:prstGeom prst="rect">
            <a:avLst/>
          </a:prstGeom>
          <a:noFill/>
          <a:ln/>
        </p:spPr>
        <p:txBody>
          <a:bodyPr wrap="square" lIns="0" tIns="0" rIns="0" bIns="0" rtlCol="0" anchor="ctr"/>
          <a:lstStyle/>
          <a:p>
            <a:pPr marL="0" indent="0">
              <a:buNone/>
            </a:pPr>
            <a:endParaRPr lang="en-US" sz="920" dirty="0"/>
          </a:p>
        </p:txBody>
      </p:sp>
      <p:sp>
        <p:nvSpPr>
          <p:cNvPr id="15" name="Shape 13"/>
          <p:cNvSpPr/>
          <p:nvPr/>
        </p:nvSpPr>
        <p:spPr>
          <a:xfrm>
            <a:off x="347472" y="3557016"/>
            <a:ext cx="201168" cy="201168"/>
          </a:xfrm>
          <a:prstGeom prst="ellipse">
            <a:avLst/>
          </a:prstGeom>
          <a:solidFill>
            <a:srgbClr val="EF4444"/>
          </a:solidFill>
          <a:ln w="12700">
            <a:solidFill>
              <a:srgbClr val="EF4444"/>
            </a:solidFill>
            <a:prstDash val="solid"/>
          </a:ln>
        </p:spPr>
      </p:sp>
      <p:sp>
        <p:nvSpPr>
          <p:cNvPr id="16" name="Text 14"/>
          <p:cNvSpPr/>
          <p:nvPr/>
        </p:nvSpPr>
        <p:spPr>
          <a:xfrm>
            <a:off x="347472" y="3557016"/>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17" name="Text 15"/>
          <p:cNvSpPr/>
          <p:nvPr/>
        </p:nvSpPr>
        <p:spPr>
          <a:xfrm>
            <a:off x="645707" y="2357042"/>
            <a:ext cx="2371813" cy="754028"/>
          </a:xfrm>
          <a:prstGeom prst="rect">
            <a:avLst/>
          </a:prstGeom>
          <a:noFill/>
          <a:ln/>
        </p:spPr>
        <p:txBody>
          <a:bodyPr wrap="square" lIns="0" tIns="0" rIns="0" bIns="0" rtlCol="0" anchor="ctr"/>
          <a:lstStyle/>
          <a:p>
            <a:pPr marL="0" indent="0">
              <a:buNone/>
            </a:pPr>
            <a:r>
              <a:rPr lang="en-US" sz="1100" dirty="0">
                <a:solidFill>
                  <a:srgbClr val="1A1A2E"/>
                </a:solidFill>
              </a:rPr>
              <a:t>.</a:t>
            </a:r>
          </a:p>
          <a:p>
            <a:r>
              <a:rPr lang="en-US" sz="1100" b="1" dirty="0"/>
              <a:t>Use night shifts for heavy operations</a:t>
            </a:r>
            <a:br>
              <a:rPr lang="en-US" sz="1100" dirty="0"/>
            </a:br>
            <a:r>
              <a:rPr lang="en-US" sz="1100" dirty="0"/>
              <a:t>→ Run energy-heavy work when electricity is cheapest.</a:t>
            </a:r>
          </a:p>
        </p:txBody>
      </p:sp>
      <p:sp>
        <p:nvSpPr>
          <p:cNvPr id="18" name="Shape 16"/>
          <p:cNvSpPr/>
          <p:nvPr/>
        </p:nvSpPr>
        <p:spPr>
          <a:xfrm>
            <a:off x="3200400" y="914400"/>
            <a:ext cx="2761488" cy="3749040"/>
          </a:xfrm>
          <a:prstGeom prst="rect">
            <a:avLst/>
          </a:prstGeom>
          <a:solidFill>
            <a:srgbClr val="FFFFFF"/>
          </a:solidFill>
          <a:ln w="19050">
            <a:solidFill>
              <a:srgbClr val="F59E42"/>
            </a:solidFill>
            <a:prstDash val="solid"/>
          </a:ln>
          <a:effectLst>
            <a:outerShdw blurRad="101600" dist="38100" dir="8100000" algn="bl" rotWithShape="0">
              <a:srgbClr val="000000">
                <a:alpha val="12000"/>
              </a:srgbClr>
            </a:outerShdw>
          </a:effectLst>
        </p:spPr>
      </p:sp>
      <p:sp>
        <p:nvSpPr>
          <p:cNvPr id="19" name="Shape 17"/>
          <p:cNvSpPr/>
          <p:nvPr/>
        </p:nvSpPr>
        <p:spPr>
          <a:xfrm>
            <a:off x="3200400" y="914400"/>
            <a:ext cx="2761488" cy="502920"/>
          </a:xfrm>
          <a:prstGeom prst="rect">
            <a:avLst/>
          </a:prstGeom>
          <a:solidFill>
            <a:srgbClr val="F59E42"/>
          </a:solidFill>
          <a:ln w="12700">
            <a:solidFill>
              <a:srgbClr val="F59E42"/>
            </a:solidFill>
            <a:prstDash val="solid"/>
          </a:ln>
        </p:spPr>
      </p:sp>
      <p:sp>
        <p:nvSpPr>
          <p:cNvPr id="20" name="Text 18"/>
          <p:cNvSpPr/>
          <p:nvPr/>
        </p:nvSpPr>
        <p:spPr>
          <a:xfrm>
            <a:off x="3291840" y="932688"/>
            <a:ext cx="2606040" cy="256032"/>
          </a:xfrm>
          <a:prstGeom prst="rect">
            <a:avLst/>
          </a:prstGeom>
          <a:noFill/>
          <a:ln/>
        </p:spPr>
        <p:txBody>
          <a:bodyPr wrap="square" lIns="0" tIns="0" rIns="0" bIns="0" rtlCol="0" anchor="ctr"/>
          <a:lstStyle/>
          <a:p>
            <a:pPr marL="0" indent="0">
              <a:buNone/>
            </a:pPr>
            <a:r>
              <a:rPr lang="en-US" sz="1200" b="1" dirty="0">
                <a:solidFill>
                  <a:srgbClr val="FFFFFF"/>
                </a:solidFill>
              </a:rPr>
              <a:t>Next 3–6 Months</a:t>
            </a:r>
            <a:endParaRPr lang="en-US" sz="1200" dirty="0"/>
          </a:p>
        </p:txBody>
      </p:sp>
      <p:sp>
        <p:nvSpPr>
          <p:cNvPr id="21" name="Text 19"/>
          <p:cNvSpPr/>
          <p:nvPr/>
        </p:nvSpPr>
        <p:spPr>
          <a:xfrm>
            <a:off x="3291840" y="1188720"/>
            <a:ext cx="2606040" cy="201168"/>
          </a:xfrm>
          <a:prstGeom prst="rect">
            <a:avLst/>
          </a:prstGeom>
          <a:noFill/>
          <a:ln/>
        </p:spPr>
        <p:txBody>
          <a:bodyPr wrap="square" lIns="0" tIns="0" rIns="0" bIns="0" rtlCol="0" anchor="ctr"/>
          <a:lstStyle/>
          <a:p>
            <a:pPr marL="0" indent="0">
              <a:buNone/>
            </a:pPr>
            <a:r>
              <a:rPr lang="en-US" sz="900" i="1" dirty="0">
                <a:solidFill>
                  <a:srgbClr val="FFFFFF"/>
                </a:solidFill>
              </a:rPr>
              <a:t>Short-Term Improvements</a:t>
            </a:r>
            <a:endParaRPr lang="en-US" sz="900" dirty="0"/>
          </a:p>
        </p:txBody>
      </p:sp>
      <p:sp>
        <p:nvSpPr>
          <p:cNvPr id="22" name="Shape 20"/>
          <p:cNvSpPr/>
          <p:nvPr/>
        </p:nvSpPr>
        <p:spPr>
          <a:xfrm>
            <a:off x="3319272" y="1545336"/>
            <a:ext cx="201168" cy="201168"/>
          </a:xfrm>
          <a:prstGeom prst="ellipse">
            <a:avLst/>
          </a:prstGeom>
          <a:solidFill>
            <a:srgbClr val="F59E42"/>
          </a:solidFill>
          <a:ln w="12700">
            <a:solidFill>
              <a:srgbClr val="F59E42"/>
            </a:solidFill>
            <a:prstDash val="solid"/>
          </a:ln>
        </p:spPr>
      </p:sp>
      <p:sp>
        <p:nvSpPr>
          <p:cNvPr id="23" name="Text 21"/>
          <p:cNvSpPr/>
          <p:nvPr/>
        </p:nvSpPr>
        <p:spPr>
          <a:xfrm>
            <a:off x="3291840" y="150876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24" name="Text 22"/>
          <p:cNvSpPr/>
          <p:nvPr/>
        </p:nvSpPr>
        <p:spPr>
          <a:xfrm>
            <a:off x="3547872" y="1481328"/>
            <a:ext cx="2395728" cy="960120"/>
          </a:xfrm>
          <a:prstGeom prst="rect">
            <a:avLst/>
          </a:prstGeom>
          <a:noFill/>
          <a:ln/>
        </p:spPr>
        <p:txBody>
          <a:bodyPr wrap="square" lIns="0" tIns="0" rIns="0" bIns="0" rtlCol="0" anchor="ctr"/>
          <a:lstStyle/>
          <a:p>
            <a:r>
              <a:rPr lang="en-US" sz="1100" b="1" dirty="0"/>
              <a:t>Create different strategies for High / Medium / Low usage</a:t>
            </a:r>
            <a:br>
              <a:rPr lang="en-US" sz="1100" dirty="0"/>
            </a:br>
            <a:r>
              <a:rPr lang="en-US" sz="1100" dirty="0"/>
              <a:t>→ Don’t treat all operations the same — optimize each.</a:t>
            </a:r>
          </a:p>
        </p:txBody>
      </p:sp>
      <p:sp>
        <p:nvSpPr>
          <p:cNvPr id="25" name="Shape 23"/>
          <p:cNvSpPr/>
          <p:nvPr/>
        </p:nvSpPr>
        <p:spPr>
          <a:xfrm>
            <a:off x="3286213" y="2523744"/>
            <a:ext cx="201168" cy="201168"/>
          </a:xfrm>
          <a:prstGeom prst="ellipse">
            <a:avLst/>
          </a:prstGeom>
          <a:solidFill>
            <a:srgbClr val="F59E42"/>
          </a:solidFill>
          <a:ln w="12700">
            <a:solidFill>
              <a:srgbClr val="F59E42"/>
            </a:solidFill>
            <a:prstDash val="solid"/>
          </a:ln>
        </p:spPr>
      </p:sp>
      <p:sp>
        <p:nvSpPr>
          <p:cNvPr id="26" name="Text 24"/>
          <p:cNvSpPr/>
          <p:nvPr/>
        </p:nvSpPr>
        <p:spPr>
          <a:xfrm>
            <a:off x="3291840" y="2532888"/>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27" name="Text 25"/>
          <p:cNvSpPr/>
          <p:nvPr/>
        </p:nvSpPr>
        <p:spPr>
          <a:xfrm>
            <a:off x="3593592" y="2404872"/>
            <a:ext cx="2395728" cy="960120"/>
          </a:xfrm>
          <a:prstGeom prst="rect">
            <a:avLst/>
          </a:prstGeom>
          <a:noFill/>
          <a:ln/>
        </p:spPr>
        <p:txBody>
          <a:bodyPr wrap="square" lIns="0" tIns="0" rIns="0" bIns="0" rtlCol="0" anchor="ctr"/>
          <a:lstStyle/>
          <a:p>
            <a:r>
              <a:rPr lang="en-US" sz="1100" b="1" dirty="0"/>
              <a:t>Reduce energy waste (improve efficiency)</a:t>
            </a:r>
            <a:br>
              <a:rPr lang="en-US" sz="1100" dirty="0"/>
            </a:br>
            <a:r>
              <a:rPr lang="en-US" sz="1100" dirty="0"/>
              <a:t>→ Lower electricity bills without reducing output.</a:t>
            </a:r>
          </a:p>
        </p:txBody>
      </p:sp>
      <p:sp>
        <p:nvSpPr>
          <p:cNvPr id="28" name="Shape 26"/>
          <p:cNvSpPr/>
          <p:nvPr/>
        </p:nvSpPr>
        <p:spPr>
          <a:xfrm>
            <a:off x="3264408" y="3584448"/>
            <a:ext cx="201168" cy="201168"/>
          </a:xfrm>
          <a:prstGeom prst="ellipse">
            <a:avLst/>
          </a:prstGeom>
          <a:solidFill>
            <a:srgbClr val="F59E42"/>
          </a:solidFill>
          <a:ln w="12700">
            <a:solidFill>
              <a:srgbClr val="F59E42"/>
            </a:solidFill>
            <a:prstDash val="solid"/>
          </a:ln>
        </p:spPr>
      </p:sp>
      <p:sp>
        <p:nvSpPr>
          <p:cNvPr id="29" name="Text 27"/>
          <p:cNvSpPr/>
          <p:nvPr/>
        </p:nvSpPr>
        <p:spPr>
          <a:xfrm>
            <a:off x="3291840" y="3557016"/>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30" name="Text 28"/>
          <p:cNvSpPr/>
          <p:nvPr/>
        </p:nvSpPr>
        <p:spPr>
          <a:xfrm>
            <a:off x="3547872" y="3529584"/>
            <a:ext cx="2395728" cy="960120"/>
          </a:xfrm>
          <a:prstGeom prst="rect">
            <a:avLst/>
          </a:prstGeom>
          <a:noFill/>
          <a:ln/>
        </p:spPr>
        <p:txBody>
          <a:bodyPr wrap="square" lIns="0" tIns="0" rIns="0" bIns="0" rtlCol="0" anchor="ctr"/>
          <a:lstStyle/>
          <a:p>
            <a:r>
              <a:rPr lang="en-US" sz="1100" b="1" dirty="0"/>
              <a:t>Track electricity usage daily</a:t>
            </a:r>
            <a:br>
              <a:rPr lang="en-US" sz="1100" dirty="0"/>
            </a:br>
            <a:r>
              <a:rPr lang="en-US" sz="1100" dirty="0"/>
              <a:t>→ Use a dashboard to monitor and control costs in real time. </a:t>
            </a:r>
          </a:p>
          <a:p>
            <a:pPr marL="0" indent="0">
              <a:buNone/>
            </a:pPr>
            <a:endParaRPr lang="en-US" sz="1100" dirty="0"/>
          </a:p>
        </p:txBody>
      </p:sp>
      <p:sp>
        <p:nvSpPr>
          <p:cNvPr id="31" name="Shape 29"/>
          <p:cNvSpPr/>
          <p:nvPr/>
        </p:nvSpPr>
        <p:spPr>
          <a:xfrm>
            <a:off x="6144768" y="914400"/>
            <a:ext cx="2761488" cy="3749040"/>
          </a:xfrm>
          <a:prstGeom prst="rect">
            <a:avLst/>
          </a:prstGeom>
          <a:solidFill>
            <a:srgbClr val="FFFFFF"/>
          </a:solidFill>
          <a:ln w="19050">
            <a:solidFill>
              <a:srgbClr val="22C55E"/>
            </a:solidFill>
            <a:prstDash val="solid"/>
          </a:ln>
          <a:effectLst>
            <a:outerShdw blurRad="101600" dist="38100" dir="8100000" algn="bl" rotWithShape="0">
              <a:srgbClr val="000000">
                <a:alpha val="12000"/>
              </a:srgbClr>
            </a:outerShdw>
          </a:effectLst>
        </p:spPr>
      </p:sp>
      <p:sp>
        <p:nvSpPr>
          <p:cNvPr id="32" name="Shape 30"/>
          <p:cNvSpPr/>
          <p:nvPr/>
        </p:nvSpPr>
        <p:spPr>
          <a:xfrm>
            <a:off x="6144768" y="914400"/>
            <a:ext cx="2761488" cy="502920"/>
          </a:xfrm>
          <a:prstGeom prst="rect">
            <a:avLst/>
          </a:prstGeom>
          <a:solidFill>
            <a:srgbClr val="22C55E"/>
          </a:solidFill>
          <a:ln w="12700">
            <a:solidFill>
              <a:srgbClr val="22C55E"/>
            </a:solidFill>
            <a:prstDash val="solid"/>
          </a:ln>
        </p:spPr>
      </p:sp>
      <p:sp>
        <p:nvSpPr>
          <p:cNvPr id="33" name="Text 31"/>
          <p:cNvSpPr/>
          <p:nvPr/>
        </p:nvSpPr>
        <p:spPr>
          <a:xfrm>
            <a:off x="6236208" y="932688"/>
            <a:ext cx="2606040" cy="256032"/>
          </a:xfrm>
          <a:prstGeom prst="rect">
            <a:avLst/>
          </a:prstGeom>
          <a:noFill/>
          <a:ln/>
        </p:spPr>
        <p:txBody>
          <a:bodyPr wrap="square" lIns="0" tIns="0" rIns="0" bIns="0" rtlCol="0" anchor="ctr"/>
          <a:lstStyle/>
          <a:p>
            <a:pPr marL="0" indent="0">
              <a:buNone/>
            </a:pPr>
            <a:r>
              <a:rPr lang="en-US" sz="1200" b="1" dirty="0">
                <a:solidFill>
                  <a:srgbClr val="FFFFFF"/>
                </a:solidFill>
              </a:rPr>
              <a:t>6–12 Months</a:t>
            </a:r>
            <a:endParaRPr lang="en-US" sz="1200" dirty="0"/>
          </a:p>
        </p:txBody>
      </p:sp>
      <p:sp>
        <p:nvSpPr>
          <p:cNvPr id="34" name="Text 32"/>
          <p:cNvSpPr/>
          <p:nvPr/>
        </p:nvSpPr>
        <p:spPr>
          <a:xfrm>
            <a:off x="6236208" y="1188720"/>
            <a:ext cx="2606040" cy="201168"/>
          </a:xfrm>
          <a:prstGeom prst="rect">
            <a:avLst/>
          </a:prstGeom>
          <a:noFill/>
          <a:ln/>
        </p:spPr>
        <p:txBody>
          <a:bodyPr wrap="square" lIns="0" tIns="0" rIns="0" bIns="0" rtlCol="0" anchor="ctr"/>
          <a:lstStyle/>
          <a:p>
            <a:pPr marL="0" indent="0">
              <a:buNone/>
            </a:pPr>
            <a:r>
              <a:rPr lang="en-US" sz="900" i="1" dirty="0">
                <a:solidFill>
                  <a:srgbClr val="FFFFFF"/>
                </a:solidFill>
              </a:rPr>
              <a:t>Long-Term Strategy</a:t>
            </a:r>
            <a:endParaRPr lang="en-US" sz="900" dirty="0"/>
          </a:p>
        </p:txBody>
      </p:sp>
      <p:sp>
        <p:nvSpPr>
          <p:cNvPr id="35" name="Shape 33"/>
          <p:cNvSpPr/>
          <p:nvPr/>
        </p:nvSpPr>
        <p:spPr>
          <a:xfrm>
            <a:off x="6236208" y="1508760"/>
            <a:ext cx="201168" cy="201168"/>
          </a:xfrm>
          <a:prstGeom prst="ellipse">
            <a:avLst/>
          </a:prstGeom>
          <a:solidFill>
            <a:srgbClr val="22C55E"/>
          </a:solidFill>
          <a:ln w="12700">
            <a:solidFill>
              <a:srgbClr val="22C55E"/>
            </a:solidFill>
            <a:prstDash val="solid"/>
          </a:ln>
        </p:spPr>
      </p:sp>
      <p:sp>
        <p:nvSpPr>
          <p:cNvPr id="36" name="Text 34"/>
          <p:cNvSpPr/>
          <p:nvPr/>
        </p:nvSpPr>
        <p:spPr>
          <a:xfrm>
            <a:off x="6236208" y="1508760"/>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37" name="Text 35"/>
          <p:cNvSpPr/>
          <p:nvPr/>
        </p:nvSpPr>
        <p:spPr>
          <a:xfrm>
            <a:off x="6492240" y="1481328"/>
            <a:ext cx="2395728" cy="960120"/>
          </a:xfrm>
          <a:prstGeom prst="rect">
            <a:avLst/>
          </a:prstGeom>
          <a:noFill/>
          <a:ln/>
        </p:spPr>
        <p:txBody>
          <a:bodyPr wrap="square" lIns="0" tIns="0" rIns="0" bIns="0" rtlCol="0" anchor="ctr"/>
          <a:lstStyle/>
          <a:p>
            <a:r>
              <a:rPr lang="en-US" sz="1200" b="1" dirty="0"/>
              <a:t>Improve forecasting for better planning</a:t>
            </a:r>
            <a:br>
              <a:rPr lang="en-US" sz="1200" dirty="0"/>
            </a:br>
            <a:r>
              <a:rPr lang="en-US" sz="1200" dirty="0"/>
              <a:t>→ Predict usage in advance to control spending.</a:t>
            </a:r>
          </a:p>
        </p:txBody>
      </p:sp>
      <p:sp>
        <p:nvSpPr>
          <p:cNvPr id="38" name="Shape 36"/>
          <p:cNvSpPr/>
          <p:nvPr/>
        </p:nvSpPr>
        <p:spPr>
          <a:xfrm>
            <a:off x="6236208" y="2532888"/>
            <a:ext cx="201168" cy="201168"/>
          </a:xfrm>
          <a:prstGeom prst="ellipse">
            <a:avLst/>
          </a:prstGeom>
          <a:solidFill>
            <a:srgbClr val="22C55E"/>
          </a:solidFill>
          <a:ln w="12700">
            <a:solidFill>
              <a:srgbClr val="22C55E"/>
            </a:solidFill>
            <a:prstDash val="solid"/>
          </a:ln>
        </p:spPr>
      </p:sp>
      <p:sp>
        <p:nvSpPr>
          <p:cNvPr id="39" name="Text 37"/>
          <p:cNvSpPr/>
          <p:nvPr/>
        </p:nvSpPr>
        <p:spPr>
          <a:xfrm>
            <a:off x="6236208" y="2532888"/>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40" name="Text 38"/>
          <p:cNvSpPr/>
          <p:nvPr/>
        </p:nvSpPr>
        <p:spPr>
          <a:xfrm>
            <a:off x="6492240" y="2505456"/>
            <a:ext cx="2395728" cy="960120"/>
          </a:xfrm>
          <a:prstGeom prst="rect">
            <a:avLst/>
          </a:prstGeom>
          <a:noFill/>
          <a:ln/>
        </p:spPr>
        <p:txBody>
          <a:bodyPr wrap="square" lIns="0" tIns="0" rIns="0" bIns="0" rtlCol="0" anchor="ctr"/>
          <a:lstStyle/>
          <a:p>
            <a:r>
              <a:rPr lang="en-US" sz="1100" b="1" dirty="0"/>
              <a:t>Buy electricity smarter</a:t>
            </a:r>
            <a:br>
              <a:rPr lang="en-US" sz="1100" dirty="0"/>
            </a:br>
            <a:r>
              <a:rPr lang="en-US" sz="1100" dirty="0"/>
              <a:t>→ Use predictions to purchase energy at lower prices.</a:t>
            </a:r>
          </a:p>
        </p:txBody>
      </p:sp>
      <p:sp>
        <p:nvSpPr>
          <p:cNvPr id="41" name="Shape 39"/>
          <p:cNvSpPr/>
          <p:nvPr/>
        </p:nvSpPr>
        <p:spPr>
          <a:xfrm>
            <a:off x="6236208" y="3557016"/>
            <a:ext cx="201168" cy="201168"/>
          </a:xfrm>
          <a:prstGeom prst="ellipse">
            <a:avLst/>
          </a:prstGeom>
          <a:solidFill>
            <a:srgbClr val="22C55E"/>
          </a:solidFill>
          <a:ln w="12700">
            <a:solidFill>
              <a:srgbClr val="22C55E"/>
            </a:solidFill>
            <a:prstDash val="solid"/>
          </a:ln>
        </p:spPr>
      </p:sp>
      <p:sp>
        <p:nvSpPr>
          <p:cNvPr id="42" name="Text 40"/>
          <p:cNvSpPr/>
          <p:nvPr/>
        </p:nvSpPr>
        <p:spPr>
          <a:xfrm>
            <a:off x="6236208" y="3557016"/>
            <a:ext cx="201168" cy="201168"/>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43" name="Text 41"/>
          <p:cNvSpPr/>
          <p:nvPr/>
        </p:nvSpPr>
        <p:spPr>
          <a:xfrm>
            <a:off x="6492240" y="3529584"/>
            <a:ext cx="2395728" cy="960120"/>
          </a:xfrm>
          <a:prstGeom prst="rect">
            <a:avLst/>
          </a:prstGeom>
          <a:noFill/>
          <a:ln/>
        </p:spPr>
        <p:txBody>
          <a:bodyPr wrap="square" lIns="0" tIns="0" rIns="0" bIns="0" rtlCol="0" anchor="ctr"/>
          <a:lstStyle/>
          <a:p>
            <a:r>
              <a:rPr lang="en-US" sz="1100" b="1" dirty="0"/>
              <a:t>Set cost &amp; sustainability targets</a:t>
            </a:r>
            <a:br>
              <a:rPr lang="en-US" sz="1100" dirty="0"/>
            </a:br>
            <a:r>
              <a:rPr lang="en-US" sz="1100" dirty="0"/>
              <a:t>→ Reduce both electricity cost and carbon emissions together. </a:t>
            </a:r>
          </a:p>
          <a:p>
            <a:pPr marL="0" indent="0">
              <a:buNone/>
            </a:pPr>
            <a:endParaRPr lang="en-US" sz="1100" dirty="0"/>
          </a:p>
        </p:txBody>
      </p:sp>
      <p:sp>
        <p:nvSpPr>
          <p:cNvPr id="44" name="Shape 42"/>
          <p:cNvSpPr/>
          <p:nvPr/>
        </p:nvSpPr>
        <p:spPr>
          <a:xfrm>
            <a:off x="256032" y="4709160"/>
            <a:ext cx="8631936" cy="274320"/>
          </a:xfrm>
          <a:prstGeom prst="rect">
            <a:avLst/>
          </a:prstGeom>
          <a:solidFill>
            <a:srgbClr val="0D1B3E"/>
          </a:solidFill>
          <a:ln w="12700">
            <a:solidFill>
              <a:srgbClr val="0D1B3E"/>
            </a:solidFill>
            <a:prstDash val="solid"/>
          </a:ln>
        </p:spPr>
      </p:sp>
      <p:sp>
        <p:nvSpPr>
          <p:cNvPr id="45" name="Text 43"/>
          <p:cNvSpPr/>
          <p:nvPr/>
        </p:nvSpPr>
        <p:spPr>
          <a:xfrm>
            <a:off x="347472" y="4709160"/>
            <a:ext cx="8449056" cy="274320"/>
          </a:xfrm>
          <a:prstGeom prst="rect">
            <a:avLst/>
          </a:prstGeom>
          <a:noFill/>
          <a:ln/>
        </p:spPr>
        <p:txBody>
          <a:bodyPr wrap="square" lIns="0" tIns="0" rIns="0" bIns="0" rtlCol="0" anchor="ctr"/>
          <a:lstStyle/>
          <a:p>
            <a:pPr marL="0" indent="0">
              <a:buNone/>
            </a:pPr>
            <a:r>
              <a:rPr lang="en-US" sz="1000" b="1" dirty="0">
                <a:solidFill>
                  <a:srgbClr val="FFFFFF"/>
                </a:solidFill>
              </a:rPr>
              <a:t>🎯  Goal: Reduce electricity costs by 15–20% in Year 1 through smart scheduling, live alerts and seasonal planning.</a:t>
            </a:r>
            <a:endParaRPr lang="en-US" sz="1000" dirty="0"/>
          </a:p>
        </p:txBody>
      </p:sp>
      <p:sp>
        <p:nvSpPr>
          <p:cNvPr id="46" name="Shape 44"/>
          <p:cNvSpPr/>
          <p:nvPr/>
        </p:nvSpPr>
        <p:spPr>
          <a:xfrm>
            <a:off x="0" y="4919472"/>
            <a:ext cx="9144000" cy="224028"/>
          </a:xfrm>
          <a:prstGeom prst="rect">
            <a:avLst/>
          </a:prstGeom>
          <a:solidFill>
            <a:srgbClr val="0D1B3E"/>
          </a:solidFill>
          <a:ln w="12700">
            <a:solidFill>
              <a:srgbClr val="0D1B3E"/>
            </a:solidFill>
            <a:prstDash val="solid"/>
          </a:ln>
        </p:spPr>
      </p:sp>
      <p:sp>
        <p:nvSpPr>
          <p:cNvPr id="47" name="Text 45"/>
          <p:cNvSpPr/>
          <p:nvPr/>
        </p:nvSpPr>
        <p:spPr>
          <a:xfrm>
            <a:off x="274320" y="4919472"/>
            <a:ext cx="8595360" cy="224028"/>
          </a:xfrm>
          <a:prstGeom prst="rect">
            <a:avLst/>
          </a:prstGeom>
          <a:noFill/>
          <a:ln/>
        </p:spPr>
        <p:txBody>
          <a:bodyPr wrap="square" lIns="0" tIns="0" rIns="0" bIns="0" rtlCol="0" anchor="ctr"/>
          <a:lstStyle/>
          <a:p>
            <a:pPr marL="0" indent="0">
              <a:buNone/>
            </a:pPr>
            <a:r>
              <a:rPr lang="en-US" sz="850" dirty="0">
                <a:solidFill>
                  <a:srgbClr val="A0B8D8"/>
                </a:solidFill>
              </a:rPr>
              <a:t>Steel Industry Electricity Consumption | ML Analysis Project</a:t>
            </a:r>
            <a:endParaRPr lang="en-US" sz="850" dirty="0"/>
          </a:p>
        </p:txBody>
      </p:sp>
      <p:sp>
        <p:nvSpPr>
          <p:cNvPr id="48" name="TextBox 47">
            <a:extLst>
              <a:ext uri="{FF2B5EF4-FFF2-40B4-BE49-F238E27FC236}">
                <a16:creationId xmlns:a16="http://schemas.microsoft.com/office/drawing/2014/main" id="{25CEB6AF-64FA-5DB3-1FFA-302A242A7976}"/>
              </a:ext>
            </a:extLst>
          </p:cNvPr>
          <p:cNvSpPr txBox="1"/>
          <p:nvPr/>
        </p:nvSpPr>
        <p:spPr>
          <a:xfrm>
            <a:off x="609131" y="3527567"/>
            <a:ext cx="2215662" cy="769441"/>
          </a:xfrm>
          <a:prstGeom prst="rect">
            <a:avLst/>
          </a:prstGeom>
          <a:noFill/>
        </p:spPr>
        <p:txBody>
          <a:bodyPr wrap="square" rtlCol="0">
            <a:spAutoFit/>
          </a:bodyPr>
          <a:lstStyle/>
          <a:p>
            <a:r>
              <a:rPr lang="en-US" sz="1100" b="1" dirty="0"/>
              <a:t>Negotiate better contracts for winter (January)</a:t>
            </a:r>
            <a:br>
              <a:rPr lang="en-US" sz="1100" dirty="0"/>
            </a:br>
            <a:r>
              <a:rPr lang="en-US" sz="1100" dirty="0"/>
              <a:t>→ Lock prices early to avoid high seasonal costs.</a:t>
            </a:r>
            <a:endParaRPr lang="en-IN"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94560"/>
          </a:solidFill>
          <a:ln w="12700">
            <a:solidFill>
              <a:srgbClr val="E94560"/>
            </a:solidFill>
            <a:prstDash val="solid"/>
          </a:ln>
        </p:spPr>
      </p:sp>
      <p:sp>
        <p:nvSpPr>
          <p:cNvPr id="3" name="Text 1"/>
          <p:cNvSpPr/>
          <p:nvPr/>
        </p:nvSpPr>
        <p:spPr>
          <a:xfrm>
            <a:off x="640080" y="822959"/>
            <a:ext cx="8046720" cy="1405233"/>
          </a:xfrm>
          <a:prstGeom prst="rect">
            <a:avLst/>
          </a:prstGeom>
          <a:noFill/>
          <a:ln/>
        </p:spPr>
        <p:txBody>
          <a:bodyPr wrap="square" rtlCol="0" anchor="ctr"/>
          <a:lstStyle/>
          <a:p>
            <a:pPr marL="0" indent="0" algn="l">
              <a:buNone/>
            </a:pPr>
            <a:r>
              <a:rPr lang="en-US" sz="6000" b="1" dirty="0">
                <a:solidFill>
                  <a:schemeClr val="accent1">
                    <a:lumMod val="50000"/>
                  </a:schemeClr>
                </a:solidFill>
                <a:latin typeface="Calibri" pitchFamily="34" charset="0"/>
                <a:ea typeface="Calibri" pitchFamily="34" charset="-122"/>
                <a:cs typeface="Calibri" pitchFamily="34" charset="-120"/>
              </a:rPr>
              <a:t>Thank You</a:t>
            </a:r>
            <a:endParaRPr lang="en-US" sz="6000" dirty="0">
              <a:solidFill>
                <a:schemeClr val="accent1">
                  <a:lumMod val="50000"/>
                </a:schemeClr>
              </a:solidFill>
            </a:endParaRPr>
          </a:p>
        </p:txBody>
      </p:sp>
      <p:sp>
        <p:nvSpPr>
          <p:cNvPr id="4" name="Shape 2"/>
          <p:cNvSpPr/>
          <p:nvPr/>
        </p:nvSpPr>
        <p:spPr>
          <a:xfrm>
            <a:off x="640080" y="2397934"/>
            <a:ext cx="5943600" cy="45720"/>
          </a:xfrm>
          <a:prstGeom prst="rect">
            <a:avLst/>
          </a:prstGeom>
          <a:solidFill>
            <a:srgbClr val="533483"/>
          </a:solidFill>
          <a:ln w="12700">
            <a:solidFill>
              <a:srgbClr val="533483"/>
            </a:solidFill>
            <a:prstDash val="solid"/>
          </a:ln>
        </p:spPr>
      </p:sp>
      <p:sp>
        <p:nvSpPr>
          <p:cNvPr id="5" name="Text 3"/>
          <p:cNvSpPr/>
          <p:nvPr/>
        </p:nvSpPr>
        <p:spPr>
          <a:xfrm>
            <a:off x="708660" y="2736107"/>
            <a:ext cx="8046720" cy="411480"/>
          </a:xfrm>
          <a:prstGeom prst="rect">
            <a:avLst/>
          </a:prstGeom>
          <a:noFill/>
          <a:ln/>
        </p:spPr>
        <p:txBody>
          <a:bodyPr wrap="square" rtlCol="0" anchor="ctr"/>
          <a:lstStyle/>
          <a:p>
            <a:pPr marL="0" indent="0" algn="l">
              <a:buNone/>
            </a:pPr>
            <a:r>
              <a:rPr lang="en-US" sz="1800" dirty="0">
                <a:solidFill>
                  <a:srgbClr val="E94560"/>
                </a:solidFill>
                <a:latin typeface="Calibri" pitchFamily="34" charset="0"/>
                <a:ea typeface="Calibri" pitchFamily="34" charset="-122"/>
                <a:cs typeface="Calibri" pitchFamily="34" charset="-120"/>
              </a:rPr>
              <a:t>Steel Industry Energy Consumption Analysis</a:t>
            </a:r>
            <a:endParaRPr lang="en-US" sz="1800" dirty="0"/>
          </a:p>
        </p:txBody>
      </p:sp>
      <p:sp>
        <p:nvSpPr>
          <p:cNvPr id="10" name="Shape 8"/>
          <p:cNvSpPr/>
          <p:nvPr/>
        </p:nvSpPr>
        <p:spPr>
          <a:xfrm>
            <a:off x="0" y="4754880"/>
            <a:ext cx="9144000" cy="388620"/>
          </a:xfrm>
          <a:prstGeom prst="rect">
            <a:avLst/>
          </a:prstGeom>
          <a:solidFill>
            <a:srgbClr val="16213E"/>
          </a:solidFill>
          <a:ln w="12700">
            <a:solidFill>
              <a:srgbClr val="16213E"/>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2427</Words>
  <Application>Microsoft Office PowerPoint</Application>
  <PresentationFormat>On-screen Show (16:9)</PresentationFormat>
  <Paragraphs>310</Paragraphs>
  <Slides>21</Slides>
  <Notes>16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21</vt:i4>
      </vt:variant>
    </vt:vector>
  </HeadingPairs>
  <TitlesOfParts>
    <vt:vector size="29" baseType="lpstr">
      <vt:lpstr>Aptos</vt:lpstr>
      <vt:lpstr>Arial</vt:lpstr>
      <vt:lpstr>Calibri</vt:lpstr>
      <vt:lpstr>Calibri Light</vt:lpstr>
      <vt:lpstr>Century Schoolbook</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Weekday vs Weekend Electricity Usage Is electricity usage different between weekdays and weekends ?</vt:lpstr>
      <vt:lpstr>Electricity Usage vs Standard Benchmark Is the average electricity usage significantly different from a standard level?</vt:lpstr>
      <vt:lpstr>PowerPoint Presentation</vt:lpstr>
      <vt:lpstr>CO2 Emission Distribution Analysis</vt:lpstr>
      <vt:lpstr>Model Building – Linear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Steel Industry Electricity Consumption Analysis</dc:title>
  <dc:subject>PptxGenJS Presentation</dc:subject>
  <dc:creator>PptxGenJS</dc:creator>
  <cp:lastModifiedBy>Baskar Arunachala madhan</cp:lastModifiedBy>
  <cp:revision>11</cp:revision>
  <dcterms:created xsi:type="dcterms:W3CDTF">2026-04-10T03:32:51Z</dcterms:created>
  <dcterms:modified xsi:type="dcterms:W3CDTF">2026-07-02T17:47:51Z</dcterms:modified>
</cp:coreProperties>
</file>