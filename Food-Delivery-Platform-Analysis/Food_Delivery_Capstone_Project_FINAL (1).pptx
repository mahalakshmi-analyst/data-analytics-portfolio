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9" r:id="rId3"/>
    <p:sldId id="297" r:id="rId4"/>
    <p:sldId id="260" r:id="rId5"/>
    <p:sldId id="261" r:id="rId6"/>
    <p:sldId id="266" r:id="rId7"/>
    <p:sldId id="262" r:id="rId8"/>
    <p:sldId id="264" r:id="rId9"/>
    <p:sldId id="265" r:id="rId10"/>
    <p:sldId id="263" r:id="rId11"/>
    <p:sldId id="294" r:id="rId12"/>
    <p:sldId id="306" r:id="rId13"/>
    <p:sldId id="295" r:id="rId14"/>
    <p:sldId id="270" r:id="rId15"/>
    <p:sldId id="303" r:id="rId16"/>
    <p:sldId id="305" r:id="rId17"/>
    <p:sldId id="288" r:id="rId18"/>
    <p:sldId id="289" r:id="rId19"/>
    <p:sldId id="290" r:id="rId20"/>
    <p:sldId id="313" r:id="rId21"/>
    <p:sldId id="271" r:id="rId22"/>
    <p:sldId id="272" r:id="rId23"/>
    <p:sldId id="299" r:id="rId24"/>
    <p:sldId id="293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2A4A"/>
    <a:srgbClr val="FFFFFF"/>
    <a:srgbClr val="F4F7FB"/>
    <a:srgbClr val="0013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5FE8C8-9D98-4522-8A5F-83BDD48FA301}" v="7" dt="2026-06-11T15:17:32.7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99" autoAdjust="0"/>
    <p:restoredTop sz="93464" autoAdjust="0"/>
  </p:normalViewPr>
  <p:slideViewPr>
    <p:cSldViewPr snapToGrid="0" snapToObjects="1">
      <p:cViewPr varScale="1">
        <p:scale>
          <a:sx n="109" d="100"/>
          <a:sy n="109" d="100"/>
        </p:scale>
        <p:origin x="730" y="8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skar Arunachala madhan" userId="f999e3aaeae2b2f6" providerId="LiveId" clId="{CD1A99BD-5702-4B03-A730-B6C2202E6253}"/>
    <pc:docChg chg="undo custSel addSld delSld modSld">
      <pc:chgData name="Baskar Arunachala madhan" userId="f999e3aaeae2b2f6" providerId="LiveId" clId="{CD1A99BD-5702-4B03-A730-B6C2202E6253}" dt="2026-06-11T15:19:03.193" v="23" actId="207"/>
      <pc:docMkLst>
        <pc:docMk/>
      </pc:docMkLst>
      <pc:sldChg chg="addSp delSp mod">
        <pc:chgData name="Baskar Arunachala madhan" userId="f999e3aaeae2b2f6" providerId="LiveId" clId="{CD1A99BD-5702-4B03-A730-B6C2202E6253}" dt="2026-06-11T15:15:55.342" v="5" actId="22"/>
        <pc:sldMkLst>
          <pc:docMk/>
          <pc:sldMk cId="0" sldId="310"/>
        </pc:sldMkLst>
        <pc:picChg chg="add del">
          <ac:chgData name="Baskar Arunachala madhan" userId="f999e3aaeae2b2f6" providerId="LiveId" clId="{CD1A99BD-5702-4B03-A730-B6C2202E6253}" dt="2026-06-11T15:15:55.342" v="5" actId="22"/>
          <ac:picMkLst>
            <pc:docMk/>
            <pc:sldMk cId="0" sldId="310"/>
            <ac:picMk id="103" creationId="{F9C12399-21A8-6E54-3859-632DF07CC984}"/>
          </ac:picMkLst>
        </pc:picChg>
      </pc:sldChg>
      <pc:sldChg chg="add del setBg">
        <pc:chgData name="Baskar Arunachala madhan" userId="f999e3aaeae2b2f6" providerId="LiveId" clId="{CD1A99BD-5702-4B03-A730-B6C2202E6253}" dt="2026-06-11T15:15:51.465" v="3"/>
        <pc:sldMkLst>
          <pc:docMk/>
          <pc:sldMk cId="0" sldId="311"/>
        </pc:sldMkLst>
      </pc:sldChg>
      <pc:sldChg chg="addSp modSp new mod setBg">
        <pc:chgData name="Baskar Arunachala madhan" userId="f999e3aaeae2b2f6" providerId="LiveId" clId="{CD1A99BD-5702-4B03-A730-B6C2202E6253}" dt="2026-06-11T15:18:16.986" v="16" actId="208"/>
        <pc:sldMkLst>
          <pc:docMk/>
          <pc:sldMk cId="3768429016" sldId="311"/>
        </pc:sldMkLst>
        <pc:spChg chg="add">
          <ac:chgData name="Baskar Arunachala madhan" userId="f999e3aaeae2b2f6" providerId="LiveId" clId="{CD1A99BD-5702-4B03-A730-B6C2202E6253}" dt="2026-06-11T15:17:40.436" v="11" actId="26606"/>
          <ac:spMkLst>
            <pc:docMk/>
            <pc:sldMk cId="3768429016" sldId="311"/>
            <ac:spMk id="8" creationId="{42A4FC2C-047E-45A5-965D-8E1E3BF09BC6}"/>
          </ac:spMkLst>
        </pc:spChg>
        <pc:picChg chg="add mod">
          <ac:chgData name="Baskar Arunachala madhan" userId="f999e3aaeae2b2f6" providerId="LiveId" clId="{CD1A99BD-5702-4B03-A730-B6C2202E6253}" dt="2026-06-11T15:18:16.986" v="16" actId="208"/>
          <ac:picMkLst>
            <pc:docMk/>
            <pc:sldMk cId="3768429016" sldId="311"/>
            <ac:picMk id="3" creationId="{58730E56-AE8E-E8A8-36DA-ADE8287A7B0F}"/>
          </ac:picMkLst>
        </pc:picChg>
      </pc:sldChg>
      <pc:sldChg chg="modSp add del mod setBg">
        <pc:chgData name="Baskar Arunachala madhan" userId="f999e3aaeae2b2f6" providerId="LiveId" clId="{CD1A99BD-5702-4B03-A730-B6C2202E6253}" dt="2026-06-11T15:19:03.193" v="23" actId="207"/>
        <pc:sldMkLst>
          <pc:docMk/>
          <pc:sldMk cId="0" sldId="312"/>
        </pc:sldMkLst>
        <pc:spChg chg="mod">
          <ac:chgData name="Baskar Arunachala madhan" userId="f999e3aaeae2b2f6" providerId="LiveId" clId="{CD1A99BD-5702-4B03-A730-B6C2202E6253}" dt="2026-06-11T15:19:03.193" v="23" actId="207"/>
          <ac:spMkLst>
            <pc:docMk/>
            <pc:sldMk cId="0" sldId="312"/>
            <ac:spMk id="4" creationId="{00000000-0000-0000-0000-000000000000}"/>
          </ac:spMkLst>
        </pc:spChg>
        <pc:spChg chg="mod">
          <ac:chgData name="Baskar Arunachala madhan" userId="f999e3aaeae2b2f6" providerId="LiveId" clId="{CD1A99BD-5702-4B03-A730-B6C2202E6253}" dt="2026-06-11T15:18:29.292" v="18" actId="207"/>
          <ac:spMkLst>
            <pc:docMk/>
            <pc:sldMk cId="0" sldId="312"/>
            <ac:spMk id="5" creationId="{00000000-0000-0000-0000-000000000000}"/>
          </ac:spMkLst>
        </pc:spChg>
        <pc:spChg chg="mod">
          <ac:chgData name="Baskar Arunachala madhan" userId="f999e3aaeae2b2f6" providerId="LiveId" clId="{CD1A99BD-5702-4B03-A730-B6C2202E6253}" dt="2026-06-11T15:19:03.193" v="23" actId="207"/>
          <ac:spMkLst>
            <pc:docMk/>
            <pc:sldMk cId="0" sldId="312"/>
            <ac:spMk id="6" creationId="{00000000-0000-0000-0000-000000000000}"/>
          </ac:spMkLst>
        </pc:spChg>
        <pc:spChg chg="mod">
          <ac:chgData name="Baskar Arunachala madhan" userId="f999e3aaeae2b2f6" providerId="LiveId" clId="{CD1A99BD-5702-4B03-A730-B6C2202E6253}" dt="2026-06-11T15:19:03.193" v="23" actId="207"/>
          <ac:spMkLst>
            <pc:docMk/>
            <pc:sldMk cId="0" sldId="312"/>
            <ac:spMk id="12" creationId="{00000000-0000-0000-0000-000000000000}"/>
          </ac:spMkLst>
        </pc:spChg>
        <pc:spChg chg="mod">
          <ac:chgData name="Baskar Arunachala madhan" userId="f999e3aaeae2b2f6" providerId="LiveId" clId="{CD1A99BD-5702-4B03-A730-B6C2202E6253}" dt="2026-06-11T15:18:49.336" v="21" actId="207"/>
          <ac:spMkLst>
            <pc:docMk/>
            <pc:sldMk cId="0" sldId="312"/>
            <ac:spMk id="17" creationId="{00000000-0000-0000-0000-000000000000}"/>
          </ac:spMkLst>
        </pc:spChg>
        <pc:spChg chg="mod">
          <ac:chgData name="Baskar Arunachala madhan" userId="f999e3aaeae2b2f6" providerId="LiveId" clId="{CD1A99BD-5702-4B03-A730-B6C2202E6253}" dt="2026-06-11T15:19:03.193" v="23" actId="207"/>
          <ac:spMkLst>
            <pc:docMk/>
            <pc:sldMk cId="0" sldId="312"/>
            <ac:spMk id="20" creationId="{00000000-0000-0000-0000-000000000000}"/>
          </ac:spMkLst>
        </pc:spChg>
        <pc:spChg chg="mod">
          <ac:chgData name="Baskar Arunachala madhan" userId="f999e3aaeae2b2f6" providerId="LiveId" clId="{CD1A99BD-5702-4B03-A730-B6C2202E6253}" dt="2026-06-11T15:19:03.193" v="23" actId="207"/>
          <ac:spMkLst>
            <pc:docMk/>
            <pc:sldMk cId="0" sldId="312"/>
            <ac:spMk id="29" creationId="{00000000-0000-0000-0000-000000000000}"/>
          </ac:spMkLst>
        </pc:spChg>
        <pc:spChg chg="mod">
          <ac:chgData name="Baskar Arunachala madhan" userId="f999e3aaeae2b2f6" providerId="LiveId" clId="{CD1A99BD-5702-4B03-A730-B6C2202E6253}" dt="2026-06-11T15:19:03.193" v="23" actId="207"/>
          <ac:spMkLst>
            <pc:docMk/>
            <pc:sldMk cId="0" sldId="312"/>
            <ac:spMk id="40" creationId="{00000000-0000-0000-0000-000000000000}"/>
          </ac:spMkLst>
        </pc:spChg>
        <pc:spChg chg="mod">
          <ac:chgData name="Baskar Arunachala madhan" userId="f999e3aaeae2b2f6" providerId="LiveId" clId="{CD1A99BD-5702-4B03-A730-B6C2202E6253}" dt="2026-06-11T15:19:03.193" v="23" actId="207"/>
          <ac:spMkLst>
            <pc:docMk/>
            <pc:sldMk cId="0" sldId="312"/>
            <ac:spMk id="58" creationId="{00000000-0000-0000-0000-000000000000}"/>
          </ac:spMkLst>
        </pc:spChg>
        <pc:spChg chg="mod">
          <ac:chgData name="Baskar Arunachala madhan" userId="f999e3aaeae2b2f6" providerId="LiveId" clId="{CD1A99BD-5702-4B03-A730-B6C2202E6253}" dt="2026-06-11T15:19:03.193" v="23" actId="207"/>
          <ac:spMkLst>
            <pc:docMk/>
            <pc:sldMk cId="0" sldId="312"/>
            <ac:spMk id="74" creationId="{00000000-0000-0000-0000-000000000000}"/>
          </ac:spMkLst>
        </pc:spChg>
        <pc:spChg chg="mod">
          <ac:chgData name="Baskar Arunachala madhan" userId="f999e3aaeae2b2f6" providerId="LiveId" clId="{CD1A99BD-5702-4B03-A730-B6C2202E6253}" dt="2026-06-11T15:19:03.193" v="23" actId="207"/>
          <ac:spMkLst>
            <pc:docMk/>
            <pc:sldMk cId="0" sldId="312"/>
            <ac:spMk id="80" creationId="{00000000-0000-0000-0000-000000000000}"/>
          </ac:spMkLst>
        </pc:spChg>
        <pc:spChg chg="mod">
          <ac:chgData name="Baskar Arunachala madhan" userId="f999e3aaeae2b2f6" providerId="LiveId" clId="{CD1A99BD-5702-4B03-A730-B6C2202E6253}" dt="2026-06-11T15:19:03.193" v="23" actId="207"/>
          <ac:spMkLst>
            <pc:docMk/>
            <pc:sldMk cId="0" sldId="312"/>
            <ac:spMk id="85" creationId="{00000000-0000-0000-0000-000000000000}"/>
          </ac:spMkLst>
        </pc:spChg>
      </pc:sldChg>
      <pc:sldChg chg="add del setBg">
        <pc:chgData name="Baskar Arunachala madhan" userId="f999e3aaeae2b2f6" providerId="LiveId" clId="{CD1A99BD-5702-4B03-A730-B6C2202E6253}" dt="2026-06-11T15:17:32.709" v="9"/>
        <pc:sldMkLst>
          <pc:docMk/>
          <pc:sldMk cId="0" sldId="31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B2A4A"/>
                </a:solidFill>
                <a:latin typeface="Arial"/>
              </a:rPr>
              <a:t>Order Status Distribution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6E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0-4D53-4638-9435-84800512FA4B}"/>
              </c:ext>
            </c:extLst>
          </c:dPt>
          <c:dPt>
            <c:idx val="1"/>
            <c:bubble3D val="0"/>
            <c:spPr>
              <a:solidFill>
                <a:srgbClr val="E05C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D53-4638-9435-84800512FA4B}"/>
              </c:ext>
            </c:extLst>
          </c:dPt>
          <c:dPt>
            <c:idx val="2"/>
            <c:bubble3D val="0"/>
            <c:spPr>
              <a:solidFill>
                <a:srgbClr val="E8A0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4D53-4638-9435-84800512FA4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D53-4638-9435-84800512FA4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D53-4638-9435-84800512FA4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D53-4638-9435-84800512FA4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Delivered</c:v>
                </c:pt>
                <c:pt idx="1">
                  <c:v>Cancelled</c:v>
                </c:pt>
                <c:pt idx="2">
                  <c:v>Returned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93027</c:v>
                </c:pt>
                <c:pt idx="1">
                  <c:v>4951</c:v>
                </c:pt>
                <c:pt idx="2">
                  <c:v>2022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D53-4638-9435-84800512FA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0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B2A4A"/>
                </a:solidFill>
                <a:latin typeface="Arial"/>
              </a:rPr>
              <a:t>Payment Mode Preference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Share</c:v>
                </c:pt>
              </c:strCache>
            </c:strRef>
          </c:tx>
          <c:spPr>
            <a:solidFill>
              <a:srgbClr val="7B5EA7"/>
            </a:solidFill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5BA4C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0-CDF2-4B59-9844-8656153FD4DC}"/>
              </c:ext>
            </c:extLst>
          </c:dPt>
          <c:dPt>
            <c:idx val="2"/>
            <c:invertIfNegative val="0"/>
            <c:bubble3D val="0"/>
            <c:spPr>
              <a:solidFill>
                <a:srgbClr val="3AAF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DF2-4B59-9844-8656153FD4DC}"/>
              </c:ext>
            </c:extLst>
          </c:dPt>
          <c:dPt>
            <c:idx val="3"/>
            <c:invertIfNegative val="0"/>
            <c:bubble3D val="0"/>
            <c:spPr>
              <a:solidFill>
                <a:srgbClr val="E8A0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CDF2-4B59-9844-8656153FD4D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UPI</c:v>
                </c:pt>
                <c:pt idx="1">
                  <c:v>Card</c:v>
                </c:pt>
                <c:pt idx="2">
                  <c:v>Wallet</c:v>
                </c:pt>
                <c:pt idx="3">
                  <c:v>Cash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25</c:v>
                </c:pt>
                <c:pt idx="2">
                  <c:v>15.1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DF2-4B59-9844-8656153FD4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20858880"/>
        <c:axId val="120868864"/>
      </c:barChart>
      <c:catAx>
        <c:axId val="1208588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120868864"/>
        <c:crosses val="autoZero"/>
        <c:auto val="1"/>
        <c:lblAlgn val="ctr"/>
        <c:lblOffset val="100"/>
        <c:noMultiLvlLbl val="1"/>
      </c:catAx>
      <c:valAx>
        <c:axId val="120868864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120858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000" b="1" i="0" u="none" strike="noStrike" dirty="0">
                <a:solidFill>
                  <a:schemeClr val="bg1"/>
                </a:solidFill>
                <a:latin typeface="Arial"/>
              </a:rPr>
              <a:t>Top 3 Partners by Efficiency</a:t>
            </a:r>
          </a:p>
        </c:rich>
      </c:tx>
      <c:layout>
        <c:manualLayout>
          <c:xMode val="edge"/>
          <c:yMode val="edge"/>
          <c:x val="0.20642903508029239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261564078683712E-2"/>
          <c:y val="0.1902137173026566"/>
          <c:w val="0.89914063161459645"/>
          <c:h val="0.545262248807186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Efficiency Score</c:v>
                </c:pt>
              </c:strCache>
            </c:strRef>
          </c:tx>
          <c:spPr>
            <a:solidFill>
              <a:srgbClr val="FF00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3078-4A25-8D09-7576E0737026}"/>
              </c:ext>
            </c:extLst>
          </c:dPt>
          <c:dPt>
            <c:idx val="1"/>
            <c:invertIfNegative val="0"/>
            <c:bubble3D val="0"/>
            <c:spPr>
              <a:solidFill>
                <a:srgbClr val="0000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3078-4A25-8D09-7576E0737026}"/>
              </c:ext>
            </c:extLst>
          </c:dPt>
          <c:dPt>
            <c:idx val="2"/>
            <c:invertIfNegative val="0"/>
            <c:bubble3D val="0"/>
            <c:spPr>
              <a:solidFill>
                <a:srgbClr val="008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3078-4A25-8D09-7576E073702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Rajesh Patel</c:v>
                </c:pt>
                <c:pt idx="1">
                  <c:v>Suresh Sharma</c:v>
                </c:pt>
                <c:pt idx="2">
                  <c:v>Ravi Nair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0.99</c:v>
                </c:pt>
                <c:pt idx="2">
                  <c:v>0.99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078-4A25-8D09-7576E073702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2"/>
          <c:min val="0"/>
        </c:scaling>
        <c:delete val="1"/>
        <c:axPos val="l"/>
        <c:majorGridlines>
          <c:spPr>
            <a:ln w="12700" cap="flat">
              <a:solidFill>
                <a:srgbClr val="CADCF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solidFill>
      <a:srgbClr val="1E2761"/>
    </a:solidFill>
    <a:ln w="6350" cap="flat">
      <a:solidFill>
        <a:srgbClr val="CADCFC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1" i="0" u="none" strike="noStrike">
                <a:solidFill>
                  <a:schemeClr val="bg1"/>
                </a:solidFill>
                <a:latin typeface="Arial"/>
              </a:defRPr>
            </a:pPr>
            <a:r>
              <a:rPr lang="en-US" sz="1000" b="1" i="0" u="none" strike="noStrike" dirty="0">
                <a:solidFill>
                  <a:schemeClr val="bg1"/>
                </a:solidFill>
                <a:latin typeface="Arial"/>
              </a:rPr>
              <a:t>Bottom 3 Partners by Efficiency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Efficiency Score</c:v>
                </c:pt>
              </c:strCache>
            </c:strRef>
          </c:tx>
          <c:spPr>
            <a:solidFill>
              <a:srgbClr val="FFA5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2926-4CEC-A3CA-4698F25F5091}"/>
              </c:ext>
            </c:extLst>
          </c:dPt>
          <c:dPt>
            <c:idx val="1"/>
            <c:invertIfNegative val="0"/>
            <c:bubble3D val="0"/>
            <c:spPr>
              <a:solidFill>
                <a:srgbClr val="8000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2926-4CEC-A3CA-4698F25F5091}"/>
              </c:ext>
            </c:extLst>
          </c:dPt>
          <c:dPt>
            <c:idx val="2"/>
            <c:invertIfNegative val="0"/>
            <c:bubble3D val="0"/>
            <c:spPr>
              <a:solidFill>
                <a:srgbClr val="00BC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2926-4CEC-A3CA-4698F25F509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Arjun Singh</c:v>
                </c:pt>
                <c:pt idx="1">
                  <c:v>Suresh Chopra</c:v>
                </c:pt>
                <c:pt idx="2">
                  <c:v>Priya Nair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0.26</c:v>
                </c:pt>
                <c:pt idx="1">
                  <c:v>0.27</c:v>
                </c:pt>
                <c:pt idx="2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926-4CEC-A3CA-4698F25F509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35"/>
          <c:min val="0"/>
        </c:scaling>
        <c:delete val="1"/>
        <c:axPos val="l"/>
        <c:majorGridlines>
          <c:spPr>
            <a:ln w="12700" cap="flat">
              <a:solidFill>
                <a:srgbClr val="CADCF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1E2761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E2761"/>
    </a:solidFill>
    <a:ln w="6350" cap="flat">
      <a:solidFill>
        <a:srgbClr val="CADCFC"/>
      </a:solidFill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B2A4A"/>
                </a:solidFill>
                <a:latin typeface="Arial"/>
              </a:rPr>
              <a:t>Delivery Partner Vehicle Mix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Partners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6E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10F-4760-ADA7-442FB9DB5A62}"/>
              </c:ext>
            </c:extLst>
          </c:dPt>
          <c:dPt>
            <c:idx val="1"/>
            <c:bubble3D val="0"/>
            <c:spPr>
              <a:solidFill>
                <a:srgbClr val="5BA4C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10F-4760-ADA7-442FB9DB5A62}"/>
              </c:ext>
            </c:extLst>
          </c:dPt>
          <c:dPt>
            <c:idx val="2"/>
            <c:bubble3D val="0"/>
            <c:spPr>
              <a:solidFill>
                <a:srgbClr val="E05C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10F-4760-ADA7-442FB9DB5A62}"/>
              </c:ext>
            </c:extLst>
          </c:dPt>
          <c:dPt>
            <c:idx val="3"/>
            <c:bubble3D val="0"/>
            <c:spPr>
              <a:solidFill>
                <a:srgbClr val="E8A0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10F-4760-ADA7-442FB9DB5A62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1000" b="0" i="0" u="none" strike="noStrike">
                        <a:solidFill>
                          <a:srgbClr val="000000"/>
                        </a:solidFill>
                        <a:latin typeface="Arial"/>
                      </a:defRPr>
                    </a:pPr>
                    <a:r>
                      <a:rPr lang="en-US" dirty="0"/>
                      <a:t>.48.45%</a:t>
                    </a:r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10F-4760-ADA7-442FB9DB5A6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pPr>
                      <a:defRPr sz="1000" b="0" i="0" u="none" strike="noStrike">
                        <a:solidFill>
                          <a:srgbClr val="000000"/>
                        </a:solidFill>
                        <a:latin typeface="Arial"/>
                      </a:defRPr>
                    </a:pPr>
                    <a:r>
                      <a:rPr lang="en-US" dirty="0"/>
                      <a:t>31.73%</a:t>
                    </a:r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10F-4760-ADA7-442FB9DB5A6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pPr>
                      <a:defRPr sz="1000" b="0" i="0" u="none" strike="noStrike">
                        <a:solidFill>
                          <a:srgbClr val="000000"/>
                        </a:solidFill>
                        <a:latin typeface="Arial"/>
                      </a:defRPr>
                    </a:pPr>
                    <a:r>
                      <a:rPr lang="en-US" dirty="0"/>
                      <a:t>15.64%</a:t>
                    </a:r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10F-4760-ADA7-442FB9DB5A62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pPr>
                      <a:defRPr sz="1000" b="0" i="0" u="none" strike="noStrike">
                        <a:solidFill>
                          <a:srgbClr val="000000"/>
                        </a:solidFill>
                        <a:latin typeface="Arial"/>
                      </a:defRPr>
                    </a:pPr>
                    <a:r>
                      <a:rPr lang="en-US" dirty="0"/>
                      <a:t>4.18%</a:t>
                    </a:r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210F-4760-ADA7-442FB9DB5A6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Bike</c:v>
                </c:pt>
                <c:pt idx="1">
                  <c:v>Scooter</c:v>
                </c:pt>
                <c:pt idx="2">
                  <c:v>Car</c:v>
                </c:pt>
                <c:pt idx="3">
                  <c:v>Bicycle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533</c:v>
                </c:pt>
                <c:pt idx="1">
                  <c:v>349</c:v>
                </c:pt>
                <c:pt idx="2">
                  <c:v>172</c:v>
                </c:pt>
                <c:pt idx="3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10F-4760-ADA7-442FB9DB5A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0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Two-tailed Z test (checking whether rate is 45% or there is some difference.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Null Hypothesis (H0): The true retention rate is equal to the hypothesized value.</a:t>
            </a:r>
            <a:br>
              <a:rPr lang="en-US" dirty="0"/>
            </a:br>
            <a:r>
              <a:rPr lang="en-US" dirty="0"/>
              <a:t>H0 :p=0.45933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 Hypothesis (H₁): The true retention rate is different from the hypothesized value.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H1 :p not equal to 0.45933</a:t>
            </a:r>
            <a:br>
              <a:rPr lang="en-US" dirty="0"/>
            </a:br>
            <a:r>
              <a:rPr lang="en-US" dirty="0"/>
              <a:t>Significance Level: α = 0.05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Output: P-value = 1.0</a:t>
            </a:r>
            <a:br>
              <a:rPr lang="en-US" dirty="0"/>
            </a:br>
            <a:r>
              <a:rPr lang="en-US" dirty="0"/>
              <a:t>This is the probability of observing the data assuming H₀ is true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Z-statistic : Output: Z = 0.0</a:t>
            </a:r>
            <a:br>
              <a:rPr lang="en-US" dirty="0"/>
            </a:br>
            <a:r>
              <a:rPr lang="en-US" dirty="0"/>
              <a:t>Meaning:</a:t>
            </a:r>
            <a:br>
              <a:rPr lang="en-US" dirty="0"/>
            </a:br>
            <a:r>
              <a:rPr lang="en-US" dirty="0"/>
              <a:t>Sample retention rate is exactly equal to the hypothesized value</a:t>
            </a:r>
            <a:br>
              <a:rPr lang="en-US" dirty="0"/>
            </a:br>
            <a:r>
              <a:rPr lang="en-US" dirty="0"/>
              <a:t>No deviation at all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Statistical Decision : p-value (1.0) &gt; α (0.05)</a:t>
            </a:r>
            <a:br>
              <a:rPr lang="en-US" dirty="0"/>
            </a:br>
            <a:endParaRPr lang="en-US" dirty="0"/>
          </a:p>
          <a:p>
            <a:r>
              <a:rPr lang="en-US" dirty="0"/>
              <a:t>Fail to reject H₀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Chi-square test of independence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Null Hypothesis (H₀): Spending category is independent of gender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Alternative Hypothesis (H₁): Spending category depends on gender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Significance Level (α): 0.05 P-value: 0.896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p-value (0.896) is much greater than α (0.05) This indicates: The observed differences in spending categories across genders are not statistically significant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 p-value &gt; α : Fail to reject the null hypothesis (H₀)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is no statistically significant relationship between: Gender Spending category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Two-sample t-test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Null Hypothesis (H₀): Average order value is the same in both cases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Alternative Hypothesis (H₁): Average order value is different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 Output t-statistic = 73.95 p-value = 0.0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Huge t-statistic (~74) The difference between groups is extremely large relative to variability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p-value ≈ 0 → Probability of seeing this difference by chance is virtually zero Decision (α = 0.05): p-value &lt; α : Reject H₀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p-value ≈ 0 : There is a statistically significant difference in order value between festival and non-festival periods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chart" Target="../charts/chart3.xml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chart" Target="../charts/chart4.xml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142235"/>
          </a:solidFill>
          <a:ln w="12700">
            <a:solidFill>
              <a:srgbClr val="1422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4023360"/>
            <a:ext cx="2743200" cy="11201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PLATFORM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Food Delivery Platform Analysis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· Orders · Delivery · Restaurant Intelligence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4403188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494165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: Mahalakshmi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: Mrs. Priya Shanmugam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: DA644S64</a:t>
            </a:r>
            <a:b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Name : Data Science &amp; ML With Gen AI 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5938" y="721638"/>
            <a:ext cx="8323991" cy="5389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r>
              <a:rPr lang="en-US" sz="1200" dirty="0"/>
              <a:t> </a:t>
            </a:r>
          </a:p>
          <a:p>
            <a:r>
              <a:rPr lang="en-US" sz="1200" dirty="0"/>
              <a:t>To understand customer preferences and demand patterns in order to design the right menu, optimize operations, and build a profitable restaurant.</a:t>
            </a:r>
          </a:p>
          <a:p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82880" y="3566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rebuchet MS" pitchFamily="34" charset="0"/>
              </a:rPr>
              <a:t>Problem Statement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25939" y="1346528"/>
            <a:ext cx="84124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857854"/>
            <a:ext cx="2651760" cy="1260250"/>
          </a:xfrm>
          <a:prstGeom prst="rect">
            <a:avLst/>
          </a:prstGeom>
          <a:solidFill>
            <a:srgbClr val="FFFFFF"/>
          </a:solidFill>
          <a:ln w="25400">
            <a:solidFill>
              <a:srgbClr val="0D6E6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473806"/>
            <a:ext cx="2651760" cy="384048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4967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Customer Profiling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 by age, gender, city type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 preference.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repeat vs. new customer patterns.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399" y="1857854"/>
            <a:ext cx="2617839" cy="1296900"/>
          </a:xfrm>
          <a:prstGeom prst="rect">
            <a:avLst/>
          </a:prstGeom>
          <a:solidFill>
            <a:srgbClr val="FFFFFF"/>
          </a:solidFill>
          <a:ln w="25400">
            <a:solidFill>
              <a:srgbClr val="E05C4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0" y="1481918"/>
            <a:ext cx="2617838" cy="384048"/>
          </a:xfrm>
          <a:prstGeom prst="rect">
            <a:avLst/>
          </a:prstGeom>
          <a:solidFill>
            <a:srgbClr val="E05C40"/>
          </a:solidFill>
          <a:ln w="12700">
            <a:solidFill>
              <a:srgbClr val="E05C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91840" y="1490325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Order &amp; Revenue Analysis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2009763"/>
            <a:ext cx="2355317" cy="10442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monthly order trends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preferences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festival-driven demand 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2089" y="1879903"/>
            <a:ext cx="2617840" cy="129690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EA7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032089" y="1483835"/>
            <a:ext cx="2651760" cy="38404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126480" y="148191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Delivery Performance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06569" y="1936205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delivery speed across regions and vehicle types.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Identify top partners with high ratings and low delays.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584448"/>
            <a:ext cx="2651760" cy="1360834"/>
          </a:xfrm>
          <a:prstGeom prst="rect">
            <a:avLst/>
          </a:prstGeom>
          <a:solidFill>
            <a:srgbClr val="FFFFFF"/>
          </a:solidFill>
          <a:ln w="25400">
            <a:solidFill>
              <a:srgbClr val="5BA4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65760" y="3209544"/>
            <a:ext cx="2651760" cy="384048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320954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Restaurant Benchmarking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77647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cuisine-wise demand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ratings to identify performance leaders.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0" y="3650226"/>
            <a:ext cx="2651760" cy="1295056"/>
          </a:xfrm>
          <a:prstGeom prst="rect">
            <a:avLst/>
          </a:prstGeom>
          <a:solidFill>
            <a:srgbClr val="FFFFFF"/>
          </a:solidFill>
          <a:ln w="25400">
            <a:solidFill>
              <a:srgbClr val="E8A02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00400" y="3266178"/>
            <a:ext cx="2651760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383280" y="329014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</a:p>
          <a:p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Machine Learning Models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3785616"/>
            <a:ext cx="246888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Apply ML algorithms —Linear Regression , Logistic Regression, KNN, and K-Means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045364" y="3650226"/>
            <a:ext cx="2651760" cy="1331558"/>
          </a:xfrm>
          <a:prstGeom prst="rect">
            <a:avLst/>
          </a:prstGeom>
          <a:solidFill>
            <a:srgbClr val="FFFFFF"/>
          </a:solidFill>
          <a:ln w="25400">
            <a:solidFill>
              <a:srgbClr val="3AAFA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045364" y="3268538"/>
            <a:ext cx="2651760" cy="384048"/>
          </a:xfrm>
          <a:prstGeom prst="rect">
            <a:avLst/>
          </a:prstGeom>
          <a:solidFill>
            <a:srgbClr val="3AAFA9"/>
          </a:solidFill>
          <a:ln w="12700">
            <a:solidFill>
              <a:srgbClr val="3AAFA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217920" y="326617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Business Recommendations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0" y="3831336"/>
            <a:ext cx="2468880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Translate data insights into strategic actions for improving retention, efficiency, and profitability.</a:t>
            </a:r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eprocessing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Bar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A020"/>
          </a:solidFill>
          <a:ln>
            <a:solidFill>
              <a:srgbClr val="E8A02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" name="Label"/>
          <p:cNvSpPr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A020"/>
                </a:solidFill>
                <a:latin typeface="Calibri" pitchFamily="34" charset="0"/>
              </a:rPr>
              <a:t>DATA PREPROCESSING</a:t>
            </a:r>
          </a:p>
        </p:txBody>
      </p:sp>
      <p:sp>
        <p:nvSpPr>
          <p:cNvPr id="5" name="Title"/>
          <p:cNvSpPr/>
          <p:nvPr/>
        </p:nvSpPr>
        <p:spPr>
          <a:xfrm>
            <a:off x="54864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</a:rPr>
              <a:t>Data Cleaning &amp; Preprocessing Pipeline</a:t>
            </a:r>
          </a:p>
        </p:txBody>
      </p:sp>
      <p:sp>
        <p:nvSpPr>
          <p:cNvPr id="6" name="Divider"/>
          <p:cNvSpPr/>
          <p:nvPr/>
        </p:nvSpPr>
        <p:spPr>
          <a:xfrm>
            <a:off x="617220" y="1209707"/>
            <a:ext cx="8229600" cy="45720"/>
          </a:xfrm>
          <a:prstGeom prst="rect">
            <a:avLst/>
          </a:prstGeom>
          <a:solidFill>
            <a:srgbClr val="2C4A6E"/>
          </a:solidFill>
          <a:ln>
            <a:solidFill>
              <a:srgbClr val="2C4A6E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7" name="Intro"/>
          <p:cNvSpPr/>
          <p:nvPr/>
        </p:nvSpPr>
        <p:spPr>
          <a:xfrm>
            <a:off x="548640" y="1330760"/>
            <a:ext cx="8229600" cy="295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ED"/>
                </a:solidFill>
                <a:latin typeface="Calibri" pitchFamily="34" charset="0"/>
              </a:rPr>
              <a:t>Four datasets (Customer, Orders, Delivery Partner, Restaurant) were preprocessed in Jupyter Notebook then merged in Excel for unified analysis. Key pipeline steps:</a:t>
            </a:r>
          </a:p>
        </p:txBody>
      </p:sp>
      <p:sp>
        <p:nvSpPr>
          <p:cNvPr id="8" name="Box0"/>
          <p:cNvSpPr/>
          <p:nvPr/>
        </p:nvSpPr>
        <p:spPr>
          <a:xfrm>
            <a:off x="548640" y="1778483"/>
            <a:ext cx="8031972" cy="475464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 w="12700">
            <a:solidFill>
              <a:srgbClr val="2C5282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" name="Text0"/>
          <p:cNvSpPr/>
          <p:nvPr/>
        </p:nvSpPr>
        <p:spPr>
          <a:xfrm>
            <a:off x="685800" y="1814967"/>
            <a:ext cx="77724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E8A020"/>
                </a:solidFill>
                <a:latin typeface="Calibri" pitchFamily="34" charset="0"/>
              </a:rPr>
              <a:t>🔗  Dataset Merge 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</a:rPr>
              <a:t>Four CSVs joined on Order ID, Customer ID, Delivery Partner ID &amp; Restaurant ID using Python— resulting in one flat table: 1,00,000 records x 33 columns</a:t>
            </a:r>
          </a:p>
        </p:txBody>
      </p:sp>
      <p:sp>
        <p:nvSpPr>
          <p:cNvPr id="10" name="Box1"/>
          <p:cNvSpPr/>
          <p:nvPr/>
        </p:nvSpPr>
        <p:spPr>
          <a:xfrm>
            <a:off x="548639" y="2311287"/>
            <a:ext cx="8046721" cy="553532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 w="12700">
            <a:solidFill>
              <a:srgbClr val="2C5282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1"/>
          <p:cNvSpPr/>
          <p:nvPr/>
        </p:nvSpPr>
        <p:spPr>
          <a:xfrm>
            <a:off x="685800" y="2385888"/>
            <a:ext cx="77724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00" b="1" dirty="0">
              <a:solidFill>
                <a:srgbClr val="E8A020"/>
              </a:solidFill>
              <a:latin typeface="Calibri" pitchFamily="34" charset="0"/>
            </a:endParaRPr>
          </a:p>
          <a:p>
            <a:r>
              <a:rPr lang="en-US" sz="1400" b="1" dirty="0">
                <a:solidFill>
                  <a:srgbClr val="E8A020"/>
                </a:solidFill>
                <a:latin typeface="Calibri" pitchFamily="34" charset="0"/>
              </a:rPr>
              <a:t>🗑️  Dropped Repeated &amp; Unused Columns: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</a:rPr>
              <a:t>Redundant post-merge ID columns and low-variance / duplicate feature columns removed to reduce noise before ML modelling</a:t>
            </a:r>
          </a:p>
          <a:p>
            <a:pPr marL="0" indent="0">
              <a:buNone/>
            </a:pPr>
            <a:endParaRPr lang="en-US" sz="1400" dirty="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12" name="Box2"/>
          <p:cNvSpPr/>
          <p:nvPr/>
        </p:nvSpPr>
        <p:spPr>
          <a:xfrm>
            <a:off x="548640" y="2882207"/>
            <a:ext cx="8046720" cy="480373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 w="12700">
            <a:solidFill>
              <a:srgbClr val="2C5282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2"/>
          <p:cNvSpPr/>
          <p:nvPr/>
        </p:nvSpPr>
        <p:spPr>
          <a:xfrm>
            <a:off x="685800" y="2882208"/>
            <a:ext cx="77724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E8A020"/>
                </a:solidFill>
                <a:latin typeface="Calibri" pitchFamily="34" charset="0"/>
              </a:rPr>
              <a:t>🏷️  Renamed Column Values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</a:rPr>
              <a:t>: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Category labels </a:t>
            </a:r>
            <a:r>
              <a:rPr lang="en-IN" sz="1400" dirty="0">
                <a:solidFill>
                  <a:schemeClr val="bg1"/>
                </a:solidFill>
              </a:rPr>
              <a:t>standardized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(FESTIVAL/NON-FESTIVAL) for consistent grouping across all analysis steps</a:t>
            </a:r>
          </a:p>
        </p:txBody>
      </p:sp>
      <p:sp>
        <p:nvSpPr>
          <p:cNvPr id="14" name="Box3"/>
          <p:cNvSpPr/>
          <p:nvPr/>
        </p:nvSpPr>
        <p:spPr>
          <a:xfrm>
            <a:off x="572975" y="3427108"/>
            <a:ext cx="8059256" cy="520797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 w="12700">
            <a:solidFill>
              <a:srgbClr val="2C5282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3"/>
          <p:cNvSpPr/>
          <p:nvPr/>
        </p:nvSpPr>
        <p:spPr>
          <a:xfrm>
            <a:off x="685800" y="3493368"/>
            <a:ext cx="7757652" cy="52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E8A020"/>
                </a:solidFill>
                <a:latin typeface="Calibri" pitchFamily="34" charset="0"/>
              </a:rPr>
              <a:t>🧹  Imputing &amp; Outlier Treatment: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</a:rPr>
              <a:t>Missing values filled via median/mode; IQR-based capping on Dataset to  remove extreme outliers before analysis</a:t>
            </a:r>
          </a:p>
          <a:p>
            <a:pPr marL="0" indent="0">
              <a:buNone/>
            </a:pPr>
            <a:endParaRPr lang="en-US" sz="1400" dirty="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16" name="Box4"/>
          <p:cNvSpPr/>
          <p:nvPr/>
        </p:nvSpPr>
        <p:spPr>
          <a:xfrm>
            <a:off x="548639" y="4038268"/>
            <a:ext cx="8083591" cy="580464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 w="12700">
            <a:solidFill>
              <a:srgbClr val="2C5282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4"/>
          <p:cNvSpPr/>
          <p:nvPr/>
        </p:nvSpPr>
        <p:spPr>
          <a:xfrm>
            <a:off x="685800" y="4101862"/>
            <a:ext cx="7772400" cy="499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</a:rPr>
              <a:t>🔢  ML Preprocessing in Jupyter: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</a:rPr>
              <a:t>Label encoding for categoricals; StandardScaler/MinMaxScaler applied per model; engineered features Value_per_Min, Rating_Diff, Discount_Ratio and Churn flag created</a:t>
            </a:r>
          </a:p>
        </p:txBody>
      </p:sp>
      <p:sp>
        <p:nvSpPr>
          <p:cNvPr id="18" name="Footer"/>
          <p:cNvSpPr/>
          <p:nvPr/>
        </p:nvSpPr>
        <p:spPr>
          <a:xfrm>
            <a:off x="548640" y="4782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BA4"/>
                </a:solidFill>
                <a:latin typeface="Calibri" pitchFamily="34" charset="0"/>
              </a:rPr>
              <a:t>Tools: Python (pandas, scipy, sklearn) in Jupyter Notebook  |  Excel Power Query  |  Merged file: Food_delivery_dataset.xlsx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at a Glance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920240" cy="118872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216152"/>
            <a:ext cx="192024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22,000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832458"/>
            <a:ext cx="1920240" cy="49926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1143000"/>
            <a:ext cx="1920240" cy="1188720"/>
          </a:xfrm>
          <a:prstGeom prst="rect">
            <a:avLst/>
          </a:prstGeom>
          <a:solidFill>
            <a:srgbClr val="E05C40"/>
          </a:solidFill>
          <a:ln w="12700">
            <a:solidFill>
              <a:srgbClr val="E05C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377440" y="1216152"/>
            <a:ext cx="192024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</a:rPr>
              <a:t>100 K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377440" y="1832458"/>
            <a:ext cx="1920240" cy="49926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143000"/>
            <a:ext cx="1920240" cy="11887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389120" y="1216152"/>
            <a:ext cx="192024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1,100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389120" y="1832458"/>
            <a:ext cx="1920240" cy="49926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143000"/>
            <a:ext cx="1920240" cy="118872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0" y="1216152"/>
            <a:ext cx="192024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551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00800" y="1832458"/>
            <a:ext cx="1920240" cy="49926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514600"/>
            <a:ext cx="1920240" cy="118872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65760" y="2587752"/>
            <a:ext cx="192024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₹592.22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65760" y="3204058"/>
            <a:ext cx="1920240" cy="49926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77440" y="2514600"/>
            <a:ext cx="1920240" cy="1188720"/>
          </a:xfrm>
          <a:prstGeom prst="rect">
            <a:avLst/>
          </a:prstGeom>
          <a:solidFill>
            <a:srgbClr val="3AAFA9"/>
          </a:solidFill>
          <a:ln w="12700">
            <a:solidFill>
              <a:srgbClr val="3AAFA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377440" y="2587752"/>
            <a:ext cx="192024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35.5 min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2377440" y="3204058"/>
            <a:ext cx="1920240" cy="49926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Time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0" y="2514600"/>
            <a:ext cx="1920240" cy="1188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389120" y="2587752"/>
            <a:ext cx="192024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4.02★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389120" y="3204058"/>
            <a:ext cx="1920240" cy="49926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Rating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2514600"/>
            <a:ext cx="1920240" cy="1188720"/>
          </a:xfrm>
          <a:prstGeom prst="rect">
            <a:avLst/>
          </a:prstGeom>
          <a:solidFill>
            <a:srgbClr val="E05C40"/>
          </a:solidFill>
          <a:ln w="12700">
            <a:solidFill>
              <a:srgbClr val="E05C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00800" y="2587752"/>
            <a:ext cx="192024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45.09%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400800" y="3204058"/>
            <a:ext cx="1920240" cy="49926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 Rate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840480"/>
            <a:ext cx="8412480" cy="54864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: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Customer.csv  |  Orders.csv (100K records, Jan 2023–Dec 2025)  |  Delivery_Partner.csv  |  Restaurant.csv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>
                <a:solidFill>
                  <a:schemeClr val="bg1"/>
                </a:solidFill>
                <a:latin typeface="Trebuchet MS" panose="020B0603020202020204" pitchFamily="34" charset="0"/>
              </a:rPr>
              <a:t>Who Drives Revenue</a:t>
            </a:r>
            <a:endParaRPr lang="en-US" sz="2600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907366"/>
            <a:ext cx="84124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3"/>
          <p:cNvSpPr/>
          <p:nvPr/>
        </p:nvSpPr>
        <p:spPr>
          <a:xfrm>
            <a:off x="365760" y="3726017"/>
            <a:ext cx="8504971" cy="1036086"/>
          </a:xfrm>
          <a:prstGeom prst="rect">
            <a:avLst/>
          </a:prstGeom>
          <a:solidFill>
            <a:srgbClr val="FFF7E6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4"/>
          <p:cNvSpPr/>
          <p:nvPr/>
        </p:nvSpPr>
        <p:spPr>
          <a:xfrm>
            <a:off x="457199" y="3726017"/>
            <a:ext cx="8229600" cy="10938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b="1" dirty="0"/>
              <a:t>New customers (~54%) place the highest number of orders (~49K)</a:t>
            </a:r>
            <a:r>
              <a:rPr lang="en-US" sz="1100" dirty="0"/>
              <a:t>, making them the </a:t>
            </a:r>
            <a:r>
              <a:rPr lang="en-US" sz="1100" b="1" dirty="0"/>
              <a:t>main driver of total orders</a:t>
            </a:r>
            <a:r>
              <a:rPr lang="en-US" sz="1100" dirty="0"/>
              <a:t> due to their large share.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 </a:t>
            </a:r>
            <a:r>
              <a:rPr lang="en-US" sz="1100" b="1" dirty="0"/>
              <a:t>Returning customers (~35%) contribute a strong number of orders (~32K)</a:t>
            </a:r>
            <a:r>
              <a:rPr lang="en-US" sz="1100" dirty="0"/>
              <a:t>, showing </a:t>
            </a:r>
            <a:r>
              <a:rPr lang="en-US" sz="1100" b="1" dirty="0"/>
              <a:t>good repeat engagement and consistent activity</a:t>
            </a:r>
            <a:r>
              <a:rPr lang="en-US" sz="1100" dirty="0"/>
              <a:t>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/>
              <a:t> </a:t>
            </a:r>
            <a:r>
              <a:rPr lang="en-US" sz="1100" b="1" dirty="0"/>
              <a:t>Loyal customers (~11%) have the lowest orders (~10K)</a:t>
            </a:r>
            <a:r>
              <a:rPr lang="en-US" sz="1100" dirty="0"/>
              <a:t>, mainly because </a:t>
            </a:r>
            <a:r>
              <a:rPr lang="en-US" sz="1100" b="1" dirty="0"/>
              <a:t>their segment size is small</a:t>
            </a:r>
            <a:r>
              <a:rPr lang="en-US" sz="1100" dirty="0"/>
              <a:t>, not necessarily low engagement.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DAAA39-B4F8-7112-FBB0-F94E4F87D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42641"/>
            <a:ext cx="4302105" cy="26167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CAC55D-BD62-6236-E33B-4864B2244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1606" y="1042641"/>
            <a:ext cx="4016634" cy="26167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8344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30333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>
                <a:solidFill>
                  <a:schemeClr val="bg1"/>
                </a:solidFill>
                <a:latin typeface="Trebuchet MS" panose="020B0603020202020204" pitchFamily="34" charset="0"/>
              </a:rPr>
              <a:t>Who Stays, Who Spends</a:t>
            </a:r>
            <a:endParaRPr lang="en-US" sz="2600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933837"/>
            <a:ext cx="84124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220475" y="3881340"/>
            <a:ext cx="8412480" cy="1058521"/>
          </a:xfrm>
          <a:prstGeom prst="rect">
            <a:avLst/>
          </a:prstGeom>
          <a:solidFill>
            <a:srgbClr val="FFF7E6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365760" y="3899235"/>
            <a:ext cx="8412480" cy="1040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Semi-Urban and Urban regions show the strongest customer retention, while Metropolitan regions display a more balanced mix of loyal and returning customers.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The 36–50 age group drives the highest revenue (₹19M), with males accounting for a larger share in the top two age bands.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Metropolitan cities show more Returning and loyal customer variety — a prime segment for targeted loyalty campaigns.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05247C2-7625-E50E-9F9A-86C77BC59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248571"/>
            <a:ext cx="4313596" cy="2345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F59BAA-6135-E768-6886-D4C88C8ED4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964" y="1248572"/>
            <a:ext cx="4377118" cy="23115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012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Trebuchet MS" panose="020B0603020202020204" pitchFamily="34" charset="0"/>
              </a:rPr>
              <a:t>Behavior explains how they order</a:t>
            </a:r>
          </a:p>
        </p:txBody>
      </p:sp>
      <p:sp>
        <p:nvSpPr>
          <p:cNvPr id="4" name="Shape 2"/>
          <p:cNvSpPr/>
          <p:nvPr/>
        </p:nvSpPr>
        <p:spPr>
          <a:xfrm>
            <a:off x="365760" y="820937"/>
            <a:ext cx="84124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3"/>
          <p:cNvSpPr/>
          <p:nvPr/>
        </p:nvSpPr>
        <p:spPr>
          <a:xfrm>
            <a:off x="365760" y="3977640"/>
            <a:ext cx="8412480" cy="1028700"/>
          </a:xfrm>
          <a:prstGeom prst="rect">
            <a:avLst/>
          </a:prstGeom>
          <a:solidFill>
            <a:srgbClr val="FFF7E6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414997" y="4058529"/>
            <a:ext cx="8363243" cy="8510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New customers contribute the highest order value across all cuisines (around 8K–9.9K), while returning customers add steady value (around 5K–5.7K).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Chinese cuisine generates the highest total order value (~17K), followed by South Indian and Fast Food (~16K each), while desserts are lowest (~14K).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Cuisine preferences vary by region—Italian leads in urban areas (~10.6K orders), while Chinese is highest in semi-urban (~9.7K) and metro regions (~8.2K), showing clear regional demand differences.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FA0CF1E-614E-A83F-E293-6011EB648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09" y="1228579"/>
            <a:ext cx="4378954" cy="23779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9A1E74-E346-0129-3E87-62B75C705C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203599"/>
            <a:ext cx="4223826" cy="24029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Order Volume by Region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294227" y="4206240"/>
            <a:ext cx="6485548" cy="548640"/>
          </a:xfrm>
          <a:prstGeom prst="rect">
            <a:avLst/>
          </a:prstGeom>
          <a:solidFill>
            <a:srgbClr val="FFF7E6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541206" y="4206240"/>
            <a:ext cx="723703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orders peak in Q4 (~8637–8682 range) showing strong seasonal demand.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Q2 is consistently the lowest (~7166–7241 range), with a gradual rise toward year-end.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36A6F1-7829-708E-B0AC-DA8BCAE06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227" y="1172587"/>
            <a:ext cx="6407313" cy="29422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 Status &amp; Payment Mode Distribution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97280"/>
          <a:ext cx="41148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663440" y="1097280"/>
          <a:ext cx="41148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solidFill>
            <a:srgbClr val="FFF7E6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54864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93% delivery success rate. UPI dominates at 50% — digital payments are the clear preference. Cash usage at 10% is declining, aligning with India's digital payment revolution.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>
                <a:solidFill>
                  <a:schemeClr val="bg1"/>
                </a:solidFill>
                <a:latin typeface="Trebuchet MS" panose="020B0603020202020204" pitchFamily="34" charset="0"/>
              </a:rPr>
              <a:t>Festivals Fuel the Platform</a:t>
            </a:r>
            <a:endParaRPr lang="en-US" sz="2800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365760" y="3857954"/>
            <a:ext cx="8412480" cy="896926"/>
          </a:xfrm>
          <a:prstGeom prst="rect">
            <a:avLst/>
          </a:prstGeom>
          <a:solidFill>
            <a:srgbClr val="FFF7E6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365760" y="3857954"/>
            <a:ext cx="8412480" cy="896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/>
              <a:t>Festivals are the </a:t>
            </a:r>
            <a:r>
              <a:rPr lang="en-US" sz="1200" b="1" dirty="0"/>
              <a:t>top revenue driver</a:t>
            </a:r>
            <a:r>
              <a:rPr lang="en-US" sz="1200" dirty="0"/>
              <a:t>: ₹29.6M vs ₹22.5M (non-festival) with 14–17% higher order volume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/>
              <a:t>Focus on </a:t>
            </a:r>
            <a:r>
              <a:rPr lang="en-US" sz="1200" b="1" dirty="0"/>
              <a:t>premium bundles &amp; targeted offers</a:t>
            </a:r>
            <a:r>
              <a:rPr lang="en-US" sz="1200" dirty="0"/>
              <a:t> during festivals to maximize revenue. </a:t>
            </a:r>
          </a:p>
          <a:p>
            <a:pPr marL="0" indent="0">
              <a:buNone/>
            </a:pP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422DA98-F4C3-A79F-C540-9AF9767C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74" y="1285546"/>
            <a:ext cx="4146871" cy="20501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9F84AD-AD2B-D75D-3187-E3CCB41005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5729" y="1285546"/>
            <a:ext cx="4313197" cy="20977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DELIVERY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</a:rPr>
              <a:t>Delivery Speed: Region vs Vehicle Type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106984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1"/>
                </a:solidFill>
              </a:rPr>
              <a:t>Does where you deliver matter more than what you ride?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832104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66344" y="1508760"/>
            <a:ext cx="1792223" cy="4892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64007" cy="4892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66928" y="155448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</a:rPr>
              <a:t>5.0★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8640" y="1883665"/>
            <a:ext cx="15270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475569"/>
                </a:solidFill>
              </a:rPr>
              <a:t>Top partner rating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59735" y="1531696"/>
            <a:ext cx="1901952" cy="4892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472712" y="1537224"/>
            <a:ext cx="45719" cy="4892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606040" y="155448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</a:rPr>
              <a:t>23 kmph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96895" y="1752108"/>
            <a:ext cx="1764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475569"/>
                </a:solidFill>
              </a:rPr>
              <a:t>Urban speed(fastest region)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38078" y="1509560"/>
            <a:ext cx="1854462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489704" y="1508760"/>
            <a:ext cx="45719" cy="587494"/>
          </a:xfrm>
          <a:prstGeom prst="rect">
            <a:avLst/>
          </a:prstGeom>
          <a:solidFill>
            <a:srgbClr val="7030A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63440" y="1508760"/>
            <a:ext cx="1673352" cy="28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</a:rPr>
              <a:t>16 kmph</a:t>
            </a:r>
          </a:p>
        </p:txBody>
      </p:sp>
      <p:sp>
        <p:nvSpPr>
          <p:cNvPr id="18" name="Text 16"/>
          <p:cNvSpPr/>
          <p:nvPr/>
        </p:nvSpPr>
        <p:spPr>
          <a:xfrm>
            <a:off x="4572000" y="1851430"/>
            <a:ext cx="1672467" cy="196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475569"/>
                </a:solidFill>
              </a:rPr>
              <a:t>Semi-Urban speed (slowest region)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131398" y="4543834"/>
            <a:ext cx="8911002" cy="52194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9"/>
          <p:cNvSpPr/>
          <p:nvPr/>
        </p:nvSpPr>
        <p:spPr>
          <a:xfrm>
            <a:off x="292607" y="4727109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Region is the #1 speed driver</a:t>
            </a:r>
            <a:r>
              <a:rPr lang="en-US" sz="1100" dirty="0">
                <a:solidFill>
                  <a:srgbClr val="94A3B8"/>
                </a:solidFill>
              </a:rPr>
              <a:t> — Urban is 30% faster than Semi-Urban.  </a:t>
            </a:r>
            <a:r>
              <a:rPr lang="en-US" sz="1100" b="1" dirty="0">
                <a:solidFill>
                  <a:srgbClr val="FFFFFF"/>
                </a:solidFill>
              </a:rPr>
              <a:t>Vehicle type barely matters</a:t>
            </a:r>
            <a:r>
              <a:rPr lang="en-US" sz="1100" dirty="0">
                <a:solidFill>
                  <a:srgbClr val="94A3B8"/>
                </a:solidFill>
              </a:rPr>
              <a:t> — Scooter vs Bike gap is under 1 kmph.) — invest in route optimisation for Semi-Urban speed, not vehicle upgrades.</a:t>
            </a:r>
            <a:endParaRPr lang="en-US" sz="1100" dirty="0"/>
          </a:p>
        </p:txBody>
      </p:sp>
      <p:graphicFrame>
        <p:nvGraphicFramePr>
          <p:cNvPr id="43" name="Chart 42">
            <a:extLst>
              <a:ext uri="{FF2B5EF4-FFF2-40B4-BE49-F238E27FC236}">
                <a16:creationId xmlns:a16="http://schemas.microsoft.com/office/drawing/2014/main" id="{0737A38A-0D90-6242-EEDB-6E00C42859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1453374"/>
              </p:ext>
            </p:extLst>
          </p:nvPr>
        </p:nvGraphicFramePr>
        <p:xfrm>
          <a:off x="306876" y="2131584"/>
          <a:ext cx="2834640" cy="23505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0" name="Picture 39">
            <a:extLst>
              <a:ext uri="{FF2B5EF4-FFF2-40B4-BE49-F238E27FC236}">
                <a16:creationId xmlns:a16="http://schemas.microsoft.com/office/drawing/2014/main" id="{8FA87D54-2D3F-8807-987D-13A6CE91AC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943" b="9862"/>
          <a:stretch>
            <a:fillRect/>
          </a:stretch>
        </p:blipFill>
        <p:spPr>
          <a:xfrm>
            <a:off x="411480" y="2327149"/>
            <a:ext cx="2548338" cy="1604119"/>
          </a:xfrm>
          <a:prstGeom prst="rect">
            <a:avLst/>
          </a:prstGeom>
        </p:spPr>
      </p:pic>
      <p:graphicFrame>
        <p:nvGraphicFramePr>
          <p:cNvPr id="44" name="Chart 43">
            <a:extLst>
              <a:ext uri="{FF2B5EF4-FFF2-40B4-BE49-F238E27FC236}">
                <a16:creationId xmlns:a16="http://schemas.microsoft.com/office/drawing/2014/main" id="{B2298794-1164-2FCB-BC98-3394DA58FE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1451211"/>
              </p:ext>
            </p:extLst>
          </p:nvPr>
        </p:nvGraphicFramePr>
        <p:xfrm>
          <a:off x="3191180" y="2141760"/>
          <a:ext cx="2834640" cy="23289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38" name="Picture 37">
            <a:extLst>
              <a:ext uri="{FF2B5EF4-FFF2-40B4-BE49-F238E27FC236}">
                <a16:creationId xmlns:a16="http://schemas.microsoft.com/office/drawing/2014/main" id="{CB9EAA03-B671-8859-9B77-5C753374A8B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560" t="3503" b="7272"/>
          <a:stretch>
            <a:fillRect/>
          </a:stretch>
        </p:blipFill>
        <p:spPr>
          <a:xfrm>
            <a:off x="3257801" y="2420506"/>
            <a:ext cx="2628398" cy="1510762"/>
          </a:xfrm>
          <a:prstGeom prst="rect">
            <a:avLst/>
          </a:prstGeom>
        </p:spPr>
      </p:pic>
      <p:graphicFrame>
        <p:nvGraphicFramePr>
          <p:cNvPr id="23" name="Chart 0">
            <a:extLst>
              <a:ext uri="{FF2B5EF4-FFF2-40B4-BE49-F238E27FC236}">
                <a16:creationId xmlns:a16="http://schemas.microsoft.com/office/drawing/2014/main" id="{3B44EA86-E425-1B62-ABE1-B2BC8D448C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1365796"/>
              </p:ext>
            </p:extLst>
          </p:nvPr>
        </p:nvGraphicFramePr>
        <p:xfrm>
          <a:off x="6075484" y="2109970"/>
          <a:ext cx="2995289" cy="24109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25" name="Picture 24">
            <a:extLst>
              <a:ext uri="{FF2B5EF4-FFF2-40B4-BE49-F238E27FC236}">
                <a16:creationId xmlns:a16="http://schemas.microsoft.com/office/drawing/2014/main" id="{5C4C3FBA-7728-9E8E-3A6D-1EDAD7B0A05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464" t="5637" r="4620" b="4010"/>
          <a:stretch>
            <a:fillRect/>
          </a:stretch>
        </p:blipFill>
        <p:spPr>
          <a:xfrm>
            <a:off x="3257802" y="2420506"/>
            <a:ext cx="2628398" cy="151076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177CAA5-3888-2EB9-846C-E4535293BE9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907" t="8087" r="4861" b="7912"/>
          <a:stretch>
            <a:fillRect/>
          </a:stretch>
        </p:blipFill>
        <p:spPr>
          <a:xfrm>
            <a:off x="361816" y="2345437"/>
            <a:ext cx="2548338" cy="15858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8620" y="91440"/>
            <a:ext cx="2834640" cy="246888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ctr"/>
          <a:lstStyle/>
          <a:p>
            <a:r>
              <a:rPr lang="en-US" sz="1000" b="1" kern="0" spc="2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" y="347472"/>
            <a:ext cx="8732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Top 5 &amp; Bottom 5 Restaurants by Rating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28600" y="950976"/>
            <a:ext cx="8732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Which restaurants lead — and which need the most improvement?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1252728"/>
            <a:ext cx="8732520" cy="22860"/>
          </a:xfrm>
          <a:prstGeom prst="rect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31673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TOP 5 RESTAURANTS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36592" y="131673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BOTTOM 5 RESTAURANTS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645152" y="1568196"/>
            <a:ext cx="146304" cy="2578608"/>
          </a:xfrm>
          <a:prstGeom prst="rect">
            <a:avLst/>
          </a:prstGeom>
          <a:solidFill>
            <a:srgbClr val="1E3A7A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0" y="4215384"/>
            <a:ext cx="9144000" cy="928116"/>
          </a:xfrm>
          <a:prstGeom prst="rect">
            <a:avLst/>
          </a:prstGeom>
          <a:solidFill>
            <a:srgbClr val="0D1B4E"/>
          </a:solidFill>
          <a:ln w="12700">
            <a:solidFill>
              <a:srgbClr val="0D1B4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01168" y="4233672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 INSIGHTS 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Top 5 restaurants all score a perfect 5.0★ — premium quality ceiling.  </a:t>
            </a: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Bottom 5 all score 3.5★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— a 1.5★ gap highlights a significant quality divide across the network.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201168" y="4590288"/>
            <a:ext cx="8741664" cy="18288"/>
          </a:xfrm>
          <a:prstGeom prst="rect">
            <a:avLst/>
          </a:prstGeom>
          <a:solidFill>
            <a:srgbClr val="3A5A9A"/>
          </a:solidFill>
          <a:ln w="12700">
            <a:solidFill>
              <a:srgbClr val="3A5A9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461772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SUGGESTION: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Enrol bottom 5 restaurants in a quality improvement programme — target 4.0★ minimum.  </a:t>
            </a: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CONCLUSION: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Huge rating spread signals uneven partner quality.  </a:t>
            </a: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0BCD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FUTURE: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Introduce a tiered partner rating system to incentivise consistent performance.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0DFC3FC-D915-3CB0-70F6-7276CED22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2591" y="1662800"/>
            <a:ext cx="4076817" cy="234684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38834A4-AB67-3F6F-C912-B11C672C4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405" y="1621654"/>
            <a:ext cx="4455502" cy="240627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RESTAURANT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</a:rPr>
              <a:t>Seasonal Demand by Cuisine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106984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1"/>
                </a:solidFill>
              </a:rPr>
              <a:t>Monthly order volumes reveal when each cuisine peaks across the year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832104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1920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66928" y="155448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</a:rPr>
              <a:t>Chinese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66928" y="19659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Highest volume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cuisine year-round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23160" y="1508760"/>
            <a:ext cx="1920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423160" y="1508760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578608" y="155448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</a:rPr>
              <a:t>Oct–Nov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78608" y="19659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Peak demand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months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34840" y="1508760"/>
            <a:ext cx="1920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434840" y="1508760"/>
            <a:ext cx="64008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90288" y="155448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</a:rPr>
              <a:t>Fast Food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90288" y="19659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Most stable &amp;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lowest volume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2487168"/>
            <a:ext cx="8321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1554480" y="44348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Mar spike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675120" y="4434840"/>
            <a:ext cx="1005840" cy="228600"/>
          </a:xfrm>
          <a:prstGeom prst="rect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7F5943E-5B21-25BF-0629-CFA2BF36C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2487168"/>
            <a:ext cx="8430768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Restaurant Performance by Cuisine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4754880" y="1143000"/>
            <a:ext cx="4023360" cy="109728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754880" y="1216152"/>
            <a:ext cx="402336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4.62★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754880" y="1779422"/>
            <a:ext cx="4023360" cy="46085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Restaurant Rating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2377440"/>
            <a:ext cx="4023360" cy="1097280"/>
          </a:xfrm>
          <a:prstGeom prst="rect">
            <a:avLst/>
          </a:prstGeom>
          <a:solidFill>
            <a:srgbClr val="E05C40"/>
          </a:solidFill>
          <a:ln w="12700">
            <a:solidFill>
              <a:srgbClr val="E05C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754880" y="2450592"/>
            <a:ext cx="402336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26.9 min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754880" y="3013862"/>
            <a:ext cx="4023360" cy="46085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Preparation Time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83015" y="3606989"/>
            <a:ext cx="3967089" cy="766139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0"/>
          <p:cNvSpPr/>
          <p:nvPr/>
        </p:nvSpPr>
        <p:spPr>
          <a:xfrm>
            <a:off x="4572000" y="3503747"/>
            <a:ext cx="402336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4.02★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4754880" y="4140169"/>
            <a:ext cx="4023360" cy="303453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Customer Order Rating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4464568"/>
            <a:ext cx="8412480" cy="548640"/>
          </a:xfrm>
          <a:prstGeom prst="rect">
            <a:avLst/>
          </a:prstGeom>
          <a:solidFill>
            <a:srgbClr val="FFF7E6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48640" y="448551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Italian cuisine has the most restaurants (29.23%), followed by Chinese (26%). Restaurants maintain excellent internal ratings (4.62★) but customer order ratings are modest (4.02★), pointing to delivery experience gaps.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2B3AC53-B52E-24AA-9374-0D5B1A61A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03667"/>
            <a:ext cx="4262511" cy="315973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21140" cy="288036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41148"/>
            <a:ext cx="54864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&amp; PROBABILITY RESULTS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293751"/>
            <a:ext cx="2228850" cy="260604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" y="283845"/>
            <a:ext cx="2187702" cy="27051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 defTabSz="685800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  |  One-Sample Z-Test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235708" y="294894"/>
            <a:ext cx="2228850" cy="260604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97430" y="349758"/>
            <a:ext cx="2007489" cy="17145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 defTabSz="685800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  |  Two-Sample T + Paired T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71416" y="293751"/>
            <a:ext cx="2228850" cy="260604"/>
          </a:xfrm>
          <a:prstGeom prst="rect">
            <a:avLst/>
          </a:prstGeom>
          <a:solidFill>
            <a:srgbClr val="D4650A"/>
          </a:solidFill>
          <a:ln w="12700">
            <a:solidFill>
              <a:srgbClr val="D465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2564" y="301752"/>
            <a:ext cx="2228850" cy="260604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 defTabSz="685800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3 |  Chi-Square Independence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710553" y="283845"/>
            <a:ext cx="2417445" cy="260604"/>
          </a:xfrm>
          <a:prstGeom prst="rect">
            <a:avLst/>
          </a:prstGeom>
          <a:solidFill>
            <a:srgbClr val="0E7C4A"/>
          </a:solidFill>
          <a:ln w="12700">
            <a:solidFill>
              <a:srgbClr val="0E7C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74586" y="367094"/>
            <a:ext cx="1986915" cy="113919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 defTabSz="685800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4  |  Chi-Sq GoF + Homogeneity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429" y="617220"/>
            <a:ext cx="2228850" cy="1783080"/>
          </a:xfrm>
          <a:prstGeom prst="rect">
            <a:avLst/>
          </a:prstGeom>
          <a:solidFill>
            <a:srgbClr val="0F2A42"/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" y="576072"/>
            <a:ext cx="2228850" cy="20574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" y="562356"/>
            <a:ext cx="2153412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Statistical Insights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722" y="891540"/>
            <a:ext cx="2173986" cy="205740"/>
          </a:xfrm>
          <a:prstGeom prst="rect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870" y="905256"/>
            <a:ext cx="21259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9A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Z-stat:  </a:t>
            </a: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−31.81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2870" y="1124712"/>
            <a:ext cx="21259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9A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 </a:t>
            </a: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1,00,000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722" y="1330452"/>
            <a:ext cx="2173986" cy="205740"/>
          </a:xfrm>
          <a:prstGeom prst="rect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870" y="1344168"/>
            <a:ext cx="21259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9A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p-value:  </a:t>
            </a: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0.0001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2870" y="1563624"/>
            <a:ext cx="21259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9A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 </a:t>
            </a:r>
            <a:r>
              <a:rPr lang="en-US" sz="9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H0 ✓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1722" y="1769364"/>
            <a:ext cx="2173986" cy="205740"/>
          </a:xfrm>
          <a:prstGeom prst="rect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870" y="1783080"/>
            <a:ext cx="21259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9A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delivery:  </a:t>
            </a: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35.51 min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2870" y="2002536"/>
            <a:ext cx="21259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9A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P(&lt; 30 min):  </a:t>
            </a: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13.13%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1722" y="2208276"/>
            <a:ext cx="2173986" cy="205740"/>
          </a:xfrm>
          <a:prstGeom prst="rect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870" y="2221992"/>
            <a:ext cx="21259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9A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P(&gt; 40 min):  </a:t>
            </a: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18.02%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4290" y="2468880"/>
            <a:ext cx="2228850" cy="2551176"/>
          </a:xfrm>
          <a:prstGeom prst="rect">
            <a:avLst/>
          </a:prstGeom>
          <a:solidFill>
            <a:srgbClr val="0A2418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290" y="2468880"/>
            <a:ext cx="2228850" cy="2057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290" y="2468880"/>
            <a:ext cx="222885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Business Insights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1722" y="2702052"/>
            <a:ext cx="2173986" cy="500634"/>
          </a:xfrm>
          <a:prstGeom prst="rect">
            <a:avLst/>
          </a:prstGeom>
          <a:solidFill>
            <a:srgbClr val="081A10"/>
          </a:solidFill>
          <a:ln w="12700">
            <a:solidFill>
              <a:srgbClr val="081A1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154" y="2852928"/>
            <a:ext cx="82296" cy="82296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5166" y="2729484"/>
            <a:ext cx="2036826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delivery FASTER than benchmark — promote as competitive USP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9154" y="3380994"/>
            <a:ext cx="82296" cy="82296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5166" y="3257550"/>
            <a:ext cx="2036826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exceed 40 min — deploy real-time routing to cap late deliveries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1722" y="3758184"/>
            <a:ext cx="2173986" cy="500634"/>
          </a:xfrm>
          <a:prstGeom prst="rect">
            <a:avLst/>
          </a:prstGeom>
          <a:solidFill>
            <a:srgbClr val="081A10"/>
          </a:solidFill>
          <a:ln w="12700">
            <a:solidFill>
              <a:srgbClr val="081A1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154" y="3909060"/>
            <a:ext cx="82296" cy="82296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5166" y="3785616"/>
            <a:ext cx="2036826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partner incentives: bonus for &lt;35 min, penalty for &gt;42 min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9154" y="4437126"/>
            <a:ext cx="82296" cy="82296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5166" y="4313682"/>
            <a:ext cx="2036826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delay alerts + free vouchers for orders running &gt;40 min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2228850" y="651890"/>
            <a:ext cx="2283714" cy="1755267"/>
          </a:xfrm>
          <a:prstGeom prst="rect">
            <a:avLst/>
          </a:prstGeom>
          <a:solidFill>
            <a:srgbClr val="0F2A42"/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69998" y="576072"/>
            <a:ext cx="2228850" cy="20574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97430" y="562356"/>
            <a:ext cx="1981962" cy="25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Statistical Insights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2324862" y="891540"/>
            <a:ext cx="2173986" cy="205740"/>
          </a:xfrm>
          <a:prstGeom prst="rect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66010" y="905256"/>
            <a:ext cx="21259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9A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2-Sample t:  </a:t>
            </a: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73.15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2366010" y="1124712"/>
            <a:ext cx="21259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9A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t:  </a:t>
            </a: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−23.37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2324862" y="1330452"/>
            <a:ext cx="2173986" cy="205740"/>
          </a:xfrm>
          <a:prstGeom prst="rect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66010" y="1344168"/>
            <a:ext cx="21259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9A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p-value:  </a:t>
            </a: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0.0001 (both)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2366010" y="1563624"/>
            <a:ext cx="21259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9A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2-Sample:  </a:t>
            </a:r>
            <a:r>
              <a:rPr lang="en-US" sz="9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H0 ✓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2324862" y="1769364"/>
            <a:ext cx="2173986" cy="205740"/>
          </a:xfrm>
          <a:prstGeom prst="rect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66010" y="1783080"/>
            <a:ext cx="21259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9A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Paired:  </a:t>
            </a: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Reject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2366010" y="2002536"/>
            <a:ext cx="21259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9A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avg:  </a:t>
            </a: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581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2324862" y="2208276"/>
            <a:ext cx="2173986" cy="205740"/>
          </a:xfrm>
          <a:prstGeom prst="rect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366010" y="2221992"/>
            <a:ext cx="21259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9A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P(fest &gt; non):  </a:t>
            </a: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67.95%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2297430" y="2468880"/>
            <a:ext cx="2228850" cy="2551176"/>
          </a:xfrm>
          <a:prstGeom prst="rect">
            <a:avLst/>
          </a:prstGeom>
          <a:solidFill>
            <a:srgbClr val="0A2418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297430" y="2468880"/>
            <a:ext cx="2228850" cy="2057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97430" y="2468880"/>
            <a:ext cx="222885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Business Insights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2324862" y="2702052"/>
            <a:ext cx="2173986" cy="500634"/>
          </a:xfrm>
          <a:prstGeom prst="rect">
            <a:avLst/>
          </a:prstGeom>
          <a:solidFill>
            <a:srgbClr val="081A10"/>
          </a:solidFill>
          <a:ln w="12700">
            <a:solidFill>
              <a:srgbClr val="081A1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52294" y="2852928"/>
            <a:ext cx="82296" cy="82296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448306" y="2729484"/>
            <a:ext cx="2036826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orders avg Rs.581 vs Rs.505 — activate premium bundles 3 days pre-festival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2352294" y="3380994"/>
            <a:ext cx="82296" cy="82296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448306" y="3257550"/>
            <a:ext cx="2036826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surge pricing during high-demand festival windows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2324862" y="3758184"/>
            <a:ext cx="2173986" cy="500634"/>
          </a:xfrm>
          <a:prstGeom prst="rect">
            <a:avLst/>
          </a:prstGeom>
          <a:solidFill>
            <a:srgbClr val="081A10"/>
          </a:solidFill>
          <a:ln w="12700">
            <a:solidFill>
              <a:srgbClr val="081A1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52294" y="3909060"/>
            <a:ext cx="82296" cy="82296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448306" y="3785616"/>
            <a:ext cx="2036826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test: discounts drive upsell — use as entry point, upsell add-ons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2352294" y="4437126"/>
            <a:ext cx="82296" cy="82296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448306" y="4313682"/>
            <a:ext cx="2036826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festival campaign calendar linked to Indian public holiday schedule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4519422" y="653034"/>
            <a:ext cx="2228850" cy="1760982"/>
          </a:xfrm>
          <a:prstGeom prst="rect">
            <a:avLst/>
          </a:prstGeom>
          <a:solidFill>
            <a:srgbClr val="0F2A42"/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19422" y="568071"/>
            <a:ext cx="2228850" cy="20574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60570" y="544449"/>
            <a:ext cx="1961388" cy="251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Statistical Insights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4588002" y="891540"/>
            <a:ext cx="2173986" cy="205740"/>
          </a:xfrm>
          <a:prstGeom prst="rect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629150" y="905256"/>
            <a:ext cx="21259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9A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stat:  </a:t>
            </a: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2.88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4629150" y="1124712"/>
            <a:ext cx="21259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9A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df:  </a:t>
            </a: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4588002" y="1330452"/>
            <a:ext cx="2173986" cy="205740"/>
          </a:xfrm>
          <a:prstGeom prst="rect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29150" y="1344168"/>
            <a:ext cx="21259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9A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p-value:  </a:t>
            </a: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0.8241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4629150" y="1563624"/>
            <a:ext cx="21259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9A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 </a:t>
            </a:r>
            <a:r>
              <a:rPr lang="en-US" sz="9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REJECT H0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4588002" y="1769364"/>
            <a:ext cx="2173986" cy="205740"/>
          </a:xfrm>
          <a:prstGeom prst="rect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629150" y="1783080"/>
            <a:ext cx="21259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9A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Cramer's V:  </a:t>
            </a: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 (negligible)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4629150" y="2002536"/>
            <a:ext cx="21259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9A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 </a:t>
            </a: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Customer Type independent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4560570" y="2468880"/>
            <a:ext cx="2228850" cy="2551176"/>
          </a:xfrm>
          <a:prstGeom prst="rect">
            <a:avLst/>
          </a:prstGeom>
          <a:solidFill>
            <a:srgbClr val="0A2418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560570" y="2468880"/>
            <a:ext cx="2228850" cy="2057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560570" y="2468880"/>
            <a:ext cx="222885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Business Insights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4588002" y="2702052"/>
            <a:ext cx="2173986" cy="500634"/>
          </a:xfrm>
          <a:prstGeom prst="rect">
            <a:avLst/>
          </a:prstGeom>
          <a:solidFill>
            <a:srgbClr val="081A10"/>
          </a:solidFill>
          <a:ln w="12700">
            <a:solidFill>
              <a:srgbClr val="081A1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615434" y="2852928"/>
            <a:ext cx="82296" cy="82296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711446" y="2729484"/>
            <a:ext cx="2036826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mode is independent of customer loyalty — no need for tier personalisation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4615434" y="3380994"/>
            <a:ext cx="82296" cy="82296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711446" y="3257550"/>
            <a:ext cx="2036826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single UPI cashback campaign (e.g., 5% back) for ALL user segments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4588002" y="3758184"/>
            <a:ext cx="2173986" cy="500634"/>
          </a:xfrm>
          <a:prstGeom prst="rect">
            <a:avLst/>
          </a:prstGeom>
          <a:solidFill>
            <a:srgbClr val="081A10"/>
          </a:solidFill>
          <a:ln w="12700">
            <a:solidFill>
              <a:srgbClr val="081A1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615434" y="3909060"/>
            <a:ext cx="82296" cy="82296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11446" y="3785616"/>
            <a:ext cx="2036826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loyalty-tier budget toward cuisine personalisation &amp; speed guarantees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4615434" y="4437126"/>
            <a:ext cx="82296" cy="82296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711446" y="4313682"/>
            <a:ext cx="2036826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checkout — removing payment-tier segmentation reduces friction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6823710" y="672084"/>
            <a:ext cx="2228850" cy="1728216"/>
          </a:xfrm>
          <a:prstGeom prst="rect">
            <a:avLst/>
          </a:prstGeom>
          <a:solidFill>
            <a:srgbClr val="0F2A42"/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782562" y="567309"/>
            <a:ext cx="2228850" cy="20574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823710" y="544449"/>
            <a:ext cx="2137791" cy="285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Statistical Insights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6851142" y="891540"/>
            <a:ext cx="2173986" cy="205740"/>
          </a:xfrm>
          <a:prstGeom prst="rect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892290" y="905256"/>
            <a:ext cx="21259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9A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GoF χ²:  </a:t>
            </a: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68,262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7" name="Text 95"/>
          <p:cNvSpPr/>
          <p:nvPr/>
        </p:nvSpPr>
        <p:spPr>
          <a:xfrm>
            <a:off x="6892290" y="1124712"/>
            <a:ext cx="21259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9A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 χ²:  </a:t>
            </a: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3.33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6851142" y="1330452"/>
            <a:ext cx="2173986" cy="205740"/>
          </a:xfrm>
          <a:prstGeom prst="rect">
            <a:avLst/>
          </a:prstGeom>
          <a:solidFill>
            <a:srgbClr val="1A3A28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892290" y="1344168"/>
            <a:ext cx="21259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9A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GoF p-val:  </a:t>
            </a:r>
            <a:r>
              <a:rPr lang="en-US" sz="9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0.0001  → REJECT ✓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0" name="Text 98"/>
          <p:cNvSpPr/>
          <p:nvPr/>
        </p:nvSpPr>
        <p:spPr>
          <a:xfrm>
            <a:off x="6892290" y="1563624"/>
            <a:ext cx="21259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9A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 p:  </a:t>
            </a: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0.9121  → Fail to Reject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6851142" y="1769364"/>
            <a:ext cx="2173986" cy="205740"/>
          </a:xfrm>
          <a:prstGeom prst="rect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892290" y="1783080"/>
            <a:ext cx="21259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9A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star:  </a:t>
            </a: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of orders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3" name="Text 101"/>
          <p:cNvSpPr/>
          <p:nvPr/>
        </p:nvSpPr>
        <p:spPr>
          <a:xfrm>
            <a:off x="6892290" y="2002536"/>
            <a:ext cx="21259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9A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star:  </a:t>
            </a: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 equally across regions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6823710" y="2468880"/>
            <a:ext cx="2228850" cy="2551176"/>
          </a:xfrm>
          <a:prstGeom prst="rect">
            <a:avLst/>
          </a:prstGeom>
          <a:solidFill>
            <a:srgbClr val="0A2418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823710" y="2468880"/>
            <a:ext cx="2228850" cy="2057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823710" y="2468880"/>
            <a:ext cx="222885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Business Insights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7" name="Shape 105"/>
          <p:cNvSpPr/>
          <p:nvPr/>
        </p:nvSpPr>
        <p:spPr>
          <a:xfrm>
            <a:off x="6851142" y="2702052"/>
            <a:ext cx="2173986" cy="500634"/>
          </a:xfrm>
          <a:prstGeom prst="rect">
            <a:avLst/>
          </a:prstGeom>
          <a:solidFill>
            <a:srgbClr val="081A10"/>
          </a:solidFill>
          <a:ln w="12700">
            <a:solidFill>
              <a:srgbClr val="081A1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878574" y="2852928"/>
            <a:ext cx="82296" cy="82296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974586" y="2729484"/>
            <a:ext cx="2036826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skew 4–5 stars (78%) — leverage in ads: '4 in 5 rate us 4+ stars'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0" name="Shape 108"/>
          <p:cNvSpPr/>
          <p:nvPr/>
        </p:nvSpPr>
        <p:spPr>
          <a:xfrm>
            <a:off x="6878574" y="3380994"/>
            <a:ext cx="82296" cy="82296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974586" y="3257550"/>
            <a:ext cx="2036826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 low-star orders are a UNIVERSAL failure — not regional; audit everywhere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2" name="Shape 110"/>
          <p:cNvSpPr/>
          <p:nvPr/>
        </p:nvSpPr>
        <p:spPr>
          <a:xfrm>
            <a:off x="6851142" y="3758184"/>
            <a:ext cx="2173986" cy="500634"/>
          </a:xfrm>
          <a:prstGeom prst="rect">
            <a:avLst/>
          </a:prstGeom>
          <a:solidFill>
            <a:srgbClr val="081A10"/>
          </a:solidFill>
          <a:ln w="12700">
            <a:solidFill>
              <a:srgbClr val="081A1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878574" y="3909060"/>
            <a:ext cx="82296" cy="82296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974586" y="3785616"/>
            <a:ext cx="2036826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auto-recovery: trigger compensatory voucher for any rating below 3 stars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5" name="Shape 113"/>
          <p:cNvSpPr/>
          <p:nvPr/>
        </p:nvSpPr>
        <p:spPr>
          <a:xfrm>
            <a:off x="6878574" y="4437126"/>
            <a:ext cx="82296" cy="82296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974586" y="4313682"/>
            <a:ext cx="2036826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monthly root-cause analysis on 1-star orders: packaging, partner, or restaurant?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7" name="Shape 115"/>
          <p:cNvSpPr/>
          <p:nvPr/>
        </p:nvSpPr>
        <p:spPr>
          <a:xfrm>
            <a:off x="0" y="4972050"/>
            <a:ext cx="9121140" cy="171450"/>
          </a:xfrm>
          <a:prstGeom prst="rect">
            <a:avLst/>
          </a:prstGeom>
          <a:solidFill>
            <a:srgbClr val="091422"/>
          </a:solidFill>
          <a:ln w="12700">
            <a:solidFill>
              <a:srgbClr val="091422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21140" cy="4800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5740" y="0"/>
            <a:ext cx="685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b="1" dirty="0">
                <a:solidFill>
                  <a:prstClr val="white"/>
                </a:solidFill>
                <a:latin typeface="Calibri" panose="020F0502020204030204"/>
              </a:rPr>
              <a:t>Automating Food Delivery Operations with SQL</a:t>
            </a:r>
          </a:p>
        </p:txBody>
      </p:sp>
      <p:sp>
        <p:nvSpPr>
          <p:cNvPr id="4" name="Text 2"/>
          <p:cNvSpPr/>
          <p:nvPr/>
        </p:nvSpPr>
        <p:spPr>
          <a:xfrm>
            <a:off x="7886700" y="0"/>
            <a:ext cx="1028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64592" y="520090"/>
            <a:ext cx="891540" cy="2057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540524"/>
            <a:ext cx="891540" cy="130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903470" y="582930"/>
            <a:ext cx="891540" cy="2057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03470" y="582930"/>
            <a:ext cx="8915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32020" y="534924"/>
            <a:ext cx="0" cy="4457700"/>
          </a:xfrm>
          <a:prstGeom prst="line">
            <a:avLst/>
          </a:prstGeom>
          <a:noFill/>
          <a:ln w="19050">
            <a:solidFill>
              <a:srgbClr val="334155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05739" y="829818"/>
            <a:ext cx="4526279" cy="1138428"/>
          </a:xfrm>
          <a:prstGeom prst="rect">
            <a:avLst/>
          </a:prstGeom>
          <a:solidFill>
            <a:srgbClr val="1B2A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5166" y="829819"/>
            <a:ext cx="68579" cy="11384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0492" y="912045"/>
            <a:ext cx="1120140" cy="18859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1" y="916730"/>
            <a:ext cx="1085850" cy="158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INSERT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659636" y="891540"/>
            <a:ext cx="1014983" cy="18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 orders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08750" y="1112184"/>
            <a:ext cx="4183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200" b="1" dirty="0">
                <a:solidFill>
                  <a:prstClr val="white"/>
                </a:solidFill>
                <a:latin typeface="Calibri" panose="020F0502020204030204"/>
              </a:rPr>
              <a:t>Apply Discounts Before Order Creation</a:t>
            </a:r>
          </a:p>
        </p:txBody>
      </p:sp>
      <p:sp>
        <p:nvSpPr>
          <p:cNvPr id="16" name="Text 14"/>
          <p:cNvSpPr/>
          <p:nvPr/>
        </p:nvSpPr>
        <p:spPr>
          <a:xfrm>
            <a:off x="322326" y="1268730"/>
            <a:ext cx="414909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7175" indent="-257175" defTabSz="685800">
              <a:buSzPct val="100000"/>
              <a:buFontTx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Festival order → 10% discount on order_value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buSzPct val="100000"/>
              <a:buFontTx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UPI payment    → 5%  discount  (stackable)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buSzPct val="100000"/>
              <a:buFontTx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Sets discount &amp; final_amount before row insert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buSzPct val="100000"/>
              <a:buFontTx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Logs: order value, discount, final, mode, festival flag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85166" y="2188961"/>
            <a:ext cx="4500108" cy="1051444"/>
          </a:xfrm>
          <a:prstGeom prst="rect">
            <a:avLst/>
          </a:prstGeom>
          <a:solidFill>
            <a:srgbClr val="1B2A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9567" y="2195819"/>
            <a:ext cx="74179" cy="10514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0492" y="2249424"/>
            <a:ext cx="1171459" cy="17376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0492" y="2242565"/>
            <a:ext cx="1218204" cy="226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INSERT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706382" y="2215484"/>
            <a:ext cx="933949" cy="191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ON: orders</a:t>
            </a:r>
            <a:endParaRPr lang="en-US" sz="12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14208" y="2410937"/>
            <a:ext cx="4136635" cy="198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200" b="1" dirty="0">
                <a:solidFill>
                  <a:prstClr val="white"/>
                </a:solidFill>
                <a:latin typeface="Calibri" panose="020F0502020204030204"/>
              </a:rPr>
              <a:t>Update Customer Status After Order Placement</a:t>
            </a:r>
          </a:p>
        </p:txBody>
      </p:sp>
      <p:sp>
        <p:nvSpPr>
          <p:cNvPr id="23" name="Text 21"/>
          <p:cNvSpPr/>
          <p:nvPr/>
        </p:nvSpPr>
        <p:spPr>
          <a:xfrm>
            <a:off x="480059" y="2635079"/>
            <a:ext cx="3991356" cy="6053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7175" indent="-257175" defTabSz="685800">
              <a:buSzPct val="100000"/>
              <a:buFontTx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Increments total_orders; recalculates average_spend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buSzPct val="100000"/>
              <a:buFontTx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Promotes customer_type: New → Returning → Loyal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buSzPct val="100000"/>
              <a:buFontTx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  (thresholds: ≥3 orders → Returning, ≥10 → Loyal)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buSzPct val="100000"/>
              <a:buFontTx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Logs: customer_id, order_id, final_amount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85166" y="3435858"/>
            <a:ext cx="4500108" cy="1124712"/>
          </a:xfrm>
          <a:prstGeom prst="rect">
            <a:avLst/>
          </a:prstGeom>
          <a:solidFill>
            <a:srgbClr val="1B2A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164592" y="3438657"/>
            <a:ext cx="74180" cy="112191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2326" y="3461118"/>
            <a:ext cx="1130310" cy="23107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3639" y="3470150"/>
            <a:ext cx="1080248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 UPDATE</a:t>
            </a:r>
            <a:endParaRPr lang="en-US" sz="105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706382" y="3444814"/>
            <a:ext cx="1057393" cy="231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ON: orders</a:t>
            </a:r>
            <a:endParaRPr lang="en-US" sz="12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15328" y="3717452"/>
            <a:ext cx="42108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IN" sz="1200" b="1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 Delivery &amp; Restaurant Performance</a:t>
            </a:r>
            <a:endParaRPr lang="en-US" sz="1200" b="1" dirty="0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90907" y="3840480"/>
            <a:ext cx="4080509" cy="7200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7175" indent="-257175" defTabSz="685800">
              <a:buSzPct val="100000"/>
              <a:buFontTx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Fires only when status changes → 'Delivered'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buSzPct val="100000"/>
              <a:buFontTx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Restaurant: total_orders++, recalc avg_rating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buSzPct val="100000"/>
              <a:buFontTx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Partner: total_deliveries++; delayed++ if &gt;45 min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buSzPct val="100000"/>
              <a:buFontTx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Logs: order_id, rating, delivery_time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873752" y="882232"/>
            <a:ext cx="4130802" cy="1218416"/>
          </a:xfrm>
          <a:prstGeom prst="rect">
            <a:avLst/>
          </a:prstGeom>
          <a:solidFill>
            <a:srgbClr val="1B2A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61367" y="882234"/>
            <a:ext cx="61722" cy="1191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36057" y="946788"/>
            <a:ext cx="1019558" cy="21221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pPr defTabSz="685800"/>
            <a:endParaRPr lang="en-IN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985766" y="891540"/>
            <a:ext cx="1120140" cy="26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1 MONTH</a:t>
            </a:r>
            <a:endParaRPr lang="en-US" sz="105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117340" y="949762"/>
            <a:ext cx="1597910" cy="163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STARTS: 2025-02-01</a:t>
            </a:r>
            <a:endParaRPr lang="en-US" sz="9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035869" y="1238254"/>
            <a:ext cx="3874770" cy="192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IN" sz="1200" b="1" dirty="0">
                <a:solidFill>
                  <a:prstClr val="white"/>
                </a:solidFill>
                <a:latin typeface="Calibri" panose="020F0502020204030204"/>
              </a:rPr>
              <a:t>Generate Monthly Revenue Summary</a:t>
            </a:r>
            <a:endParaRPr lang="en-US" sz="1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116067" y="1450258"/>
            <a:ext cx="3813049" cy="593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7175" indent="-257175" defTabSz="685800">
              <a:buSzPct val="100000"/>
              <a:buFontTx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Aggregates last month's delivered orders</a:t>
            </a:r>
            <a:endParaRPr lang="en-US" sz="9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57175" indent="-257175" defTabSz="685800">
              <a:buSzPct val="100000"/>
              <a:buFontTx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Logs total orders, total revenue</a:t>
            </a:r>
            <a:endParaRPr lang="en-US" sz="9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57175" indent="-257175" defTabSz="685800">
              <a:buSzPct val="100000"/>
              <a:buFontTx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Splits revenue: Festival vs Non-Festival</a:t>
            </a:r>
            <a:endParaRPr lang="en-US" sz="9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685800">
              <a:buSzPct val="100000"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9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889616" y="2706761"/>
            <a:ext cx="4114795" cy="1154661"/>
          </a:xfrm>
          <a:prstGeom prst="rect">
            <a:avLst/>
          </a:prstGeom>
          <a:solidFill>
            <a:srgbClr val="1B2A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77298" y="2688357"/>
            <a:ext cx="68580" cy="117306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32626" y="2725909"/>
            <a:ext cx="1051562" cy="23884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0873" y="2715070"/>
            <a:ext cx="1090421" cy="249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1 WEEK</a:t>
            </a:r>
            <a:endParaRPr lang="en-US" sz="105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261564" y="2819594"/>
            <a:ext cx="1604772" cy="205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STARTS: CURRENT_TIMESTAMP</a:t>
            </a:r>
            <a:endParaRPr lang="en-US" sz="9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685800"/>
            <a:endParaRPr lang="en-US" sz="9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170347" y="3024841"/>
            <a:ext cx="3541015" cy="246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endParaRPr lang="en-IN" sz="1200" b="1" dirty="0">
              <a:solidFill>
                <a:prstClr val="white"/>
              </a:solidFill>
              <a:latin typeface="Calibri" panose="020F0502020204030204"/>
            </a:endParaRPr>
          </a:p>
          <a:p>
            <a:pPr defTabSz="685800"/>
            <a:r>
              <a:rPr lang="en-IN" sz="1200" b="1" dirty="0">
                <a:solidFill>
                  <a:prstClr val="white"/>
                </a:solidFill>
                <a:latin typeface="Calibri" panose="020F0502020204030204"/>
              </a:rPr>
              <a:t>Identify Delayed Delivery Partners</a:t>
            </a:r>
          </a:p>
          <a:p>
            <a:pPr defTabSz="685800"/>
            <a:endParaRPr lang="en-US" sz="1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054346" y="3281871"/>
            <a:ext cx="3541015" cy="118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7175" indent="-257175" defTabSz="685800">
              <a:buSzPct val="100000"/>
              <a:buFontTx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Scans all delivery partners (total deliveries &gt; 0)</a:t>
            </a:r>
            <a:endParaRPr lang="en-US" sz="9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57175" indent="-257175" defTabSz="685800">
              <a:buSzPct val="100000"/>
              <a:buFontTx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Flags partners with delayed count / total &gt; 20%</a:t>
            </a:r>
            <a:endParaRPr lang="en-US" sz="9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57175" indent="-257175" defTabSz="685800">
              <a:buSzPct val="100000"/>
              <a:buFontTx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Logs each offender + summary count to activity log</a:t>
            </a:r>
            <a:endParaRPr lang="en-US" sz="9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945886" y="3360420"/>
            <a:ext cx="17145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985766" y="3538728"/>
            <a:ext cx="39433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endParaRPr lang="en-US" sz="7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0" y="4937760"/>
            <a:ext cx="9121140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05740" y="4972050"/>
            <a:ext cx="82296" cy="822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2326" y="4958334"/>
            <a:ext cx="198882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INSERT — pre-row logic</a:t>
            </a:r>
            <a:endParaRPr lang="en-US" sz="5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2400300" y="4972050"/>
            <a:ext cx="82296" cy="822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16886" y="4958334"/>
            <a:ext cx="198882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INSERT — post-insert logic</a:t>
            </a:r>
            <a:endParaRPr lang="en-US" sz="5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4594860" y="4972050"/>
            <a:ext cx="82296" cy="822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11446" y="4958334"/>
            <a:ext cx="198882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UPDATE — on status change</a:t>
            </a:r>
            <a:endParaRPr lang="en-US" sz="5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6789420" y="4972050"/>
            <a:ext cx="82296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06006" y="4958334"/>
            <a:ext cx="198882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Scheduler ON required</a:t>
            </a:r>
            <a:endParaRPr lang="en-US" sz="56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1430"/>
            <a:ext cx="2926080" cy="5143500"/>
          </a:xfrm>
          <a:prstGeom prst="rect">
            <a:avLst/>
          </a:prstGeom>
          <a:solidFill>
            <a:srgbClr val="0F2D48"/>
          </a:solidFill>
          <a:ln w="12700">
            <a:solidFill>
              <a:srgbClr val="0F2D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37160" y="182880"/>
            <a:ext cx="265176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37160" y="274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LINEAR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REGRESSION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" y="777240"/>
            <a:ext cx="26517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0D9488"/>
                </a:solidFill>
              </a:rPr>
              <a:t>TARGET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2024" y="1220724"/>
            <a:ext cx="2596896" cy="384048"/>
          </a:xfrm>
          <a:prstGeom prst="rect">
            <a:avLst/>
          </a:prstGeom>
          <a:solidFill>
            <a:srgbClr val="1E4A6A"/>
          </a:solidFill>
          <a:ln w="12700">
            <a:solidFill>
              <a:srgbClr val="1E4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64592" y="1220724"/>
            <a:ext cx="2596896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Delivery_Efficiency_Score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37160" y="1924812"/>
            <a:ext cx="26517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0D9488"/>
                </a:solidFill>
              </a:rPr>
              <a:t>INPUT FEATURES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4592" y="2560320"/>
            <a:ext cx="2596896" cy="292608"/>
          </a:xfrm>
          <a:prstGeom prst="roundRect">
            <a:avLst>
              <a:gd name="adj" fmla="val 12500"/>
            </a:avLst>
          </a:prstGeom>
          <a:solidFill>
            <a:srgbClr val="1A3A56"/>
          </a:solidFill>
          <a:ln w="5080">
            <a:solidFill>
              <a:srgbClr val="2A5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64592" y="256032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5F3FC"/>
                </a:solidFill>
              </a:rPr>
              <a:t>Avg_Prep_Time_Mins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64592" y="2889504"/>
            <a:ext cx="2596896" cy="292608"/>
          </a:xfrm>
          <a:prstGeom prst="roundRect">
            <a:avLst>
              <a:gd name="adj" fmla="val 12500"/>
            </a:avLst>
          </a:prstGeom>
          <a:solidFill>
            <a:srgbClr val="1A3A56"/>
          </a:solidFill>
          <a:ln w="5080">
            <a:solidFill>
              <a:srgbClr val="2A5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64592" y="2889504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5F3FC"/>
                </a:solidFill>
              </a:rPr>
              <a:t>Average_Spend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64592" y="3218688"/>
            <a:ext cx="2596896" cy="292608"/>
          </a:xfrm>
          <a:prstGeom prst="roundRect">
            <a:avLst>
              <a:gd name="adj" fmla="val 12500"/>
            </a:avLst>
          </a:prstGeom>
          <a:solidFill>
            <a:srgbClr val="1A3A56"/>
          </a:solidFill>
          <a:ln w="5080">
            <a:solidFill>
              <a:srgbClr val="2A5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64592" y="321868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5F3FC"/>
                </a:solidFill>
              </a:rPr>
              <a:t>Avg_Delivery_Speed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64592" y="3547872"/>
            <a:ext cx="2596896" cy="292608"/>
          </a:xfrm>
          <a:prstGeom prst="roundRect">
            <a:avLst>
              <a:gd name="adj" fmla="val 12500"/>
            </a:avLst>
          </a:prstGeom>
          <a:solidFill>
            <a:srgbClr val="1A3A56"/>
          </a:solidFill>
          <a:ln w="5080">
            <a:solidFill>
              <a:srgbClr val="2A5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64592" y="3547872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5F3FC"/>
                </a:solidFill>
              </a:rPr>
              <a:t>Successful_Deliveries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64592" y="3877056"/>
            <a:ext cx="2596896" cy="292608"/>
          </a:xfrm>
          <a:prstGeom prst="roundRect">
            <a:avLst>
              <a:gd name="adj" fmla="val 12500"/>
            </a:avLst>
          </a:prstGeom>
          <a:solidFill>
            <a:srgbClr val="1A3A56"/>
          </a:solidFill>
          <a:ln w="5080">
            <a:solidFill>
              <a:srgbClr val="2A5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64592" y="3877056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5F3FC"/>
                </a:solidFill>
              </a:rPr>
              <a:t>Total_Orders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64592" y="4206240"/>
            <a:ext cx="2596896" cy="292608"/>
          </a:xfrm>
          <a:prstGeom prst="roundRect">
            <a:avLst>
              <a:gd name="adj" fmla="val 12500"/>
            </a:avLst>
          </a:prstGeom>
          <a:solidFill>
            <a:srgbClr val="1A3A56"/>
          </a:solidFill>
          <a:ln w="5080">
            <a:solidFill>
              <a:srgbClr val="2A5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64592" y="420624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5F3FC"/>
                </a:solidFill>
              </a:rPr>
              <a:t>Order_Capacity_Day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063240" y="182880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D9488"/>
                </a:solidFill>
              </a:rPr>
              <a:t>ACTUAL VS PREDICTED PLOT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3063240" y="33101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D9488"/>
                </a:solidFill>
              </a:rPr>
              <a:t>MODEL METRICS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3063240" y="3529584"/>
            <a:ext cx="13716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3063240" y="3529584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3209544" y="36210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R² Score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209544" y="3840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D48"/>
                </a:solidFill>
              </a:rPr>
              <a:t>0.8347</a:t>
            </a:r>
            <a:endParaRPr lang="en-US" sz="2800" dirty="0"/>
          </a:p>
        </p:txBody>
      </p:sp>
      <p:sp>
        <p:nvSpPr>
          <p:cNvPr id="29" name="Text 26"/>
          <p:cNvSpPr/>
          <p:nvPr/>
        </p:nvSpPr>
        <p:spPr>
          <a:xfrm>
            <a:off x="3209544" y="43342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83% variance explained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507992" y="3529584"/>
            <a:ext cx="13716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4507992" y="3529584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4654296" y="36210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MSE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654296" y="3840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D48"/>
                </a:solidFill>
              </a:rPr>
              <a:t>0.0071</a:t>
            </a:r>
            <a:endParaRPr lang="en-US" sz="2800" dirty="0"/>
          </a:p>
        </p:txBody>
      </p:sp>
      <p:sp>
        <p:nvSpPr>
          <p:cNvPr id="34" name="Text 31"/>
          <p:cNvSpPr/>
          <p:nvPr/>
        </p:nvSpPr>
        <p:spPr>
          <a:xfrm>
            <a:off x="4654296" y="43342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Mean squared error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952744" y="3529584"/>
            <a:ext cx="13716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3"/>
          <p:cNvSpPr/>
          <p:nvPr/>
        </p:nvSpPr>
        <p:spPr>
          <a:xfrm>
            <a:off x="5952744" y="3529584"/>
            <a:ext cx="64008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6099048" y="36210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RMSE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099048" y="3840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D48"/>
                </a:solidFill>
              </a:rPr>
              <a:t>0.0841</a:t>
            </a:r>
            <a:endParaRPr lang="en-US" sz="2800" dirty="0"/>
          </a:p>
        </p:txBody>
      </p:sp>
      <p:sp>
        <p:nvSpPr>
          <p:cNvPr id="39" name="Text 36"/>
          <p:cNvSpPr/>
          <p:nvPr/>
        </p:nvSpPr>
        <p:spPr>
          <a:xfrm>
            <a:off x="6099048" y="43342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Root mean sq. error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7397496" y="3529584"/>
            <a:ext cx="1426464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8"/>
          <p:cNvSpPr/>
          <p:nvPr/>
        </p:nvSpPr>
        <p:spPr>
          <a:xfrm>
            <a:off x="7397496" y="3529584"/>
            <a:ext cx="64008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7543800" y="362102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MAE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7543800" y="3840480"/>
            <a:ext cx="124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D48"/>
                </a:solidFill>
              </a:rPr>
              <a:t>0.0579</a:t>
            </a:r>
            <a:endParaRPr lang="en-US" sz="2800" dirty="0"/>
          </a:p>
        </p:txBody>
      </p:sp>
      <p:sp>
        <p:nvSpPr>
          <p:cNvPr id="44" name="Text 41"/>
          <p:cNvSpPr/>
          <p:nvPr/>
        </p:nvSpPr>
        <p:spPr>
          <a:xfrm>
            <a:off x="7543800" y="4334256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Mean absolute error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3063240" y="4663440"/>
            <a:ext cx="5760720" cy="338328"/>
          </a:xfrm>
          <a:prstGeom prst="rect">
            <a:avLst/>
          </a:prstGeom>
          <a:solidFill>
            <a:srgbClr val="E0F2FE"/>
          </a:solidFill>
          <a:ln w="762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/>
          <p:nvPr/>
        </p:nvSpPr>
        <p:spPr>
          <a:xfrm>
            <a:off x="3154680" y="4681728"/>
            <a:ext cx="5577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3A5F"/>
                </a:solidFill>
              </a:rPr>
              <a:t>💡  Strong R² of 0.83 shows the model explains most variation in delivery efficiency; low MAE of 0.058 confirms predictions are reliably close to actual scores.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3063240" y="5010912"/>
            <a:ext cx="5760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Algorithm: Ordinary Least Squares  |  Scaler: StandardScaler  |  Split: 80/20</a:t>
            </a:r>
            <a:endParaRPr lang="en-US" sz="8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F6A4A0B4-8627-BCFE-0264-D2EFFD28C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822" y="407671"/>
            <a:ext cx="4825218" cy="271957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" y="0"/>
            <a:ext cx="2926080" cy="5143500"/>
          </a:xfrm>
          <a:prstGeom prst="rect">
            <a:avLst/>
          </a:prstGeom>
          <a:solidFill>
            <a:srgbClr val="0F2D48"/>
          </a:solidFill>
          <a:ln w="12700">
            <a:solidFill>
              <a:srgbClr val="0F2D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37160" y="182880"/>
            <a:ext cx="265176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37160" y="274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LOGISTIC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REGRESSION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4592" y="79552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0D9488"/>
                </a:solidFill>
              </a:rPr>
              <a:t>TARGET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9456" y="1290484"/>
            <a:ext cx="2596896" cy="384048"/>
          </a:xfrm>
          <a:prstGeom prst="rect">
            <a:avLst/>
          </a:prstGeom>
          <a:solidFill>
            <a:srgbClr val="1E4A6A"/>
          </a:solidFill>
          <a:ln w="12700">
            <a:solidFill>
              <a:srgbClr val="1E4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19456" y="1290484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Churn  (0=Retained · 1=Churned)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37160" y="1920240"/>
            <a:ext cx="26517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200" dirty="0">
                <a:solidFill>
                  <a:srgbClr val="0D9488"/>
                </a:solidFill>
              </a:rPr>
              <a:t>INPUT FEATURES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64592" y="2560320"/>
            <a:ext cx="2596896" cy="205740"/>
          </a:xfrm>
          <a:prstGeom prst="roundRect">
            <a:avLst>
              <a:gd name="adj" fmla="val 17778"/>
            </a:avLst>
          </a:prstGeom>
          <a:solidFill>
            <a:srgbClr val="1A3A56"/>
          </a:solidFill>
          <a:ln w="5080">
            <a:solidFill>
              <a:srgbClr val="2A5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64592" y="2560320"/>
            <a:ext cx="259689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5F3FC"/>
                </a:solidFill>
              </a:rPr>
              <a:t>Order_Value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64592" y="2802636"/>
            <a:ext cx="2596896" cy="205740"/>
          </a:xfrm>
          <a:prstGeom prst="roundRect">
            <a:avLst>
              <a:gd name="adj" fmla="val 17778"/>
            </a:avLst>
          </a:prstGeom>
          <a:solidFill>
            <a:srgbClr val="1A3A56"/>
          </a:solidFill>
          <a:ln w="5080">
            <a:solidFill>
              <a:srgbClr val="2A5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64592" y="2802636"/>
            <a:ext cx="259689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5F3FC"/>
                </a:solidFill>
              </a:rPr>
              <a:t>Order_Rating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64592" y="3044952"/>
            <a:ext cx="2596896" cy="205740"/>
          </a:xfrm>
          <a:prstGeom prst="roundRect">
            <a:avLst>
              <a:gd name="adj" fmla="val 17778"/>
            </a:avLst>
          </a:prstGeom>
          <a:solidFill>
            <a:srgbClr val="1A3A56"/>
          </a:solidFill>
          <a:ln w="5080">
            <a:solidFill>
              <a:srgbClr val="2A5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64592" y="3044952"/>
            <a:ext cx="259689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5F3FC"/>
                </a:solidFill>
              </a:rPr>
              <a:t>Delivery_Time_Mins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64592" y="3287268"/>
            <a:ext cx="2596896" cy="205740"/>
          </a:xfrm>
          <a:prstGeom prst="roundRect">
            <a:avLst>
              <a:gd name="adj" fmla="val 17778"/>
            </a:avLst>
          </a:prstGeom>
          <a:solidFill>
            <a:srgbClr val="1A3A56"/>
          </a:solidFill>
          <a:ln w="5080">
            <a:solidFill>
              <a:srgbClr val="2A5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64592" y="3287268"/>
            <a:ext cx="259689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5F3FC"/>
                </a:solidFill>
              </a:rPr>
              <a:t>Avg_Customer_Rating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64592" y="3529584"/>
            <a:ext cx="2596896" cy="205740"/>
          </a:xfrm>
          <a:prstGeom prst="roundRect">
            <a:avLst>
              <a:gd name="adj" fmla="val 17778"/>
            </a:avLst>
          </a:prstGeom>
          <a:solidFill>
            <a:srgbClr val="1A3A56"/>
          </a:solidFill>
          <a:ln w="5080">
            <a:solidFill>
              <a:srgbClr val="2A5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64592" y="3529584"/>
            <a:ext cx="259689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5F3FC"/>
                </a:solidFill>
              </a:rPr>
              <a:t>Discount_Applied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4592" y="3771900"/>
            <a:ext cx="2596896" cy="205740"/>
          </a:xfrm>
          <a:prstGeom prst="roundRect">
            <a:avLst>
              <a:gd name="adj" fmla="val 17778"/>
            </a:avLst>
          </a:prstGeom>
          <a:solidFill>
            <a:srgbClr val="1A3A56"/>
          </a:solidFill>
          <a:ln w="5080">
            <a:solidFill>
              <a:srgbClr val="2A5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64592" y="3771900"/>
            <a:ext cx="259689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5F3FC"/>
                </a:solidFill>
              </a:rPr>
              <a:t>Final_Amount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64592" y="4014216"/>
            <a:ext cx="2596896" cy="205740"/>
          </a:xfrm>
          <a:prstGeom prst="roundRect">
            <a:avLst>
              <a:gd name="adj" fmla="val 17778"/>
            </a:avLst>
          </a:prstGeom>
          <a:solidFill>
            <a:srgbClr val="1A3A56"/>
          </a:solidFill>
          <a:ln w="5080">
            <a:solidFill>
              <a:srgbClr val="2A5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64592" y="4014216"/>
            <a:ext cx="259689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5F3FC"/>
                </a:solidFill>
              </a:rPr>
              <a:t>Delivery_Eff_Score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64592" y="4256532"/>
            <a:ext cx="2596896" cy="205740"/>
          </a:xfrm>
          <a:prstGeom prst="roundRect">
            <a:avLst>
              <a:gd name="adj" fmla="val 17778"/>
            </a:avLst>
          </a:prstGeom>
          <a:solidFill>
            <a:srgbClr val="1A3A56"/>
          </a:solidFill>
          <a:ln w="5080">
            <a:solidFill>
              <a:srgbClr val="2A5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64592" y="4256532"/>
            <a:ext cx="259689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5F3FC"/>
                </a:solidFill>
              </a:rPr>
              <a:t>Value_per_Min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4592" y="4498848"/>
            <a:ext cx="2596896" cy="205740"/>
          </a:xfrm>
          <a:prstGeom prst="roundRect">
            <a:avLst>
              <a:gd name="adj" fmla="val 17778"/>
            </a:avLst>
          </a:prstGeom>
          <a:solidFill>
            <a:srgbClr val="1A3A56"/>
          </a:solidFill>
          <a:ln w="5080">
            <a:solidFill>
              <a:srgbClr val="2A5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64592" y="4498848"/>
            <a:ext cx="259689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5F3FC"/>
                </a:solidFill>
              </a:rPr>
              <a:t>Rating_Diff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64592" y="4741164"/>
            <a:ext cx="2596896" cy="205740"/>
          </a:xfrm>
          <a:prstGeom prst="roundRect">
            <a:avLst>
              <a:gd name="adj" fmla="val 17778"/>
            </a:avLst>
          </a:prstGeom>
          <a:solidFill>
            <a:srgbClr val="1A3A56"/>
          </a:solidFill>
          <a:ln w="5080">
            <a:solidFill>
              <a:srgbClr val="2A5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64592" y="4741164"/>
            <a:ext cx="259689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5F3FC"/>
                </a:solidFill>
              </a:rPr>
              <a:t>Discount_Ratio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063240" y="182880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D9488"/>
                </a:solidFill>
              </a:rPr>
              <a:t>MODEL PERFORMANCE  (Binary Classification · No Visuals)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063240" y="438912"/>
            <a:ext cx="27432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063240" y="438912"/>
            <a:ext cx="73152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27832" y="56692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Accuracy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27832" y="804672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2D48"/>
                </a:solidFill>
              </a:rPr>
              <a:t>88.26%</a:t>
            </a:r>
            <a:endParaRPr lang="en-US" sz="3800" dirty="0"/>
          </a:p>
        </p:txBody>
      </p:sp>
      <p:sp>
        <p:nvSpPr>
          <p:cNvPr id="35" name="Text 33"/>
          <p:cNvSpPr/>
          <p:nvPr/>
        </p:nvSpPr>
        <p:spPr>
          <a:xfrm>
            <a:off x="3227832" y="146304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Correct predictions overall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989320" y="438912"/>
            <a:ext cx="27432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5989320" y="438912"/>
            <a:ext cx="7315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153912" y="56692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F1 Score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53912" y="804672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2D48"/>
                </a:solidFill>
              </a:rPr>
              <a:t>0.8324</a:t>
            </a:r>
            <a:endParaRPr lang="en-US" sz="3800" dirty="0"/>
          </a:p>
        </p:txBody>
      </p:sp>
      <p:sp>
        <p:nvSpPr>
          <p:cNvPr id="40" name="Text 38"/>
          <p:cNvSpPr/>
          <p:nvPr/>
        </p:nvSpPr>
        <p:spPr>
          <a:xfrm>
            <a:off x="6153912" y="146304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Harmonic mean of Precision &amp; Recall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63240" y="1920240"/>
            <a:ext cx="27432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3063240" y="1920240"/>
            <a:ext cx="73152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227832" y="204825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Precision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27832" y="2286000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2D48"/>
                </a:solidFill>
              </a:rPr>
              <a:t>93.69%</a:t>
            </a:r>
            <a:endParaRPr lang="en-US" sz="3800" dirty="0"/>
          </a:p>
        </p:txBody>
      </p:sp>
      <p:sp>
        <p:nvSpPr>
          <p:cNvPr id="45" name="Text 43"/>
          <p:cNvSpPr/>
          <p:nvPr/>
        </p:nvSpPr>
        <p:spPr>
          <a:xfrm>
            <a:off x="3227832" y="294436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Of predicted churned → truly churned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989320" y="1920240"/>
            <a:ext cx="27432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5989320" y="1920240"/>
            <a:ext cx="73152" cy="1325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153912" y="204825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Recall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153912" y="2286000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2D48"/>
                </a:solidFill>
              </a:rPr>
              <a:t>74.89%</a:t>
            </a:r>
            <a:endParaRPr lang="en-US" sz="3800" dirty="0"/>
          </a:p>
        </p:txBody>
      </p:sp>
      <p:sp>
        <p:nvSpPr>
          <p:cNvPr id="50" name="Text 48"/>
          <p:cNvSpPr/>
          <p:nvPr/>
        </p:nvSpPr>
        <p:spPr>
          <a:xfrm>
            <a:off x="6153912" y="294436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Of actual churned → correctly caught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063240" y="3401568"/>
            <a:ext cx="5760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246120" y="34930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</a:rPr>
              <a:t>Dataset Distribution: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246120" y="369417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Retained (0): 60,801   ·   Churned (1): 39,199   ·   Total: 1,00,000 orders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063240" y="4663440"/>
            <a:ext cx="5760720" cy="338328"/>
          </a:xfrm>
          <a:prstGeom prst="rect">
            <a:avLst/>
          </a:prstGeom>
          <a:solidFill>
            <a:srgbClr val="E0F2FE"/>
          </a:solidFill>
          <a:ln w="762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3154680" y="4681728"/>
            <a:ext cx="5577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3A5F"/>
                </a:solidFill>
              </a:rPr>
              <a:t>💡  Accuracy of 88% with Precision of 94% means almost no false churn alerts; Recall of 75% indicates 1 in 4 churners may be missed — trade-off to monitor.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063240" y="5010912"/>
            <a:ext cx="5760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Algorithm: LogisticRegression (max_iter=1000)  |  Scaler: StandardScaler  |  Split: 80/20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" y="11430"/>
            <a:ext cx="2926080" cy="5143500"/>
          </a:xfrm>
          <a:prstGeom prst="rect">
            <a:avLst/>
          </a:prstGeom>
          <a:solidFill>
            <a:srgbClr val="0F2D48"/>
          </a:solidFill>
          <a:ln w="12700">
            <a:solidFill>
              <a:srgbClr val="0F2D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37160" y="182880"/>
            <a:ext cx="265176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37160" y="274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</a:rPr>
              <a:t>KNN</a:t>
            </a:r>
            <a:endParaRPr lang="en-US" sz="1750" dirty="0"/>
          </a:p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</a:rPr>
              <a:t>CLASSIFIER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92024" y="777241"/>
            <a:ext cx="259689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0D9488"/>
                </a:solidFill>
              </a:rPr>
              <a:t>TARGET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" y="1028241"/>
            <a:ext cx="2651760" cy="347931"/>
          </a:xfrm>
          <a:prstGeom prst="rect">
            <a:avLst/>
          </a:prstGeom>
          <a:solidFill>
            <a:srgbClr val="1E4A6A"/>
          </a:solidFill>
          <a:ln w="12700">
            <a:solidFill>
              <a:srgbClr val="1E4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64592" y="1113740"/>
            <a:ext cx="2596896" cy="240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Customer_Type (Multi-class)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37160" y="234086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0D9488"/>
                </a:solidFill>
              </a:rPr>
              <a:t>INPUT FEATURES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64592" y="2560320"/>
            <a:ext cx="2596896" cy="152705"/>
          </a:xfrm>
          <a:prstGeom prst="roundRect">
            <a:avLst>
              <a:gd name="adj" fmla="val 23952"/>
            </a:avLst>
          </a:prstGeom>
          <a:solidFill>
            <a:srgbClr val="1A3A56"/>
          </a:solidFill>
          <a:ln w="5080">
            <a:solidFill>
              <a:srgbClr val="2A5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64592" y="2560320"/>
            <a:ext cx="259689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5F3FC"/>
                </a:solidFill>
              </a:rPr>
              <a:t>Order_Value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64592" y="2749601"/>
            <a:ext cx="2596896" cy="152705"/>
          </a:xfrm>
          <a:prstGeom prst="roundRect">
            <a:avLst>
              <a:gd name="adj" fmla="val 23952"/>
            </a:avLst>
          </a:prstGeom>
          <a:solidFill>
            <a:srgbClr val="1A3A56"/>
          </a:solidFill>
          <a:ln w="5080">
            <a:solidFill>
              <a:srgbClr val="2A5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64592" y="2749601"/>
            <a:ext cx="259689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5F3FC"/>
                </a:solidFill>
              </a:rPr>
              <a:t>Final_Amount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64592" y="2938882"/>
            <a:ext cx="2596896" cy="152705"/>
          </a:xfrm>
          <a:prstGeom prst="roundRect">
            <a:avLst>
              <a:gd name="adj" fmla="val 23952"/>
            </a:avLst>
          </a:prstGeom>
          <a:solidFill>
            <a:srgbClr val="1A3A56"/>
          </a:solidFill>
          <a:ln w="5080">
            <a:solidFill>
              <a:srgbClr val="2A5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64592" y="2938882"/>
            <a:ext cx="259689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5F3FC"/>
                </a:solidFill>
              </a:rPr>
              <a:t>Average_Spend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64592" y="3128162"/>
            <a:ext cx="2596896" cy="152705"/>
          </a:xfrm>
          <a:prstGeom prst="roundRect">
            <a:avLst>
              <a:gd name="adj" fmla="val 23952"/>
            </a:avLst>
          </a:prstGeom>
          <a:solidFill>
            <a:srgbClr val="1A3A56"/>
          </a:solidFill>
          <a:ln w="5080">
            <a:solidFill>
              <a:srgbClr val="2A5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64592" y="3128162"/>
            <a:ext cx="259689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5F3FC"/>
                </a:solidFill>
              </a:rPr>
              <a:t>Delivery_Time_Mins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64592" y="3317443"/>
            <a:ext cx="2596896" cy="152705"/>
          </a:xfrm>
          <a:prstGeom prst="roundRect">
            <a:avLst>
              <a:gd name="adj" fmla="val 23952"/>
            </a:avLst>
          </a:prstGeom>
          <a:solidFill>
            <a:srgbClr val="1A3A56"/>
          </a:solidFill>
          <a:ln w="5080">
            <a:solidFill>
              <a:srgbClr val="2A5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64592" y="3317443"/>
            <a:ext cx="259689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5F3FC"/>
                </a:solidFill>
              </a:rPr>
              <a:t>Delivery_Eff_Score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4592" y="3506724"/>
            <a:ext cx="2596896" cy="152705"/>
          </a:xfrm>
          <a:prstGeom prst="roundRect">
            <a:avLst>
              <a:gd name="adj" fmla="val 23952"/>
            </a:avLst>
          </a:prstGeom>
          <a:solidFill>
            <a:srgbClr val="1A3A56"/>
          </a:solidFill>
          <a:ln w="5080">
            <a:solidFill>
              <a:srgbClr val="2A5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64592" y="3506724"/>
            <a:ext cx="259689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5F3FC"/>
                </a:solidFill>
              </a:rPr>
              <a:t>Avg_Delivery_Speed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64592" y="3696005"/>
            <a:ext cx="2596896" cy="152705"/>
          </a:xfrm>
          <a:prstGeom prst="roundRect">
            <a:avLst>
              <a:gd name="adj" fmla="val 23952"/>
            </a:avLst>
          </a:prstGeom>
          <a:solidFill>
            <a:srgbClr val="1A3A56"/>
          </a:solidFill>
          <a:ln w="5080">
            <a:solidFill>
              <a:srgbClr val="2A5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64592" y="3696005"/>
            <a:ext cx="259689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5F3FC"/>
                </a:solidFill>
              </a:rPr>
              <a:t>Delayed_Deliveries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64592" y="3885286"/>
            <a:ext cx="2596896" cy="152705"/>
          </a:xfrm>
          <a:prstGeom prst="roundRect">
            <a:avLst>
              <a:gd name="adj" fmla="val 23952"/>
            </a:avLst>
          </a:prstGeom>
          <a:solidFill>
            <a:srgbClr val="1A3A56"/>
          </a:solidFill>
          <a:ln w="5080">
            <a:solidFill>
              <a:srgbClr val="2A5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64592" y="3885286"/>
            <a:ext cx="259689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5F3FC"/>
                </a:solidFill>
              </a:rPr>
              <a:t>Order_Rating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4592" y="4074566"/>
            <a:ext cx="2596896" cy="152705"/>
          </a:xfrm>
          <a:prstGeom prst="roundRect">
            <a:avLst>
              <a:gd name="adj" fmla="val 23952"/>
            </a:avLst>
          </a:prstGeom>
          <a:solidFill>
            <a:srgbClr val="1A3A56"/>
          </a:solidFill>
          <a:ln w="5080">
            <a:solidFill>
              <a:srgbClr val="2A5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64592" y="4074566"/>
            <a:ext cx="259689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5F3FC"/>
                </a:solidFill>
              </a:rPr>
              <a:t>Avg_Customer_Rating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64592" y="4263847"/>
            <a:ext cx="2596896" cy="152705"/>
          </a:xfrm>
          <a:prstGeom prst="roundRect">
            <a:avLst>
              <a:gd name="adj" fmla="val 23952"/>
            </a:avLst>
          </a:prstGeom>
          <a:solidFill>
            <a:srgbClr val="1A3A56"/>
          </a:solidFill>
          <a:ln w="5080">
            <a:solidFill>
              <a:srgbClr val="2A5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64592" y="4263847"/>
            <a:ext cx="259689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5F3FC"/>
                </a:solidFill>
              </a:rPr>
              <a:t>Total_Orders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64592" y="4453128"/>
            <a:ext cx="2596896" cy="152705"/>
          </a:xfrm>
          <a:prstGeom prst="roundRect">
            <a:avLst>
              <a:gd name="adj" fmla="val 23952"/>
            </a:avLst>
          </a:prstGeom>
          <a:solidFill>
            <a:srgbClr val="1A3A56"/>
          </a:solidFill>
          <a:ln w="5080">
            <a:solidFill>
              <a:srgbClr val="2A5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64592" y="4453128"/>
            <a:ext cx="259689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5F3FC"/>
                </a:solidFill>
              </a:rPr>
              <a:t>Cuisine_Type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64592" y="4642409"/>
            <a:ext cx="2596896" cy="152705"/>
          </a:xfrm>
          <a:prstGeom prst="roundRect">
            <a:avLst>
              <a:gd name="adj" fmla="val 23952"/>
            </a:avLst>
          </a:prstGeom>
          <a:solidFill>
            <a:srgbClr val="1A3A56"/>
          </a:solidFill>
          <a:ln w="5080">
            <a:solidFill>
              <a:srgbClr val="2A5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164592" y="4642409"/>
            <a:ext cx="259689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5F3FC"/>
                </a:solidFill>
              </a:rPr>
              <a:t>Preferred_Cuisine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64592" y="4831690"/>
            <a:ext cx="2596896" cy="152705"/>
          </a:xfrm>
          <a:prstGeom prst="roundRect">
            <a:avLst>
              <a:gd name="adj" fmla="val 23952"/>
            </a:avLst>
          </a:prstGeom>
          <a:solidFill>
            <a:srgbClr val="1A3A56"/>
          </a:solidFill>
          <a:ln w="5080">
            <a:solidFill>
              <a:srgbClr val="2A5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164592" y="4831690"/>
            <a:ext cx="259689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5F3FC"/>
                </a:solidFill>
              </a:rPr>
              <a:t>Age_Group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063240" y="182880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D9488"/>
                </a:solidFill>
              </a:rPr>
              <a:t>MODEL PERFORMANCE  (Multi-class · No Visuals · Best K = 20)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063240" y="438912"/>
            <a:ext cx="27432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3063240" y="438912"/>
            <a:ext cx="73152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227832" y="56692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Accuracy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227832" y="804672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2D48"/>
                </a:solidFill>
              </a:rPr>
              <a:t>92.97%</a:t>
            </a:r>
            <a:endParaRPr lang="en-US" sz="3800" dirty="0"/>
          </a:p>
        </p:txBody>
      </p:sp>
      <p:sp>
        <p:nvSpPr>
          <p:cNvPr id="41" name="Text 39"/>
          <p:cNvSpPr/>
          <p:nvPr/>
        </p:nvSpPr>
        <p:spPr>
          <a:xfrm>
            <a:off x="3227832" y="146304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Highest among classifiers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989320" y="438912"/>
            <a:ext cx="27432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5989320" y="438912"/>
            <a:ext cx="7315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153912" y="56692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F1 Score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153912" y="804672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2D48"/>
                </a:solidFill>
              </a:rPr>
              <a:t>0.9199</a:t>
            </a:r>
            <a:endParaRPr lang="en-US" sz="3800" dirty="0"/>
          </a:p>
        </p:txBody>
      </p:sp>
      <p:sp>
        <p:nvSpPr>
          <p:cNvPr id="46" name="Text 44"/>
          <p:cNvSpPr/>
          <p:nvPr/>
        </p:nvSpPr>
        <p:spPr>
          <a:xfrm>
            <a:off x="6153912" y="146304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Macro average across classes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063240" y="1920240"/>
            <a:ext cx="27432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3063240" y="1920240"/>
            <a:ext cx="73152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227832" y="204825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Precision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227832" y="2286000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2D48"/>
                </a:solidFill>
              </a:rPr>
              <a:t>92.35%</a:t>
            </a:r>
            <a:endParaRPr lang="en-US" sz="3800" dirty="0"/>
          </a:p>
        </p:txBody>
      </p:sp>
      <p:sp>
        <p:nvSpPr>
          <p:cNvPr id="51" name="Text 49"/>
          <p:cNvSpPr/>
          <p:nvPr/>
        </p:nvSpPr>
        <p:spPr>
          <a:xfrm>
            <a:off x="3227832" y="294436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Macro average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989320" y="1920240"/>
            <a:ext cx="27432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5989320" y="1920240"/>
            <a:ext cx="73152" cy="1325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153912" y="204825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Recall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153912" y="2286000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2D48"/>
                </a:solidFill>
              </a:rPr>
              <a:t>91.64%</a:t>
            </a:r>
            <a:endParaRPr lang="en-US" sz="3800" dirty="0"/>
          </a:p>
        </p:txBody>
      </p:sp>
      <p:sp>
        <p:nvSpPr>
          <p:cNvPr id="56" name="Text 54"/>
          <p:cNvSpPr/>
          <p:nvPr/>
        </p:nvSpPr>
        <p:spPr>
          <a:xfrm>
            <a:off x="6153912" y="294436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Macro average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063240" y="3401568"/>
            <a:ext cx="5760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3246120" y="34930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</a:rPr>
              <a:t>Optimal K Selection: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246120" y="369417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K tested from 1 → 20   ·   Best K = 20   ·   Stratified 80/20 split used to preserve class balance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063240" y="4663440"/>
            <a:ext cx="5760720" cy="338328"/>
          </a:xfrm>
          <a:prstGeom prst="rect">
            <a:avLst/>
          </a:prstGeom>
          <a:solidFill>
            <a:srgbClr val="E0F2FE"/>
          </a:solidFill>
          <a:ln w="762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3154680" y="4681728"/>
            <a:ext cx="5577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3A5F"/>
                </a:solidFill>
              </a:rPr>
              <a:t>💡  KNN achieves the highest accuracy (93%) across all three customer types, showing spending and delivery behaviour are strong signals for customer segmentation.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3063240" y="5010912"/>
            <a:ext cx="5760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Algorithm: KNeighborsClassifier  |  Scaler: MinMaxScaler  |  Split: 80/20 (stratified)</a:t>
            </a:r>
            <a:endParaRPr lang="en-US" sz="800" dirty="0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AC19DA89-C9A5-0C2E-47F8-2E18F58DE8B1}"/>
              </a:ext>
            </a:extLst>
          </p:cNvPr>
          <p:cNvSpPr/>
          <p:nvPr/>
        </p:nvSpPr>
        <p:spPr>
          <a:xfrm>
            <a:off x="164592" y="1725022"/>
            <a:ext cx="2610612" cy="258083"/>
          </a:xfrm>
          <a:prstGeom prst="rect">
            <a:avLst/>
          </a:prstGeom>
          <a:solidFill>
            <a:srgbClr val="1E4A6A"/>
          </a:solidFill>
          <a:ln w="12700">
            <a:solidFill>
              <a:srgbClr val="1E4A6A"/>
            </a:solidFill>
            <a:prstDash val="solid"/>
          </a:ln>
        </p:spPr>
        <p:txBody>
          <a:bodyPr/>
          <a:lstStyle/>
          <a:p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                      Returning</a:t>
            </a:r>
            <a:endParaRPr lang="en-IN" sz="12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4" name="Shape 5">
            <a:extLst>
              <a:ext uri="{FF2B5EF4-FFF2-40B4-BE49-F238E27FC236}">
                <a16:creationId xmlns:a16="http://schemas.microsoft.com/office/drawing/2014/main" id="{92973D5F-FD74-B408-D636-86630D169589}"/>
              </a:ext>
            </a:extLst>
          </p:cNvPr>
          <p:cNvSpPr/>
          <p:nvPr/>
        </p:nvSpPr>
        <p:spPr>
          <a:xfrm>
            <a:off x="164592" y="2060380"/>
            <a:ext cx="2583180" cy="258083"/>
          </a:xfrm>
          <a:prstGeom prst="rect">
            <a:avLst/>
          </a:prstGeom>
          <a:solidFill>
            <a:srgbClr val="1E4A6A"/>
          </a:solidFill>
          <a:ln w="12700">
            <a:solidFill>
              <a:srgbClr val="1E4A6A"/>
            </a:solidFill>
            <a:prstDash val="solid"/>
          </a:ln>
        </p:spPr>
        <p:txBody>
          <a:bodyPr/>
          <a:lstStyle/>
          <a:p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                       Loyal</a:t>
            </a:r>
            <a:endParaRPr lang="en-IN" sz="12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5" name="Shape 5">
            <a:extLst>
              <a:ext uri="{FF2B5EF4-FFF2-40B4-BE49-F238E27FC236}">
                <a16:creationId xmlns:a16="http://schemas.microsoft.com/office/drawing/2014/main" id="{A1E65A5B-C873-62FA-87B6-C8ABE4F57486}"/>
              </a:ext>
            </a:extLst>
          </p:cNvPr>
          <p:cNvSpPr/>
          <p:nvPr/>
        </p:nvSpPr>
        <p:spPr>
          <a:xfrm>
            <a:off x="137160" y="1439271"/>
            <a:ext cx="2624328" cy="237736"/>
          </a:xfrm>
          <a:prstGeom prst="rect">
            <a:avLst/>
          </a:prstGeom>
          <a:solidFill>
            <a:srgbClr val="1E4A6A"/>
          </a:solidFill>
          <a:ln w="12700">
            <a:solidFill>
              <a:srgbClr val="1E4A6A"/>
            </a:solidFill>
            <a:prstDash val="solid"/>
          </a:ln>
        </p:spPr>
        <p:txBody>
          <a:bodyPr/>
          <a:lstStyle/>
          <a:p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                         New </a:t>
            </a:r>
            <a:endParaRPr lang="en-IN" sz="12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645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4572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 ·  Courier &amp; Restaurant Segmentation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188164" y="71042"/>
            <a:ext cx="1188720" cy="596470"/>
          </a:xfrm>
          <a:prstGeom prst="rect">
            <a:avLst/>
          </a:prstGeom>
          <a:solidFill>
            <a:srgbClr val="1A1D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0" y="1188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K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303520" y="30175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92240" y="91440"/>
            <a:ext cx="1188720" cy="658368"/>
          </a:xfrm>
          <a:prstGeom prst="rect">
            <a:avLst/>
          </a:prstGeom>
          <a:solidFill>
            <a:srgbClr val="1A1D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188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492240" y="30175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0" y="91440"/>
            <a:ext cx="1188720" cy="658368"/>
          </a:xfrm>
          <a:prstGeom prst="rect">
            <a:avLst/>
          </a:prstGeom>
          <a:solidFill>
            <a:srgbClr val="1A1D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1188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2400" y="30175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0.6574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8600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100" b="1" dirty="0"/>
          </a:p>
        </p:txBody>
      </p:sp>
      <p:sp>
        <p:nvSpPr>
          <p:cNvPr id="16" name="Shape 14"/>
          <p:cNvSpPr/>
          <p:nvPr/>
        </p:nvSpPr>
        <p:spPr>
          <a:xfrm>
            <a:off x="228600" y="1161288"/>
            <a:ext cx="109728" cy="10972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1155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Score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13167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courier performance index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28600" y="1618488"/>
            <a:ext cx="109728" cy="109728"/>
          </a:xfrm>
          <a:prstGeom prst="ellipse">
            <a:avLst/>
          </a:prstGeom>
          <a:solidFill>
            <a:srgbClr val="4A9FFF"/>
          </a:solidFill>
          <a:ln w="12700">
            <a:solidFill>
              <a:srgbClr val="4A9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15727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Speed (KMPH)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17739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km/h per completed order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28600" y="2075688"/>
            <a:ext cx="109728" cy="109728"/>
          </a:xfrm>
          <a:prstGeom prst="ellipse">
            <a:avLst/>
          </a:prstGeom>
          <a:solidFill>
            <a:srgbClr val="A88CFF"/>
          </a:solidFill>
          <a:ln w="12700">
            <a:solidFill>
              <a:srgbClr val="A88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0299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Flag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22311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1 = festival, 0 = regular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193431" y="248013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 ·  K = 4</a:t>
            </a:r>
            <a:endParaRPr lang="en-US" sz="1100" b="1" dirty="0"/>
          </a:p>
        </p:txBody>
      </p:sp>
      <p:sp>
        <p:nvSpPr>
          <p:cNvPr id="26" name="Text 24"/>
          <p:cNvSpPr/>
          <p:nvPr/>
        </p:nvSpPr>
        <p:spPr>
          <a:xfrm>
            <a:off x="228600" y="2651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0.6574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26517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88720" y="281635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higher is better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228600" y="31729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27,350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88720" y="317296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Calinski-Harabasz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88720" y="3337560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higher is better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228600" y="36941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0.5521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88720" y="36941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88720" y="3858768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lower is better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2124924" y="7906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CLUSTER VISUALIZATION</a:t>
            </a:r>
            <a:endParaRPr lang="en-US" sz="1100" b="1" dirty="0"/>
          </a:p>
        </p:txBody>
      </p:sp>
      <p:sp>
        <p:nvSpPr>
          <p:cNvPr id="36" name="Text 34"/>
          <p:cNvSpPr/>
          <p:nvPr/>
        </p:nvSpPr>
        <p:spPr>
          <a:xfrm>
            <a:off x="2191746" y="96750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Efficiency Score × Avg Speed (KMPH) × Festival Flag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38" name="Text 35"/>
          <p:cNvSpPr/>
          <p:nvPr/>
        </p:nvSpPr>
        <p:spPr>
          <a:xfrm>
            <a:off x="6995160" y="8686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CLUSTERS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6995160" y="107899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4  ·  100,000 delivery records segmented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40" name="Shape 37"/>
          <p:cNvSpPr/>
          <p:nvPr/>
        </p:nvSpPr>
        <p:spPr>
          <a:xfrm>
            <a:off x="6995160" y="1261872"/>
            <a:ext cx="1965960" cy="896112"/>
          </a:xfrm>
          <a:prstGeom prst="roundRect">
            <a:avLst>
              <a:gd name="adj" fmla="val 8163"/>
            </a:avLst>
          </a:prstGeom>
          <a:solidFill>
            <a:srgbClr val="131B2E"/>
          </a:solidFill>
          <a:ln w="19050">
            <a:solidFill>
              <a:srgbClr val="4A9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068312" y="1335024"/>
            <a:ext cx="256032" cy="256032"/>
          </a:xfrm>
          <a:prstGeom prst="ellipse">
            <a:avLst/>
          </a:prstGeom>
          <a:solidFill>
            <a:srgbClr val="4A9FFF"/>
          </a:solidFill>
          <a:ln w="12700">
            <a:solidFill>
              <a:srgbClr val="4A9FF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068312" y="1335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7388352" y="133502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Low-Perf · Festival ops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7068312" y="1591056"/>
            <a:ext cx="621792" cy="173736"/>
          </a:xfrm>
          <a:prstGeom prst="roundRect">
            <a:avLst>
              <a:gd name="adj" fmla="val 21053"/>
            </a:avLst>
          </a:prstGeom>
          <a:solidFill>
            <a:srgbClr val="1A2E4A"/>
          </a:solidFill>
          <a:ln w="6350">
            <a:solidFill>
              <a:srgbClr val="4A9F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068312" y="1591056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Efficiency</a:t>
            </a:r>
            <a:endParaRPr lang="en-US" sz="700" dirty="0"/>
          </a:p>
        </p:txBody>
      </p:sp>
      <p:sp>
        <p:nvSpPr>
          <p:cNvPr id="46" name="Shape 43"/>
          <p:cNvSpPr/>
          <p:nvPr/>
        </p:nvSpPr>
        <p:spPr>
          <a:xfrm>
            <a:off x="7726680" y="1591056"/>
            <a:ext cx="621792" cy="173736"/>
          </a:xfrm>
          <a:prstGeom prst="roundRect">
            <a:avLst>
              <a:gd name="adj" fmla="val 21053"/>
            </a:avLst>
          </a:prstGeom>
          <a:solidFill>
            <a:srgbClr val="1A2E4A"/>
          </a:solidFill>
          <a:ln w="6350">
            <a:solidFill>
              <a:srgbClr val="4A9F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726680" y="1591056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A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KMPH</a:t>
            </a:r>
            <a:endParaRPr lang="en-US" sz="700" dirty="0"/>
          </a:p>
        </p:txBody>
      </p:sp>
      <p:sp>
        <p:nvSpPr>
          <p:cNvPr id="48" name="Shape 45"/>
          <p:cNvSpPr/>
          <p:nvPr/>
        </p:nvSpPr>
        <p:spPr>
          <a:xfrm>
            <a:off x="7068312" y="1801368"/>
            <a:ext cx="621792" cy="173736"/>
          </a:xfrm>
          <a:prstGeom prst="roundRect">
            <a:avLst>
              <a:gd name="adj" fmla="val 21053"/>
            </a:avLst>
          </a:prstGeom>
          <a:solidFill>
            <a:srgbClr val="1A3040"/>
          </a:solidFill>
          <a:ln w="6350">
            <a:solidFill>
              <a:srgbClr val="4A9FF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068312" y="1801368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= Yes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7726680" y="18013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Underperformers during festival periods. Require retraining or redeployment.</a:t>
            </a:r>
            <a:endParaRPr lang="en-US" sz="650" dirty="0">
              <a:solidFill>
                <a:schemeClr val="bg1"/>
              </a:solidFill>
            </a:endParaRPr>
          </a:p>
        </p:txBody>
      </p:sp>
      <p:sp>
        <p:nvSpPr>
          <p:cNvPr id="51" name="Shape 48"/>
          <p:cNvSpPr/>
          <p:nvPr/>
        </p:nvSpPr>
        <p:spPr>
          <a:xfrm>
            <a:off x="6995160" y="2221992"/>
            <a:ext cx="1965960" cy="896112"/>
          </a:xfrm>
          <a:prstGeom prst="roundRect">
            <a:avLst>
              <a:gd name="adj" fmla="val 8163"/>
            </a:avLst>
          </a:prstGeom>
          <a:solidFill>
            <a:srgbClr val="1E1A0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068312" y="229514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068312" y="2295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7388352" y="229514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 · Normal ops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7068312" y="2551176"/>
            <a:ext cx="621792" cy="173736"/>
          </a:xfrm>
          <a:prstGeom prst="roundRect">
            <a:avLst>
              <a:gd name="adj" fmla="val 21053"/>
            </a:avLst>
          </a:prstGeom>
          <a:solidFill>
            <a:srgbClr val="2E220A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068312" y="2551176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Efficiency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7726680" y="2551176"/>
            <a:ext cx="621792" cy="173736"/>
          </a:xfrm>
          <a:prstGeom prst="roundRect">
            <a:avLst>
              <a:gd name="adj" fmla="val 21053"/>
            </a:avLst>
          </a:prstGeom>
          <a:solidFill>
            <a:srgbClr val="2E220A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726680" y="2551176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 KMPH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7068312" y="2761488"/>
            <a:ext cx="621792" cy="173736"/>
          </a:xfrm>
          <a:prstGeom prst="roundRect">
            <a:avLst>
              <a:gd name="adj" fmla="val 21053"/>
            </a:avLst>
          </a:prstGeom>
          <a:solidFill>
            <a:srgbClr val="2A1E08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7068312" y="2761488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= No</a:t>
            </a:r>
            <a:endParaRPr lang="en-US" sz="700" dirty="0"/>
          </a:p>
        </p:txBody>
      </p:sp>
      <p:sp>
        <p:nvSpPr>
          <p:cNvPr id="61" name="Text 58"/>
          <p:cNvSpPr/>
          <p:nvPr/>
        </p:nvSpPr>
        <p:spPr>
          <a:xfrm>
            <a:off x="7726680" y="27614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performers in regular operations. Deploy on high-value routes.</a:t>
            </a:r>
            <a:endParaRPr lang="en-US" sz="650" dirty="0">
              <a:solidFill>
                <a:schemeClr val="bg1"/>
              </a:solidFill>
            </a:endParaRPr>
          </a:p>
        </p:txBody>
      </p:sp>
      <p:sp>
        <p:nvSpPr>
          <p:cNvPr id="62" name="Shape 59"/>
          <p:cNvSpPr/>
          <p:nvPr/>
        </p:nvSpPr>
        <p:spPr>
          <a:xfrm>
            <a:off x="6995160" y="3182112"/>
            <a:ext cx="1965960" cy="896112"/>
          </a:xfrm>
          <a:prstGeom prst="roundRect">
            <a:avLst>
              <a:gd name="adj" fmla="val 8163"/>
            </a:avLst>
          </a:prstGeom>
          <a:solidFill>
            <a:srgbClr val="0F1E12"/>
          </a:solidFill>
          <a:ln w="19050">
            <a:solidFill>
              <a:srgbClr val="3EA84A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7068312" y="3255264"/>
            <a:ext cx="256032" cy="256032"/>
          </a:xfrm>
          <a:prstGeom prst="ellipse">
            <a:avLst/>
          </a:prstGeom>
          <a:solidFill>
            <a:srgbClr val="3EA84A"/>
          </a:solidFill>
          <a:ln w="12700">
            <a:solidFill>
              <a:srgbClr val="3EA84A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7068312" y="3255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7388352" y="325526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 · Festival ops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7068312" y="3511296"/>
            <a:ext cx="621792" cy="173736"/>
          </a:xfrm>
          <a:prstGeom prst="roundRect">
            <a:avLst>
              <a:gd name="adj" fmla="val 21053"/>
            </a:avLst>
          </a:prstGeom>
          <a:solidFill>
            <a:srgbClr val="0F2216"/>
          </a:solidFill>
          <a:ln w="6350">
            <a:solidFill>
              <a:srgbClr val="3EA84A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7068312" y="3511296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E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Efficiency</a:t>
            </a:r>
            <a:endParaRPr lang="en-US" sz="700" dirty="0"/>
          </a:p>
        </p:txBody>
      </p:sp>
      <p:sp>
        <p:nvSpPr>
          <p:cNvPr id="68" name="Shape 65"/>
          <p:cNvSpPr/>
          <p:nvPr/>
        </p:nvSpPr>
        <p:spPr>
          <a:xfrm>
            <a:off x="7726680" y="3511296"/>
            <a:ext cx="621792" cy="173736"/>
          </a:xfrm>
          <a:prstGeom prst="roundRect">
            <a:avLst>
              <a:gd name="adj" fmla="val 21053"/>
            </a:avLst>
          </a:prstGeom>
          <a:solidFill>
            <a:srgbClr val="0F2216"/>
          </a:solidFill>
          <a:ln w="6350">
            <a:solidFill>
              <a:srgbClr val="3EA84A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7726680" y="3511296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E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 KMPH</a:t>
            </a:r>
            <a:endParaRPr lang="en-US" sz="700" dirty="0"/>
          </a:p>
        </p:txBody>
      </p:sp>
      <p:sp>
        <p:nvSpPr>
          <p:cNvPr id="70" name="Shape 67"/>
          <p:cNvSpPr/>
          <p:nvPr/>
        </p:nvSpPr>
        <p:spPr>
          <a:xfrm>
            <a:off x="7068312" y="3721608"/>
            <a:ext cx="621792" cy="173736"/>
          </a:xfrm>
          <a:prstGeom prst="roundRect">
            <a:avLst>
              <a:gd name="adj" fmla="val 21053"/>
            </a:avLst>
          </a:prstGeom>
          <a:solidFill>
            <a:srgbClr val="0F2016"/>
          </a:solidFill>
          <a:ln w="6350">
            <a:solidFill>
              <a:srgbClr val="3EA84A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7068312" y="3721608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E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= Yes</a:t>
            </a:r>
            <a:endParaRPr lang="en-US" sz="700" dirty="0"/>
          </a:p>
        </p:txBody>
      </p:sp>
      <p:sp>
        <p:nvSpPr>
          <p:cNvPr id="72" name="Text 69"/>
          <p:cNvSpPr/>
          <p:nvPr/>
        </p:nvSpPr>
        <p:spPr>
          <a:xfrm>
            <a:off x="7726680" y="37216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performers maintaining quality during peak festival demand. ★</a:t>
            </a:r>
            <a:endParaRPr lang="en-US" sz="650" dirty="0">
              <a:solidFill>
                <a:schemeClr val="bg1"/>
              </a:solidFill>
            </a:endParaRPr>
          </a:p>
        </p:txBody>
      </p:sp>
      <p:sp>
        <p:nvSpPr>
          <p:cNvPr id="73" name="Shape 70"/>
          <p:cNvSpPr/>
          <p:nvPr/>
        </p:nvSpPr>
        <p:spPr>
          <a:xfrm>
            <a:off x="6995160" y="4142232"/>
            <a:ext cx="1965960" cy="896112"/>
          </a:xfrm>
          <a:prstGeom prst="roundRect">
            <a:avLst>
              <a:gd name="adj" fmla="val 8163"/>
            </a:avLst>
          </a:prstGeom>
          <a:solidFill>
            <a:srgbClr val="1E0F0F"/>
          </a:solidFill>
          <a:ln w="19050">
            <a:solidFill>
              <a:srgbClr val="E0483B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7068312" y="4215384"/>
            <a:ext cx="256032" cy="256032"/>
          </a:xfrm>
          <a:prstGeom prst="ellipse">
            <a:avLst/>
          </a:prstGeom>
          <a:solidFill>
            <a:srgbClr val="E0483B"/>
          </a:solidFill>
          <a:ln w="12700">
            <a:solidFill>
              <a:srgbClr val="E0483B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7068312" y="4215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76" name="Text 73"/>
          <p:cNvSpPr/>
          <p:nvPr/>
        </p:nvSpPr>
        <p:spPr>
          <a:xfrm>
            <a:off x="7388352" y="421538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Low-Perf · Normal ops</a:t>
            </a:r>
            <a:endParaRPr lang="en-US" sz="900" dirty="0"/>
          </a:p>
        </p:txBody>
      </p:sp>
      <p:sp>
        <p:nvSpPr>
          <p:cNvPr id="77" name="Shape 74"/>
          <p:cNvSpPr/>
          <p:nvPr/>
        </p:nvSpPr>
        <p:spPr>
          <a:xfrm>
            <a:off x="7068312" y="4471416"/>
            <a:ext cx="621792" cy="173736"/>
          </a:xfrm>
          <a:prstGeom prst="roundRect">
            <a:avLst>
              <a:gd name="adj" fmla="val 21053"/>
            </a:avLst>
          </a:prstGeom>
          <a:solidFill>
            <a:srgbClr val="2E1010"/>
          </a:solidFill>
          <a:ln w="6350">
            <a:solidFill>
              <a:srgbClr val="E0483B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7068312" y="4471416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04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Efficiency</a:t>
            </a:r>
            <a:endParaRPr lang="en-US" sz="700" dirty="0"/>
          </a:p>
        </p:txBody>
      </p:sp>
      <p:sp>
        <p:nvSpPr>
          <p:cNvPr id="79" name="Shape 76"/>
          <p:cNvSpPr/>
          <p:nvPr/>
        </p:nvSpPr>
        <p:spPr>
          <a:xfrm>
            <a:off x="7726680" y="4471416"/>
            <a:ext cx="621792" cy="173736"/>
          </a:xfrm>
          <a:prstGeom prst="roundRect">
            <a:avLst>
              <a:gd name="adj" fmla="val 21053"/>
            </a:avLst>
          </a:prstGeom>
          <a:solidFill>
            <a:srgbClr val="2E1010"/>
          </a:solidFill>
          <a:ln w="6350">
            <a:solidFill>
              <a:srgbClr val="E0483B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7726680" y="4471416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04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KMPH</a:t>
            </a:r>
            <a:endParaRPr lang="en-US" sz="700" dirty="0"/>
          </a:p>
        </p:txBody>
      </p:sp>
      <p:sp>
        <p:nvSpPr>
          <p:cNvPr id="81" name="Shape 78"/>
          <p:cNvSpPr/>
          <p:nvPr/>
        </p:nvSpPr>
        <p:spPr>
          <a:xfrm>
            <a:off x="7068312" y="4681728"/>
            <a:ext cx="621792" cy="173736"/>
          </a:xfrm>
          <a:prstGeom prst="roundRect">
            <a:avLst>
              <a:gd name="adj" fmla="val 21053"/>
            </a:avLst>
          </a:prstGeom>
          <a:solidFill>
            <a:srgbClr val="2A0E0E"/>
          </a:solidFill>
          <a:ln w="6350">
            <a:solidFill>
              <a:srgbClr val="E0483B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7068312" y="4681728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04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= No</a:t>
            </a:r>
            <a:endParaRPr lang="en-US" sz="700" dirty="0"/>
          </a:p>
        </p:txBody>
      </p:sp>
      <p:sp>
        <p:nvSpPr>
          <p:cNvPr id="83" name="Text 80"/>
          <p:cNvSpPr/>
          <p:nvPr/>
        </p:nvSpPr>
        <p:spPr>
          <a:xfrm>
            <a:off x="7726680" y="46817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underperformers in regular operations. Priority for coaching.</a:t>
            </a:r>
            <a:endParaRPr lang="en-US" sz="650" dirty="0">
              <a:solidFill>
                <a:schemeClr val="bg1"/>
              </a:solidFill>
            </a:endParaRPr>
          </a:p>
        </p:txBody>
      </p:sp>
      <p:sp>
        <p:nvSpPr>
          <p:cNvPr id="84" name="Shape 81"/>
          <p:cNvSpPr/>
          <p:nvPr/>
        </p:nvSpPr>
        <p:spPr>
          <a:xfrm>
            <a:off x="320040" y="4882896"/>
            <a:ext cx="109728" cy="109728"/>
          </a:xfrm>
          <a:prstGeom prst="ellipse">
            <a:avLst/>
          </a:prstGeom>
          <a:solidFill>
            <a:srgbClr val="4A9FFF"/>
          </a:solidFill>
          <a:ln w="12700">
            <a:solidFill>
              <a:srgbClr val="4A9FFF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475488" y="4846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 0 — Low-Perf · Festival ops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86" name="Shape 83"/>
          <p:cNvSpPr/>
          <p:nvPr/>
        </p:nvSpPr>
        <p:spPr>
          <a:xfrm>
            <a:off x="1773936" y="4882896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1965960" y="4846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 1 — High-Perf · Normal ops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88" name="Shape 85"/>
          <p:cNvSpPr/>
          <p:nvPr/>
        </p:nvSpPr>
        <p:spPr>
          <a:xfrm>
            <a:off x="3189849" y="4921582"/>
            <a:ext cx="109728" cy="109728"/>
          </a:xfrm>
          <a:prstGeom prst="ellipse">
            <a:avLst/>
          </a:prstGeom>
          <a:solidFill>
            <a:srgbClr val="3EA84A"/>
          </a:solidFill>
          <a:ln w="12700">
            <a:solidFill>
              <a:srgbClr val="3EA84A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3412119" y="4860388"/>
            <a:ext cx="115988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 2 — High-Perf · Festival ops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90" name="Shape 87"/>
          <p:cNvSpPr/>
          <p:nvPr/>
        </p:nvSpPr>
        <p:spPr>
          <a:xfrm>
            <a:off x="4656406" y="4907514"/>
            <a:ext cx="109728" cy="109728"/>
          </a:xfrm>
          <a:prstGeom prst="ellipse">
            <a:avLst/>
          </a:prstGeom>
          <a:solidFill>
            <a:srgbClr val="E0483B"/>
          </a:solidFill>
          <a:ln w="12700">
            <a:solidFill>
              <a:srgbClr val="E0483B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4843506" y="4868477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 3 — Low-Perf · Normal ops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92" name="Text 89"/>
          <p:cNvSpPr/>
          <p:nvPr/>
        </p:nvSpPr>
        <p:spPr>
          <a:xfrm>
            <a:off x="5634111" y="4800600"/>
            <a:ext cx="1188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00" dirty="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EC443C03-15A3-0DEF-3AF6-7BEC85F3E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646" y="1152847"/>
            <a:ext cx="4870938" cy="3560297"/>
          </a:xfrm>
          <a:prstGeom prst="rect">
            <a:avLst/>
          </a:prstGeom>
        </p:spPr>
      </p:pic>
      <p:sp>
        <p:nvSpPr>
          <p:cNvPr id="94" name="Shape 13">
            <a:extLst>
              <a:ext uri="{FF2B5EF4-FFF2-40B4-BE49-F238E27FC236}">
                <a16:creationId xmlns:a16="http://schemas.microsoft.com/office/drawing/2014/main" id="{AB343FD7-255C-8692-41BE-0FF242DFD7B7}"/>
              </a:ext>
            </a:extLst>
          </p:cNvPr>
          <p:cNvSpPr/>
          <p:nvPr/>
        </p:nvSpPr>
        <p:spPr>
          <a:xfrm>
            <a:off x="0" y="714462"/>
            <a:ext cx="9121140" cy="45719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 &amp; Interpretations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2161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👤  Customer Retention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 is only 46%. Italian cuisine shows highest loyalty. All age groups have similar avg spend, showing broad appeal.</a:t>
            </a:r>
            <a:endParaRPr lang="en-US" sz="1000" b="1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92040" y="12161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📅  Seasonal Demand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155448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Q4 is the peak period. Festival seasons drive 14–17% higher order volumes and elevated order values across all regions.</a:t>
            </a:r>
            <a:endParaRPr lang="en-US" sz="1000" b="1" dirty="0"/>
          </a:p>
        </p:txBody>
      </p:sp>
      <p:sp>
        <p:nvSpPr>
          <p:cNvPr id="14" name="Shape 12"/>
          <p:cNvSpPr/>
          <p:nvPr/>
        </p:nvSpPr>
        <p:spPr>
          <a:xfrm>
            <a:off x="4754880" y="242316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92040" y="24963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🚴  Delivery Efficiency Gap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8346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Semi-Urban regions lag significantly at 16 KMPH vs Urban 23 KMPH. Vehicle type has no meaningful impact on delivery speed.</a:t>
            </a:r>
            <a:endParaRPr lang="en-US" sz="1000" b="1" dirty="0"/>
          </a:p>
        </p:txBody>
      </p:sp>
      <p:sp>
        <p:nvSpPr>
          <p:cNvPr id="17" name="Shape 15"/>
          <p:cNvSpPr/>
          <p:nvPr/>
        </p:nvSpPr>
        <p:spPr>
          <a:xfrm>
            <a:off x="411480" y="2419902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411480" y="2440922"/>
            <a:ext cx="320460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🍴  Restaurant vs Order Gap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19" y="2852402"/>
            <a:ext cx="384048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rate 4.62★ internally but receive 4.02★ from customers. The 0.6-star gap likely reflects last-mile delivery experience issues.</a:t>
            </a:r>
            <a:endParaRPr lang="en-US" sz="1000" b="1" dirty="0"/>
          </a:p>
        </p:txBody>
      </p:sp>
      <p:sp>
        <p:nvSpPr>
          <p:cNvPr id="20" name="Shape 18"/>
          <p:cNvSpPr/>
          <p:nvPr/>
        </p:nvSpPr>
        <p:spPr>
          <a:xfrm>
            <a:off x="4754880" y="370332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92040" y="37764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Order Fulfilment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411480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93% delivery success rate is strong. 5% cancellation and 2% returns present revenue leakage that needs targeted intervention.</a:t>
            </a:r>
            <a:endParaRPr lang="en-US" sz="1000" b="1" dirty="0"/>
          </a:p>
        </p:txBody>
      </p:sp>
      <p:sp>
        <p:nvSpPr>
          <p:cNvPr id="11" name="Shape 15">
            <a:extLst>
              <a:ext uri="{FF2B5EF4-FFF2-40B4-BE49-F238E27FC236}">
                <a16:creationId xmlns:a16="http://schemas.microsoft.com/office/drawing/2014/main" id="{54643A70-5C99-D0F0-C668-A13D81759CB8}"/>
              </a:ext>
            </a:extLst>
          </p:cNvPr>
          <p:cNvSpPr/>
          <p:nvPr/>
        </p:nvSpPr>
        <p:spPr>
          <a:xfrm>
            <a:off x="411480" y="3689078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B5D082-B23D-D97D-431D-25F40F981A56}"/>
              </a:ext>
            </a:extLst>
          </p:cNvPr>
          <p:cNvSpPr txBox="1"/>
          <p:nvPr/>
        </p:nvSpPr>
        <p:spPr>
          <a:xfrm>
            <a:off x="462980" y="3718403"/>
            <a:ext cx="3101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rgbClr val="1B2A4A"/>
                </a:solidFill>
                <a:latin typeface="Trebuchet MS" panose="020B0603020202020204" pitchFamily="34" charset="0"/>
              </a:rPr>
              <a:t>💳 Payment Mode Dominance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B671E7-A9F8-F6C8-A101-066EAB54A4A7}"/>
              </a:ext>
            </a:extLst>
          </p:cNvPr>
          <p:cNvSpPr txBox="1"/>
          <p:nvPr/>
        </p:nvSpPr>
        <p:spPr>
          <a:xfrm>
            <a:off x="502920" y="4114801"/>
            <a:ext cx="3840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Calibri" panose="020F0502020204030204" pitchFamily="34" charset="0"/>
                <a:cs typeface="Calibri" panose="020F0502020204030204" pitchFamily="34" charset="0"/>
              </a:rPr>
              <a:t>UPI leads with 50% usage, indicating a strong preference for fast, digital payments, while Cash (10%) is least preferred, showing a clear shift away from traditional methods.</a:t>
            </a:r>
          </a:p>
          <a:p>
            <a:endParaRPr lang="en-IN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SUGGESTIONS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 Recommendations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229600" cy="36576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4023360" cy="1097280"/>
          </a:xfrm>
          <a:prstGeom prst="rect">
            <a:avLst/>
          </a:prstGeom>
          <a:solidFill>
            <a:srgbClr val="1E3A5F"/>
          </a:solidFill>
          <a:ln w="1905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457200" cy="109728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44475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Loyalty Programme for South Indian Cuisine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18288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Dessert has the lowest repeat rate. Launch cuisine-specific loyalty rewards to close the gap with Italian.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46320" y="1371600"/>
            <a:ext cx="4023360" cy="1097280"/>
          </a:xfrm>
          <a:prstGeom prst="rect">
            <a:avLst/>
          </a:prstGeom>
          <a:solidFill>
            <a:srgbClr val="1E3A5F"/>
          </a:solidFill>
          <a:ln w="19050">
            <a:solidFill>
              <a:srgbClr val="E05C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846320" y="1371600"/>
            <a:ext cx="457200" cy="1097280"/>
          </a:xfrm>
          <a:prstGeom prst="rect">
            <a:avLst/>
          </a:prstGeom>
          <a:solidFill>
            <a:srgbClr val="E05C40"/>
          </a:solidFill>
          <a:ln w="12700">
            <a:solidFill>
              <a:srgbClr val="E05C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46320" y="137160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144475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Festival Campaign Planning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0" y="18288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 inventory and boost delivery partner availability in Q4. Create targeted festival bundles to capitalise on higher order values.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4023360" cy="1097280"/>
          </a:xfrm>
          <a:prstGeom prst="rect">
            <a:avLst/>
          </a:prstGeom>
          <a:solidFill>
            <a:srgbClr val="1E3A5F"/>
          </a:solidFill>
          <a:ln w="1905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48640" y="2606040"/>
            <a:ext cx="457200" cy="109728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260604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26791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Semi-Urban Delivery Optimisation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30632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in Semi-Urban is lower than Urban. Invest in route optimisation software and partner incentives for these zones.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2606040"/>
            <a:ext cx="4023360" cy="1097280"/>
          </a:xfrm>
          <a:prstGeom prst="rect">
            <a:avLst/>
          </a:prstGeom>
          <a:solidFill>
            <a:srgbClr val="1E3A5F"/>
          </a:solidFill>
          <a:ln w="19050">
            <a:solidFill>
              <a:srgbClr val="5BA4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846320" y="2606040"/>
            <a:ext cx="457200" cy="109728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46320" y="260604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26791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Experience Gap – Last Mile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30632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the 0.6★ gap between restaurant and order ratings. Improve real-time tracking, packaging, and handover quality standards.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3840480"/>
            <a:ext cx="4023360" cy="1097280"/>
          </a:xfrm>
          <a:prstGeom prst="rect">
            <a:avLst/>
          </a:prstGeom>
          <a:solidFill>
            <a:srgbClr val="1E3A5F"/>
          </a:solidFill>
          <a:ln w="19050">
            <a:solidFill>
              <a:srgbClr val="3AAFA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48640" y="3840480"/>
            <a:ext cx="457200" cy="1097280"/>
          </a:xfrm>
          <a:prstGeom prst="rect">
            <a:avLst/>
          </a:prstGeom>
          <a:solidFill>
            <a:srgbClr val="3AAFA9"/>
          </a:solidFill>
          <a:ln w="12700">
            <a:solidFill>
              <a:srgbClr val="3AAFA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48640" y="384048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" y="39136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UPI-First Payment Incentives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97280" y="42976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 digital adoption — offer cashback/discounts on UPI transactions to reduce expensive cash handling operations.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3840480"/>
            <a:ext cx="4023360" cy="1097280"/>
          </a:xfrm>
          <a:prstGeom prst="rect">
            <a:avLst/>
          </a:prstGeom>
          <a:solidFill>
            <a:srgbClr val="1E3A5F"/>
          </a:solidFill>
          <a:ln w="1905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846320" y="3840480"/>
            <a:ext cx="457200" cy="10972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46320" y="384048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94960" y="39136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Cancellation Reduction Strategy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94960" y="42976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cancellation rate = revenue leakage. Introduce order confirmation nudges, smarter ETAs, and penalty-free modification windows.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818" y="137160"/>
            <a:ext cx="260014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CONCLUSION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8818" y="384048"/>
            <a:ext cx="826942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Means for the Business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9826" y="1188720"/>
            <a:ext cx="8694174" cy="39547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9826" y="1097280"/>
            <a:ext cx="8694174" cy="8229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1052" y="1234440"/>
            <a:ext cx="220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0438" y="1737360"/>
            <a:ext cx="8034921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platform is sitting on a strong foundation — 1 lakh orders, 93% delivery success, and customers who actively come back. The biggest revenue opportunity is already identified: Q4 festival seasons when customers spend 15% more. The next step is to make sure the platform is fully prepared to capture that demand — with stocked inventory, enough delivery partners, and targeted offers.</a:t>
            </a:r>
            <a:endParaRPr lang="en-US" sz="1600" dirty="0"/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sz="1600" dirty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areas that need immediate attention are: (1) converting new customers into repeat buyers through loyalty programmes, (2) improving delivery speed in Semi-Urban zones to match Urban performance, and (3) closing the gap between restaurant quality and customer delivery experience. These three actions alone can significantly boost revenue, retention, and customer satisfaction.</a:t>
            </a:r>
            <a:endParaRPr lang="en-US" sz="1600" dirty="0"/>
          </a:p>
        </p:txBody>
      </p:sp>
      <p:sp>
        <p:nvSpPr>
          <p:cNvPr id="17" name="Shape 0">
            <a:extLst>
              <a:ext uri="{FF2B5EF4-FFF2-40B4-BE49-F238E27FC236}">
                <a16:creationId xmlns:a16="http://schemas.microsoft.com/office/drawing/2014/main" id="{816F32BF-D45D-5D97-C153-6D33EA82B026}"/>
              </a:ext>
            </a:extLst>
          </p:cNvPr>
          <p:cNvSpPr/>
          <p:nvPr/>
        </p:nvSpPr>
        <p:spPr>
          <a:xfrm>
            <a:off x="0" y="1097280"/>
            <a:ext cx="449826" cy="40462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2926080" cy="2926080"/>
          </a:xfrm>
          <a:prstGeom prst="ellipse">
            <a:avLst/>
          </a:prstGeom>
          <a:solidFill>
            <a:srgbClr val="1E3A5F">
              <a:alpha val="50000"/>
            </a:srgbClr>
          </a:solidFill>
          <a:ln w="12700">
            <a:solidFill>
              <a:srgbClr val="1E3A5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548640" y="3291840"/>
            <a:ext cx="2286000" cy="2286000"/>
          </a:xfrm>
          <a:prstGeom prst="ellips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173457" y="1935480"/>
            <a:ext cx="450356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Thank You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37176" y="23317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166360" y="23134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37176" y="264261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306825" y="2886456"/>
            <a:ext cx="1952244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76656" y="35204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05840" y="35021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76656" y="383133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37176" y="35204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166360" y="35021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37176" y="383133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5639</TotalTime>
  <Words>3301</Words>
  <Application>Microsoft Office PowerPoint</Application>
  <PresentationFormat>On-screen Show (16:9)</PresentationFormat>
  <Paragraphs>467</Paragraphs>
  <Slides>24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Consolas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Delivery Analytics – EDA Findings</dc:title>
  <dc:subject>PptxGenJS Presentation</dc:subject>
  <dc:creator>PptxGenJS</dc:creator>
  <cp:lastModifiedBy>Baskar Arunachala madhan</cp:lastModifiedBy>
  <cp:revision>70</cp:revision>
  <dcterms:created xsi:type="dcterms:W3CDTF">2026-04-26T15:38:25Z</dcterms:created>
  <dcterms:modified xsi:type="dcterms:W3CDTF">2026-07-02T18:05:07Z</dcterms:modified>
</cp:coreProperties>
</file>