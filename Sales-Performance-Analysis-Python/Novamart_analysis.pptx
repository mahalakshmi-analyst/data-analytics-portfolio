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3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71" r:id="rId12"/>
    <p:sldId id="274" r:id="rId13"/>
    <p:sldId id="275" r:id="rId14"/>
    <p:sldId id="276" r:id="rId15"/>
    <p:sldId id="277" r:id="rId16"/>
    <p:sldId id="286" r:id="rId17"/>
    <p:sldId id="287" r:id="rId18"/>
    <p:sldId id="288" r:id="rId19"/>
    <p:sldId id="289" r:id="rId20"/>
    <p:sldId id="290" r:id="rId21"/>
    <p:sldId id="292" r:id="rId22"/>
    <p:sldId id="293" r:id="rId23"/>
    <p:sldId id="294" r:id="rId24"/>
    <p:sldId id="272" r:id="rId25"/>
  </p:sldIdLst>
  <p:sldSz cx="12192000" cy="6858000"/>
  <p:notesSz cx="6858000" cy="9144000"/>
  <p:embeddedFontLst>
    <p:embeddedFont>
      <p:font typeface="Merriweather" panose="00000500000000000000" pitchFamily="2" charset="0"/>
      <p:regular r:id="rId27"/>
      <p:bold r:id="rId28"/>
      <p:italic r:id="rId29"/>
      <p:boldItalic r:id="rId30"/>
    </p:embeddedFont>
    <p:embeddedFont>
      <p:font typeface="Trebuchet MS" panose="020B0603020202020204" pitchFamily="34" charset="0"/>
      <p:regular r:id="rId31"/>
      <p:bold r:id="rId32"/>
      <p:italic r:id="rId33"/>
      <p:boldItalic r:id="rId34"/>
    </p:embeddedFont>
    <p:embeddedFont>
      <p:font typeface="Wingdings 3" panose="05040102010807070707" pitchFamily="18" charset="2"/>
      <p:regular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NDzYnHa+F52ZnIsXuMuvDvZk+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3D7"/>
    <a:srgbClr val="005088"/>
    <a:srgbClr val="286B97"/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123CF5-5A9B-4099-869A-5BBD6207E483}">
  <a:tblStyle styleId="{79123CF5-5A9B-4099-869A-5BBD6207E48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F3FEB20-0818-42DC-BC14-191C1505142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7514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85447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2852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097229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30253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3122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5043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84067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98462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4795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1543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27" name="Google Shape;3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15979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335" name="Google Shape;3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926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5736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9228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9705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792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227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02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6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48661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3756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56977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11086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363286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9960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28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726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9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1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5700" y="0"/>
            <a:ext cx="4686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/>
        </p:nvSpPr>
        <p:spPr>
          <a:xfrm>
            <a:off x="425220" y="1111045"/>
            <a:ext cx="5481358" cy="314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b="1" dirty="0">
                <a:solidFill>
                  <a:srgbClr val="1E276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&amp; PERFORMANCE ANALYSIS</a:t>
            </a:r>
            <a:endParaRPr sz="4400" b="1" dirty="0">
              <a:solidFill>
                <a:srgbClr val="1E276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1" dirty="0">
              <a:solidFill>
                <a:srgbClr val="005088"/>
              </a:solidFill>
              <a:latin typeface="Arial" panose="020B0604020202020204" pitchFamily="34" charset="0"/>
              <a:ea typeface="Merriweather"/>
              <a:cs typeface="Arial" panose="020B0604020202020204" pitchFamily="34" charset="0"/>
              <a:sym typeface="Merriweather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425220" y="4478050"/>
            <a:ext cx="6615351" cy="1964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Project Guide     : Priya Shanmugam</a:t>
            </a:r>
            <a:endParaRPr sz="2100" b="1" dirty="0">
              <a:solidFill>
                <a:schemeClr val="accent6">
                  <a:lumMod val="50000"/>
                </a:schemeClr>
              </a:solidFill>
              <a:latin typeface="+mj-lt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By : Mahalakshmi.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Course: Exploratory Data Analysis using Python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1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Batch Code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Arial" panose="020B0604020202020204" pitchFamily="34" charset="0"/>
                <a:sym typeface="Calibri"/>
              </a:rPr>
              <a:t>: DA644S64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+mj-lt"/>
                <a:ea typeface="Calibri"/>
                <a:cs typeface="Calibri"/>
                <a:sym typeface="Calibri"/>
              </a:rPr>
              <a:t>.</a:t>
            </a:r>
          </a:p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1" dirty="0">
              <a:solidFill>
                <a:schemeClr val="dk2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5700" y="0"/>
            <a:ext cx="46863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7081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"/>
          <p:cNvSpPr txBox="1"/>
          <p:nvPr/>
        </p:nvSpPr>
        <p:spPr>
          <a:xfrm>
            <a:off x="527607" y="59388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  <a:sym typeface="Merriweather"/>
              </a:rPr>
              <a:t>Problem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  <a:sym typeface="Merriweather"/>
              </a:rPr>
              <a:t>Statement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9885" y="1935338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285740" y="1282156"/>
            <a:ext cx="5909242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/>
              <a:t>    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C3335-6DA7-654B-B3E7-8B1F1F685DD9}"/>
              </a:ext>
            </a:extLst>
          </p:cNvPr>
          <p:cNvSpPr txBox="1"/>
          <p:nvPr/>
        </p:nvSpPr>
        <p:spPr>
          <a:xfrm>
            <a:off x="355322" y="1273164"/>
            <a:ext cx="561285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36000"/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business wants to understand overall sales performance across products, customers, regions, and channels to identify what drives revenue and profit.</a:t>
            </a:r>
          </a:p>
          <a:p>
            <a:pPr marL="285750" indent="-285750">
              <a:buSzPct val="136000"/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285750" indent="-285750">
              <a:buSzPct val="136000"/>
              <a:buFont typeface="Wingdings" panose="05000000000000000000" pitchFamily="2" charset="2"/>
              <a:buChar char="v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goal is to find  strengths, weaknesses, and opportunities to improve pricing, marketing, inventory, and customer strategies.</a:t>
            </a:r>
          </a:p>
          <a:p>
            <a:pPr marL="285750" indent="-285750">
              <a:buSzPct val="136000"/>
              <a:buFont typeface="Wingdings" panose="05000000000000000000" pitchFamily="2" charset="2"/>
              <a:buChar char="v"/>
            </a:pPr>
            <a:endParaRPr lang="en-IN" sz="2800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B42FA-5A05-8127-7371-AFE3CFFF2C69}"/>
              </a:ext>
            </a:extLst>
          </p:cNvPr>
          <p:cNvSpPr/>
          <p:nvPr/>
        </p:nvSpPr>
        <p:spPr>
          <a:xfrm>
            <a:off x="285740" y="357483"/>
            <a:ext cx="11758776" cy="6220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02370"/>
            <a:ext cx="12192000" cy="726037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747252" y="560093"/>
            <a:ext cx="11444898" cy="1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  <a:sym typeface="Merriweather"/>
              </a:rPr>
              <a:t>Objectives</a:t>
            </a:r>
            <a:endParaRPr sz="3600" b="1" dirty="0">
              <a:solidFill>
                <a:srgbClr val="005088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  <a:sym typeface="Merriweath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857250" y="1232563"/>
            <a:ext cx="10264800" cy="17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buClr>
                <a:schemeClr val="bg2">
                  <a:lumMod val="60000"/>
                  <a:lumOff val="40000"/>
                </a:schemeClr>
              </a:buClr>
              <a:buSzPts val="2800"/>
              <a:buFont typeface="Noto Sans Symbols"/>
              <a:buChar char="❏"/>
            </a:pPr>
            <a:endParaRPr lang="en-US" sz="1200" dirty="0">
              <a:solidFill>
                <a:srgbClr val="333333"/>
              </a:solidFill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60000"/>
                  <a:lumOff val="40000"/>
                </a:schemeClr>
              </a:buClr>
              <a:buSzPct val="99000"/>
            </a:pPr>
            <a:endParaRPr sz="1200" dirty="0">
              <a:solidFill>
                <a:srgbClr val="33333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rgbClr val="333333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rgbClr val="333333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60599" y="3026631"/>
            <a:ext cx="6113700" cy="137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b="1" dirty="0">
                <a:solidFill>
                  <a:srgbClr val="1F497D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Pre-Processing</a:t>
            </a:r>
            <a:endParaRPr sz="3600" b="1" dirty="0">
              <a:solidFill>
                <a:srgbClr val="1F497D"/>
              </a:solidFill>
              <a:latin typeface="Arial" panose="020B0604020202020204" pitchFamily="34" charset="0"/>
              <a:ea typeface="Merriweather"/>
              <a:cs typeface="Arial" panose="020B0604020202020204" pitchFamily="34" charset="0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150374" y="3843969"/>
            <a:ext cx="9073185" cy="244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Removed duplicates &amp; missing values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Standardized date, category, region, and customer fields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Created Profit, Margin %, Discount %, Year &amp; Month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Corrected text inconsistencies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Removed outliers in sales and profit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Final dataset cleaned for accurate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BA1DD4-55C2-768D-AC79-07B32500D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50" y="1272305"/>
            <a:ext cx="101843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Study sales trends across years.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 which products and brands perform best.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customer segments and loyalty impact.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Measure how effective each sales channel 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top-performing and low-performing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 actionable suggestions to improve business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807F38-72E0-E020-3312-0BF2035D9F85}"/>
              </a:ext>
            </a:extLst>
          </p:cNvPr>
          <p:cNvSpPr/>
          <p:nvPr/>
        </p:nvSpPr>
        <p:spPr>
          <a:xfrm>
            <a:off x="403123" y="147484"/>
            <a:ext cx="11326761" cy="62250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857250" y="379362"/>
            <a:ext cx="1133475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4000" b="1" i="0" u="none" strike="noStrike" cap="none" dirty="0">
                <a:solidFill>
                  <a:srgbClr val="286B97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Dataset</a:t>
            </a:r>
            <a:r>
              <a:rPr lang="en-US" sz="3200" b="1" i="0" u="none" strike="noStrike" cap="none" dirty="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4000" b="1" i="0" u="none" strike="noStrike" cap="none" dirty="0">
                <a:solidFill>
                  <a:srgbClr val="286B97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Overview</a:t>
            </a:r>
            <a:endParaRPr sz="4000" b="1" i="0" u="none" strike="noStrike" cap="none" dirty="0">
              <a:solidFill>
                <a:srgbClr val="286B97"/>
              </a:solidFill>
              <a:latin typeface="Arial" panose="020B0604020202020204" pitchFamily="34" charset="0"/>
              <a:ea typeface="Merriweather"/>
              <a:cs typeface="Arial" panose="020B0604020202020204" pitchFamily="34" charset="0"/>
              <a:sym typeface="Merriweather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71500" y="3354883"/>
            <a:ext cx="291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482578" y="3354883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172348" y="3354883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794105" y="3354883"/>
            <a:ext cx="282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71500" y="3867298"/>
            <a:ext cx="291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482578" y="3867298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172348" y="3867298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8794105" y="3867298"/>
            <a:ext cx="282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71500" y="4418850"/>
            <a:ext cx="291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482578" y="4379714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172348" y="4379714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794105" y="4379714"/>
            <a:ext cx="282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71500" y="4892129"/>
            <a:ext cx="291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482578" y="4892129"/>
            <a:ext cx="268977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172348" y="4892129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794105" y="4892129"/>
            <a:ext cx="282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71500" y="5404544"/>
            <a:ext cx="29110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3482578" y="5404544"/>
            <a:ext cx="2689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172348" y="5404544"/>
            <a:ext cx="262175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794105" y="5404544"/>
            <a:ext cx="28263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E2A1AC-B984-9E3B-0943-DAAF41961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90" b="4051"/>
          <a:stretch>
            <a:fillRect/>
          </a:stretch>
        </p:blipFill>
        <p:spPr>
          <a:xfrm>
            <a:off x="4264487" y="1050443"/>
            <a:ext cx="7784638" cy="495526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1B77BC-D55F-368C-58CE-865A8E0CA5A5}"/>
              </a:ext>
            </a:extLst>
          </p:cNvPr>
          <p:cNvSpPr/>
          <p:nvPr/>
        </p:nvSpPr>
        <p:spPr>
          <a:xfrm>
            <a:off x="363794" y="294968"/>
            <a:ext cx="11542456" cy="61836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0" name="Google Shape;110;p5"/>
          <p:cNvSpPr txBox="1"/>
          <p:nvPr/>
        </p:nvSpPr>
        <p:spPr>
          <a:xfrm>
            <a:off x="571499" y="2271882"/>
            <a:ext cx="4038383" cy="2229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Period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2023-2025</a:t>
            </a:r>
            <a:endParaRPr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Categories: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product categories, 40+ brands</a:t>
            </a:r>
            <a:endParaRPr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Regions: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geographical regions analyzed</a:t>
            </a:r>
            <a:endParaRPr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Attributes</a:t>
            </a:r>
            <a:r>
              <a:rPr lang="en-US" b="1" i="1" dirty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</a:t>
            </a:r>
            <a:r>
              <a:rPr lang="en-US" dirty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: 48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6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333333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Rows  : 1981</a:t>
            </a:r>
            <a:endParaRPr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2389238" y="379361"/>
            <a:ext cx="98029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Monthly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Sales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Trend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2023-2025</a:t>
            </a:r>
            <a:r>
              <a:rPr lang="en-US" sz="3600" b="1" dirty="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sz="3600" b="1" dirty="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30794" y="4875950"/>
            <a:ext cx="9665108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6B97"/>
              </a:buClr>
              <a:buSzPts val="1200"/>
              <a:buChar char="❏"/>
            </a:pPr>
            <a:r>
              <a:rPr lang="en-US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upward trajectory in sales volume across all three years</a:t>
            </a:r>
            <a:endParaRPr sz="16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304800">
              <a:lnSpc>
                <a:spcPct val="115000"/>
              </a:lnSpc>
              <a:buClr>
                <a:srgbClr val="286B97"/>
              </a:buClr>
              <a:buSzPts val="1200"/>
              <a:buFont typeface="Arial"/>
              <a:buChar char="❏"/>
            </a:pPr>
            <a:r>
              <a:rPr lang="en-US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Month :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is the highest sales month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all three years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6B97"/>
              </a:buClr>
              <a:buSzPts val="1200"/>
              <a:buChar char="❏"/>
            </a:pPr>
            <a:r>
              <a:rPr lang="en-US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Mid-year dip: </a:t>
            </a: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 - Oct typically shows lower sales volumes</a:t>
            </a:r>
            <a:endParaRPr sz="16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6B97"/>
              </a:buClr>
              <a:buSzPts val="1200"/>
              <a:buChar char="❏"/>
            </a:pPr>
            <a:r>
              <a:rPr lang="en-US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performance: </a:t>
            </a: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Stable start with February and high peak Apr-Jun  then start</a:t>
            </a:r>
            <a:endParaRPr lang="en-US" sz="1600" b="1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6B97"/>
              </a:buClr>
              <a:buSzPts val="1200"/>
              <a:buChar char="❏"/>
            </a:pPr>
            <a:r>
              <a:rPr lang="en-US" sz="1600" b="1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sz="160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inventory for Q4, implement targeted campaigns for mid-year boost</a:t>
            </a:r>
            <a:endParaRPr sz="160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8697" y="1127628"/>
            <a:ext cx="9743768" cy="366474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A6473A-DA56-8261-998A-15F8CA770DE1}"/>
              </a:ext>
            </a:extLst>
          </p:cNvPr>
          <p:cNvSpPr/>
          <p:nvPr/>
        </p:nvSpPr>
        <p:spPr>
          <a:xfrm>
            <a:off x="530942" y="379362"/>
            <a:ext cx="11208774" cy="63950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46182" y="539739"/>
            <a:ext cx="1209963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Sales Vs Profit</a:t>
            </a:r>
            <a:endParaRPr sz="3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667500" y="3929211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8489305" y="3929211"/>
            <a:ext cx="1372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861351" y="3929211"/>
            <a:ext cx="1473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667500" y="4441626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489305" y="4441626"/>
            <a:ext cx="1372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9861351" y="4441626"/>
            <a:ext cx="1473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667500" y="4954041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489305" y="4954041"/>
            <a:ext cx="1372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861351" y="4954041"/>
            <a:ext cx="1473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667500" y="5466457"/>
            <a:ext cx="18218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8489305" y="5466457"/>
            <a:ext cx="13720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861351" y="5466457"/>
            <a:ext cx="14733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857250" y="1658019"/>
            <a:ext cx="4488873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Strong positive correlation between sales volume and profit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 performers: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Products with both high sales and proportional profit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Underperformers: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 high-sales items with disproportionately low profit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Opportunity: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Products with low sales but high margin potential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Heavy discounting erodes profit on high-volume items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tiered pricing strategy, reduce excessive discounting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1" u="none" strike="noStrike" cap="none" dirty="0">
                <a:solidFill>
                  <a:schemeClr val="dk1"/>
                </a:solidFill>
                <a:latin typeface="+mj-lt"/>
                <a:ea typeface="Merriweather"/>
                <a:cs typeface="Merriweather"/>
                <a:sym typeface="Merriweather"/>
              </a:rPr>
              <a:t>.</a:t>
            </a:r>
            <a:endParaRPr b="0" i="1" u="none" strike="noStrike" cap="none" dirty="0">
              <a:solidFill>
                <a:srgbClr val="000000"/>
              </a:solidFill>
              <a:latin typeface="+mj-lt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9C541CE1-A8F0-422C-84B4-255B1D3FF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0140" y="1511666"/>
            <a:ext cx="5958330" cy="3810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2143DE3-9B58-D444-6E85-14C9630530F5}"/>
              </a:ext>
            </a:extLst>
          </p:cNvPr>
          <p:cNvSpPr/>
          <p:nvPr/>
        </p:nvSpPr>
        <p:spPr>
          <a:xfrm>
            <a:off x="609600" y="412955"/>
            <a:ext cx="11049000" cy="6007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"/>
          <p:cNvSpPr txBox="1"/>
          <p:nvPr/>
        </p:nvSpPr>
        <p:spPr>
          <a:xfrm>
            <a:off x="2563118" y="462147"/>
            <a:ext cx="763542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i="0" u="none" strike="noStrike" cap="none" dirty="0">
                <a:solidFill>
                  <a:schemeClr val="dk2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Product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+mj-lt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>
                <a:solidFill>
                  <a:schemeClr val="dk2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Category Performance</a:t>
            </a:r>
            <a:endParaRPr lang="en-IN" sz="6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 dirty="0">
              <a:solidFill>
                <a:schemeClr val="dk2"/>
              </a:solidFill>
              <a:latin typeface="+mj-lt"/>
              <a:ea typeface="Merriweather"/>
              <a:cs typeface="Merriweather"/>
              <a:sym typeface="Merriweather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584765" y="3877437"/>
            <a:ext cx="5977960" cy="2831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Electronics: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Market leader with 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17M revenue (47.2%)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Furniture: Second largest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at $556K (22.5%)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Accessories: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$378K contributing 15.3%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Clothing: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$256K (10.4%)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Office Supplies: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$116K (4.7%) but highest margin at 41%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While Electronics leads in volume, Office Supplies delivers superior profitability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Expand Office Supplies portfolio and promote high-margin items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3C6E3-5E27-4615-B744-9A0DE4154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07" y="1232866"/>
            <a:ext cx="4808715" cy="2443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2CD780-1D86-4BF7-AD5B-CB3022CA5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001" y="1160613"/>
            <a:ext cx="4808716" cy="2437562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BCF3FEB-CEC8-4E24-BBCC-1BD9EBC4C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936" y="3878577"/>
            <a:ext cx="4722846" cy="251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519FEE-9A43-BE46-28A0-B115CF32AC86}"/>
              </a:ext>
            </a:extLst>
          </p:cNvPr>
          <p:cNvSpPr/>
          <p:nvPr/>
        </p:nvSpPr>
        <p:spPr>
          <a:xfrm>
            <a:off x="584765" y="422787"/>
            <a:ext cx="11213945" cy="6115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 txBox="1"/>
          <p:nvPr/>
        </p:nvSpPr>
        <p:spPr>
          <a:xfrm>
            <a:off x="314036" y="379422"/>
            <a:ext cx="117948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Revenue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+mj-lt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Composition: Cost Vs Profit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71500" y="3611016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073747" y="3611016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5537596" y="3611016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213080" y="3611016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71500" y="412343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073747" y="412343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5537596" y="412343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8213080" y="412343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71500" y="4635847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073747" y="4635847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537596" y="4635847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8213080" y="4635847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71500" y="514826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3073747" y="514826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5537596" y="514826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213080" y="514826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A9DFB-AB0A-D6C5-8B4D-58550A620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99" y="1335078"/>
            <a:ext cx="6489701" cy="5143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D4C4F9-1798-7055-1EB8-62332349B3E5}"/>
              </a:ext>
            </a:extLst>
          </p:cNvPr>
          <p:cNvSpPr/>
          <p:nvPr/>
        </p:nvSpPr>
        <p:spPr>
          <a:xfrm>
            <a:off x="481781" y="379422"/>
            <a:ext cx="11555472" cy="6247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4" name="Google Shape;214;p11"/>
          <p:cNvSpPr txBox="1"/>
          <p:nvPr/>
        </p:nvSpPr>
        <p:spPr>
          <a:xfrm>
            <a:off x="766917" y="1700213"/>
            <a:ext cx="4502562" cy="4306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Electronics: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80% cost, 20% profit margin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Office Supplies: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59% cost, 41% profit - Best margin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Furniture &amp; Accessories: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~80% cost structure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Clothing</a:t>
            </a:r>
            <a:r>
              <a:rPr lang="en-US" sz="1600" b="1" u="sng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84% cost, 16% profit - Lowest margin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High-volume categories have lower margins due to competition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Pricing power: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Limited in competitive electronics market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Focus on value-add services, negotiate better supplier terms.</a:t>
            </a:r>
            <a:endParaRPr sz="16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571500" y="3611016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3073747" y="3611016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537596" y="3611016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8213080" y="3611016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571500" y="412343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073747" y="412343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5537596" y="412343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8213080" y="412343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571500" y="4635847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073747" y="4635847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5537596" y="4635847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213080" y="4635847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71500" y="514826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073747" y="514826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537596" y="514826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8213080" y="514826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AEEE68B5-72FA-4914-8AE8-0B11933DA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994" y="1391990"/>
            <a:ext cx="6179809" cy="447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1F40BE4-1546-01CF-6774-A8C0EA3A1544}"/>
              </a:ext>
            </a:extLst>
          </p:cNvPr>
          <p:cNvSpPr/>
          <p:nvPr/>
        </p:nvSpPr>
        <p:spPr>
          <a:xfrm>
            <a:off x="571500" y="403123"/>
            <a:ext cx="11334750" cy="597361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9" name="Google Shape;239;p12"/>
          <p:cNvSpPr txBox="1"/>
          <p:nvPr/>
        </p:nvSpPr>
        <p:spPr>
          <a:xfrm>
            <a:off x="857250" y="1783731"/>
            <a:ext cx="4371975" cy="432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Office Supplies: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41% - Highest margin category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Electronics: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20% - Moderate margin, high volume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Furniture: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20% - Similar to Electronics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Accessories: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19% - Slightly lower margin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Clothing: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16% - Lowest margin category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Inverse relationship between volume and margin</a:t>
            </a:r>
          </a:p>
          <a:p>
            <a:pPr marL="285750" indent="-285750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Balance portfolio with mix of high-volume and high-margin products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1" u="none" strike="noStrike" cap="none" dirty="0">
                <a:solidFill>
                  <a:srgbClr val="334155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.</a:t>
            </a:r>
            <a:endParaRPr sz="2200" b="0" i="1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111413" y="481266"/>
            <a:ext cx="117948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Profit Margin Analysis By Category  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3"/>
          <p:cNvSpPr txBox="1"/>
          <p:nvPr/>
        </p:nvSpPr>
        <p:spPr>
          <a:xfrm>
            <a:off x="198581" y="399626"/>
            <a:ext cx="117948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+mn-lt"/>
                <a:ea typeface="Merriweather"/>
                <a:cs typeface="Merriweather"/>
                <a:sym typeface="Merriweather"/>
              </a:rPr>
              <a:t>Top Performing Brands</a:t>
            </a:r>
            <a:endParaRPr sz="1400" b="0" i="0" u="none" strike="noStrike" cap="none" dirty="0">
              <a:solidFill>
                <a:srgbClr val="000000"/>
              </a:solidFill>
              <a:latin typeface="+mn-lt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571500" y="3611016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3073747" y="3611016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537596" y="3611016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213080" y="3611016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571500" y="412343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3073747" y="412343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537596" y="412343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8213080" y="412343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71500" y="4635847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3073747" y="4635847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537596" y="4635847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8213080" y="4635847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71500" y="5148262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3073747" y="5148262"/>
            <a:ext cx="24638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537596" y="5148262"/>
            <a:ext cx="26754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8213080" y="5148262"/>
            <a:ext cx="340741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E6C300D6-5350-4B59-A3B1-0353BEE82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550" y="1207846"/>
            <a:ext cx="6912777" cy="497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65E99D-910C-15CA-365B-13666E4A993D}"/>
              </a:ext>
            </a:extLst>
          </p:cNvPr>
          <p:cNvSpPr/>
          <p:nvPr/>
        </p:nvSpPr>
        <p:spPr>
          <a:xfrm>
            <a:off x="344129" y="399626"/>
            <a:ext cx="11649289" cy="62174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4" name="Google Shape;264;p13"/>
          <p:cNvSpPr txBox="1"/>
          <p:nvPr/>
        </p:nvSpPr>
        <p:spPr>
          <a:xfrm>
            <a:off x="454673" y="1543488"/>
            <a:ext cx="4286250" cy="521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Nike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Leading brand with strong presence in Electronics ($71K smartphones)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HP: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Second position with tablets and laptops ($44K in tablets)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IKEA: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Strong electronics performance ($42K in tablets)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Samsung &amp; Logitech: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Consistent performers across multiple product lines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Technology brands dominate top positions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Brand loyalty: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Established brands command premium pricing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Strengthen partnerships with top-performing brands, explore exclusive deals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b="0" i="1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412117"/>
            <a:ext cx="1133475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SzPts val="3600"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High-Performing Product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E93108-D063-1063-3308-FABE349EA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893" y="1206483"/>
            <a:ext cx="6619696" cy="494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2" name="Google Shape;332;p17"/>
          <p:cNvSpPr txBox="1"/>
          <p:nvPr/>
        </p:nvSpPr>
        <p:spPr>
          <a:xfrm>
            <a:off x="285749" y="1324806"/>
            <a:ext cx="4585234" cy="541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Nike Smartphones: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#1 product - $70.6K sales, $13.9K profit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HP Tablets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Strong seller - $44.4K sales, $9.6K profit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Adidas Chairs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Furniture category leader – $25.1K sales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HP Beds: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Consistent performer – $24.0K sales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Electronics significantly outperform all other categories, with smartphones and tablets driving the majority of revenue and showing strong product concentration at the top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 concentration 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small number of top products contribute a disproportionately large share of total sales</a:t>
            </a:r>
          </a:p>
          <a:p>
            <a:pPr marL="171450" indent="-1714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Ensure adequate stock and visibility for top-performing electronics, expand similar high-demand product lines, and maintain furniture as a stable secondary category</a:t>
            </a:r>
          </a:p>
          <a:p>
            <a:pPr marL="171450" indent="-171450">
              <a:spcAft>
                <a:spcPts val="1200"/>
              </a:spcAft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07AB11-F9DB-9B7E-5635-598663C13EB3}"/>
              </a:ext>
            </a:extLst>
          </p:cNvPr>
          <p:cNvSpPr/>
          <p:nvPr/>
        </p:nvSpPr>
        <p:spPr>
          <a:xfrm>
            <a:off x="285749" y="324465"/>
            <a:ext cx="11334750" cy="60050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Discount Impact Performance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452582" y="1539954"/>
            <a:ext cx="3830051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Finding: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 between discount levels and profit margins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Heavy discounts: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sales volume but significantly reduce profitability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Sweet spot: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10-15% discount range balances volume and margin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2025 data: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Excessive discounting in some categories impacting bottom line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Strategic discounting needed rather than blanket approach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category-specific discount policies, limit deep discounts to clearance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31DA7AB-75CF-476B-A4FC-E66B4A885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215" y="1463919"/>
            <a:ext cx="6832959" cy="5014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7B61ED-C0D6-EA44-77BF-8F4D2A3EDCD4}"/>
              </a:ext>
            </a:extLst>
          </p:cNvPr>
          <p:cNvSpPr/>
          <p:nvPr/>
        </p:nvSpPr>
        <p:spPr>
          <a:xfrm>
            <a:off x="314632" y="379362"/>
            <a:ext cx="11253542" cy="6116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846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Customer Type Analysis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701127" y="1737893"/>
            <a:ext cx="4598460" cy="4985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Corporate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$878K revenue (35.5%) - Largest segment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Individual: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$820K revenue (33.2%) - Close second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Small Business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$776K revenue (31.4%)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Well-balanced customer distribution across segments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Corporate advantage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Higher average order value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Growth potential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Individual customers show increasing engagement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Develop targeted strategies for each segment, corporate relationship programs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64CCF92-6516-4E9C-B322-2A32EF002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640" y="1312722"/>
            <a:ext cx="6065615" cy="4951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2D1C3E-BC56-B14C-F23B-CED638A4601E}"/>
              </a:ext>
            </a:extLst>
          </p:cNvPr>
          <p:cNvSpPr/>
          <p:nvPr/>
        </p:nvSpPr>
        <p:spPr>
          <a:xfrm>
            <a:off x="442452" y="379362"/>
            <a:ext cx="11334750" cy="62008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95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F3F0DF"/>
          </a:fgClr>
          <a:bgClr>
            <a:schemeClr val="bg1"/>
          </a:bgClr>
        </a:patt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36295" y="1253960"/>
            <a:ext cx="3888221" cy="573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Clear positive correlation between loyalty status and purchase value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Gold tier: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Highest average sales and profit per transaction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Silver tier: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Moderate performance with growth potential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Bronze/None: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Lower engagement but large addressable base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Program impact: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Loyalty members show 30%+ higher transaction values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Retention: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Loyal customers demonstrate repeat purchase behavior</a:t>
            </a:r>
          </a:p>
          <a:p>
            <a:pPr marL="285750" indent="-285750">
              <a:spcAft>
                <a:spcPts val="12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Invest in loyalty program expansion, create upgrade incentives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84A80DB-314B-401A-B0B8-01A48611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7020" y="1458931"/>
            <a:ext cx="7008685" cy="448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572886-178A-8EA9-54A7-025EF1B2A423}"/>
              </a:ext>
            </a:extLst>
          </p:cNvPr>
          <p:cNvSpPr/>
          <p:nvPr/>
        </p:nvSpPr>
        <p:spPr>
          <a:xfrm>
            <a:off x="334297" y="226142"/>
            <a:ext cx="11434916" cy="63239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536295" y="465469"/>
            <a:ext cx="1060365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Loyalty Performance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804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 Customer Rating Analysis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71497" y="933361"/>
            <a:ext cx="3830051" cy="583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Overall rating: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Average 3.0/5.0 across all categories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Clothing: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Highest rated at 3.15/5.0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Electronics: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2.97/5.0 - Room for improvement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Return rates: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5-8% across categories, Electronics at 5.21%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satisfaction scores indicate need for quality improvements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Service impact: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Ratings correlate with repeat purchase likelihood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Enhance customer service, implement quality control measures, follow-up programs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473ABCC-DC5B-4323-8339-46AD06442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014" y="1097280"/>
            <a:ext cx="6426489" cy="497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B71BDF-DEB6-2C96-25A4-30BD01909251}"/>
              </a:ext>
            </a:extLst>
          </p:cNvPr>
          <p:cNvSpPr/>
          <p:nvPr/>
        </p:nvSpPr>
        <p:spPr>
          <a:xfrm>
            <a:off x="393290" y="324465"/>
            <a:ext cx="11405420" cy="62649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2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Regional Sales Distribution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696773" y="1282543"/>
            <a:ext cx="4291697" cy="499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Revenue varies significantly across regions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 region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Strong electronics and furniture sales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Regional preferences: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Different product category preferences by region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Electronics: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Dominant in most regions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Underperforming regions have growth potential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Distribution: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Presence in 4 major regions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Regional marketing campaigns, optimize inventory by region preferences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5495D2-509D-4DBB-855D-FA808C67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470" y="1093736"/>
            <a:ext cx="6882576" cy="507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B45CB4-A233-AA8E-4E8A-18BC1635DE53}"/>
              </a:ext>
            </a:extLst>
          </p:cNvPr>
          <p:cNvSpPr/>
          <p:nvPr/>
        </p:nvSpPr>
        <p:spPr>
          <a:xfrm>
            <a:off x="536296" y="379362"/>
            <a:ext cx="11334750" cy="60992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72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891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Sales Channel Analysis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36296" y="1531069"/>
            <a:ext cx="5323729" cy="4852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Channel mix: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Online, Retail, and Wholesale channels analysed.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Each channel shows distinct performance characteristics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Online: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Growing channel with tech-savvy customers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Retail: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Consistent performer with strong customer interaction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Wholesale: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Bulk orders with lower margins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Category variation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 Electronics performs well online, Furniture in retail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Omnichannel strategy, optimize channel-product alignment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B16DF3D-0816-422A-9F05-55C80568B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25" y="1480314"/>
            <a:ext cx="5378245" cy="445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4F346F7-0873-2AD2-9492-0BCCD4623479}"/>
              </a:ext>
            </a:extLst>
          </p:cNvPr>
          <p:cNvSpPr/>
          <p:nvPr/>
        </p:nvSpPr>
        <p:spPr>
          <a:xfrm>
            <a:off x="373626" y="379362"/>
            <a:ext cx="11282078" cy="60214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944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742950" y="439281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Marketing ROI Analysis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36295" y="1312722"/>
            <a:ext cx="4334360" cy="522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Significant variation in ROI across marketing channels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Top performer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Specific channels deliver 2x average profit per order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Social media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Strong engagement but requires optimization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Email: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High conversion rate from existing customers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Paid search: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Good volume but variable quality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Some channels show negative ROI requiring reassessment</a:t>
            </a:r>
          </a:p>
          <a:p>
            <a:pPr marL="171450" indent="-1714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Recommendation: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Reallocate budget to high-ROI channels, A/B test underperformers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C1116AB-78FC-4ADE-B3FC-9FA9F404F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955" y="1432560"/>
            <a:ext cx="6661334" cy="376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8E0272-F0B5-8183-9C07-CF007FF193D1}"/>
              </a:ext>
            </a:extLst>
          </p:cNvPr>
          <p:cNvSpPr/>
          <p:nvPr/>
        </p:nvSpPr>
        <p:spPr>
          <a:xfrm>
            <a:off x="422787" y="439281"/>
            <a:ext cx="11654913" cy="60991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9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Payment Mode Trend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536296" y="1312722"/>
            <a:ext cx="5123724" cy="5098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Digital payments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Increasing preference for online payment methods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Credit/Debit cards: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popular payment option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Digital wallets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Growing adoption especially among younger customers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Cash on delivery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Still significant in certain segments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Payment preferences correlate with customer demographics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Security: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Customers prioritize secure payment options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Expand digital payment options, ensure robust security measures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7F0458B-572F-4985-AEEB-0CC63A33C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93738"/>
            <a:ext cx="5647096" cy="5175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37B303-567F-4AD1-7D24-FE06901F129D}"/>
              </a:ext>
            </a:extLst>
          </p:cNvPr>
          <p:cNvSpPr/>
          <p:nvPr/>
        </p:nvSpPr>
        <p:spPr>
          <a:xfrm>
            <a:off x="422787" y="379362"/>
            <a:ext cx="11483463" cy="62279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443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857250" y="379362"/>
            <a:ext cx="11334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Sales Team Performance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682048" y="1273164"/>
            <a:ext cx="4450390" cy="5591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Top performers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Significant revenue contribution from top 5 salespersons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Commission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Higher commission rates align with higher profit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Performance gap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Wide variation between top and bottom performers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 needs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Bottom performers require support and development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Sales commission structure effectively motivates performance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Territory impact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Performance varies by assigned territory/segment</a:t>
            </a:r>
          </a:p>
          <a:p>
            <a:pPr marL="285750" indent="-28575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Recommendation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Performance-based incentives, training programs, territory optimization</a:t>
            </a: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72AD87D-B134-4A00-B23A-567289745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39" y="1487355"/>
            <a:ext cx="6377513" cy="369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2179830-70B5-1E04-31F6-DC43BA7F0539}"/>
              </a:ext>
            </a:extLst>
          </p:cNvPr>
          <p:cNvSpPr/>
          <p:nvPr/>
        </p:nvSpPr>
        <p:spPr>
          <a:xfrm>
            <a:off x="501445" y="379362"/>
            <a:ext cx="11334750" cy="58862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043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/>
          <p:nvPr/>
        </p:nvSpPr>
        <p:spPr>
          <a:xfrm>
            <a:off x="442128" y="792420"/>
            <a:ext cx="290397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Su</a:t>
            </a:r>
            <a:r>
              <a:rPr lang="en-US" sz="3600" b="1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mmary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793820" y="1498581"/>
            <a:ext cx="10099223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Growth: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Consistent revenue with stable margins; online channels show high potential.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Value: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Loyalty programs are significantly boosting transaction totals.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Issues: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Customer service ratings are lagging, and 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discount strategy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needs optimization to protect profit margins.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Items: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Prioritize support for top brands and develop channel-specific strategies.</a:t>
            </a:r>
          </a:p>
          <a:p>
            <a:pPr marL="285750" indent="-28575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>
                  <a:lumMod val="60000"/>
                  <a:lumOff val="40000"/>
                </a:schemeClr>
              </a:buClr>
            </a:pPr>
            <a:endParaRPr lang="en-US" altLang="en-US" b="1" dirty="0">
              <a:solidFill>
                <a:srgbClr val="00508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$2.47M total; Electronics leads with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 share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($1.17M).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Profitability: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23% average margin;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 Supplies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top performer at 41%.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Products: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Nike smartphones and HP tablets</a:t>
            </a: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>
                  <a:lumMod val="60000"/>
                  <a:lumOff val="40000"/>
                </a:schemeClr>
              </a:buClr>
              <a:buFont typeface="Wingdings" panose="05000000000000000000" pitchFamily="2" charset="2"/>
              <a:buChar char="q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400"/>
              <a:buFont typeface="Noto Sans Symbols"/>
              <a:buNone/>
            </a:pPr>
            <a:endParaRPr lang="en-US" b="0" i="0" u="none" strike="noStrike" cap="none" dirty="0">
              <a:solidFill>
                <a:srgbClr val="000000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FB63E1-E7C6-D1A9-FC8B-57ED2231DA76}"/>
              </a:ext>
            </a:extLst>
          </p:cNvPr>
          <p:cNvSpPr/>
          <p:nvPr/>
        </p:nvSpPr>
        <p:spPr>
          <a:xfrm>
            <a:off x="622998" y="432079"/>
            <a:ext cx="10775182" cy="56335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FB7719-696A-7EB1-E1F4-AC1F326139C2}"/>
              </a:ext>
            </a:extLst>
          </p:cNvPr>
          <p:cNvSpPr txBox="1"/>
          <p:nvPr/>
        </p:nvSpPr>
        <p:spPr>
          <a:xfrm>
            <a:off x="793820" y="3025266"/>
            <a:ext cx="3687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bg2">
                  <a:lumMod val="60000"/>
                  <a:lumOff val="40000"/>
                </a:schemeClr>
              </a:buClr>
            </a:pPr>
            <a:r>
              <a:rPr lang="en-US" altLang="en-US" sz="36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n-US" altLang="en-US" sz="32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Insights</a:t>
            </a:r>
            <a:r>
              <a:rPr lang="en-US" altLang="en-US" sz="3200" b="1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27875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611444" y="524118"/>
            <a:ext cx="68235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Strategic</a:t>
            </a:r>
            <a:r>
              <a:rPr lang="en-US" sz="36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+mj-lt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Recommendation</a:t>
            </a:r>
            <a:endParaRPr sz="1400" b="0" i="0" u="none" strike="noStrike" cap="none" dirty="0">
              <a:solidFill>
                <a:schemeClr val="tx2">
                  <a:lumMod val="50000"/>
                </a:schemeClr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1337187" y="1238866"/>
            <a:ext cx="9980333" cy="4975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 Product Mix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high-margin Office Supplies, maintain Electronics volume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Refine Discount Strategy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tiered discounting, protect margins on bestsellers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Loyalty Program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 investment in customer retention and upgrade incentives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Regional Customization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Tailor inventory and marketing by regional preferences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 Excellence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omnichannel strategy, optimize product-channel fit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Efficiency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Reallocate budget to high-ROI channels, improve tracking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Experience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service quality to boost ratings and reduce returns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1600" b="1">
                <a:solidFill>
                  <a:srgbClr val="1E2761"/>
                </a:solidFill>
              </a:defRPr>
            </a:pPr>
            <a:r>
              <a:rPr lang="en-US" sz="2000" dirty="0">
                <a:solidFill>
                  <a:srgbClr val="0050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Team Development :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training for underperformers, optimize territories</a:t>
            </a:r>
            <a:endParaRPr lang="en-US" sz="20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DA93E-37EB-5B1B-E00F-E9FAB66B90D6}"/>
              </a:ext>
            </a:extLst>
          </p:cNvPr>
          <p:cNvSpPr/>
          <p:nvPr/>
        </p:nvSpPr>
        <p:spPr>
          <a:xfrm>
            <a:off x="395134" y="289511"/>
            <a:ext cx="11401732" cy="63589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209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1573162" y="582827"/>
            <a:ext cx="1058934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005088"/>
                </a:solidFill>
                <a:latin typeface="Arial" panose="020B0604020202020204" pitchFamily="34" charset="0"/>
                <a:ea typeface="Merriweather"/>
                <a:cs typeface="Arial" panose="020B0604020202020204" pitchFamily="34" charset="0"/>
                <a:sym typeface="Merriweather"/>
              </a:rPr>
              <a:t>Next Steps &amp; Action Plan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57250" y="1093737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682047" y="1551771"/>
            <a:ext cx="987406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Immediate (0-30 days):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Review and adjust discount policies, launch loyalty program enhancements</a:t>
            </a:r>
          </a:p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Short-term (1-3 months):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Implement regional marketing campaigns, optimize inventory distribution</a:t>
            </a:r>
          </a:p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Medium-term (3-6 months):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Expand Office Supplies portfolio, enhance customer service training</a:t>
            </a:r>
          </a:p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Long-term (6-12 months):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 omnichannel capabilities, negotiate improved supplier terms</a:t>
            </a:r>
          </a:p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Monitoring: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Establish monthly KPI tracking dashboard</a:t>
            </a:r>
          </a:p>
          <a:p>
            <a:pPr marL="342900" indent="-342900">
              <a:spcAft>
                <a:spcPts val="1600"/>
              </a:spcAft>
              <a:buClr>
                <a:schemeClr val="tx1"/>
              </a:buClr>
              <a:buFont typeface="Wingdings" panose="05000000000000000000" pitchFamily="2" charset="2"/>
              <a:buChar char="q"/>
              <a:defRPr sz="1600">
                <a:solidFill>
                  <a:srgbClr val="333333"/>
                </a:solidFill>
              </a:defRPr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Review: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Quarterly business reviews to assess progress and adjust strategies</a:t>
            </a:r>
            <a:endParaRPr lang="en-US" sz="20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23277-33F1-610A-0B74-1318287DABA9}"/>
              </a:ext>
            </a:extLst>
          </p:cNvPr>
          <p:cNvSpPr/>
          <p:nvPr/>
        </p:nvSpPr>
        <p:spPr>
          <a:xfrm>
            <a:off x="481781" y="379362"/>
            <a:ext cx="11198942" cy="57866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13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8836" y="0"/>
            <a:ext cx="561421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55ACDE-E297-599E-50E4-FB7279CE0BA4}"/>
              </a:ext>
            </a:extLst>
          </p:cNvPr>
          <p:cNvSpPr txBox="1"/>
          <p:nvPr/>
        </p:nvSpPr>
        <p:spPr>
          <a:xfrm>
            <a:off x="1083672" y="2332380"/>
            <a:ext cx="50123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rial" panose="020B0604020202020204" pitchFamily="34" charset="0"/>
                <a:cs typeface="Arial" panose="020B0604020202020204" pitchFamily="34" charset="0"/>
              </a:rPr>
              <a:t>Thank you!!</a:t>
            </a:r>
            <a:endParaRPr lang="en-IN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EAA925-EECA-57EB-9DE0-3D6A4EE96E7C}"/>
              </a:ext>
            </a:extLst>
          </p:cNvPr>
          <p:cNvSpPr/>
          <p:nvPr/>
        </p:nvSpPr>
        <p:spPr>
          <a:xfrm>
            <a:off x="275302" y="304800"/>
            <a:ext cx="12387753" cy="6351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1161</TotalTime>
  <Words>1604</Words>
  <Application>Microsoft Office PowerPoint</Application>
  <PresentationFormat>Widescreen</PresentationFormat>
  <Paragraphs>198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Wingdings 3</vt:lpstr>
      <vt:lpstr>Merriweather</vt:lpstr>
      <vt:lpstr>Trebuchet MS</vt:lpstr>
      <vt:lpstr>Calibri</vt:lpstr>
      <vt:lpstr>Wingdings</vt:lpstr>
      <vt:lpstr>Noto Sans Symbols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Anjana Babu</dc:creator>
  <cp:lastModifiedBy>Baskar Arunachala madhan</cp:lastModifiedBy>
  <cp:revision>16</cp:revision>
  <dcterms:modified xsi:type="dcterms:W3CDTF">2026-07-02T17:10:27Z</dcterms:modified>
</cp:coreProperties>
</file>