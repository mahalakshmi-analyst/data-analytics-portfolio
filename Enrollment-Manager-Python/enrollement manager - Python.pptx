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6" r:id="rId1"/>
  </p:sldMasterIdLst>
  <p:sldIdLst>
    <p:sldId id="256" r:id="rId2"/>
    <p:sldId id="257" r:id="rId3"/>
    <p:sldId id="258" r:id="rId4"/>
    <p:sldId id="259" r:id="rId5"/>
    <p:sldId id="278" r:id="rId6"/>
    <p:sldId id="260" r:id="rId7"/>
    <p:sldId id="261" r:id="rId8"/>
    <p:sldId id="262" r:id="rId9"/>
    <p:sldId id="263" r:id="rId10"/>
    <p:sldId id="264" r:id="rId11"/>
    <p:sldId id="265" r:id="rId12"/>
    <p:sldId id="266" r:id="rId13"/>
    <p:sldId id="279" r:id="rId14"/>
    <p:sldId id="280" r:id="rId15"/>
    <p:sldId id="281" r:id="rId16"/>
    <p:sldId id="282" r:id="rId17"/>
    <p:sldId id="283" r:id="rId18"/>
    <p:sldId id="276" r:id="rId19"/>
    <p:sldId id="27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114591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562814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3467116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170231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1175704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352498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14508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2424948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3885408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4248215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EDF5AA4-2490-4C26-AF4E-6B71C89E3C95}"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535087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15972283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EDF5AA4-2490-4C26-AF4E-6B71C89E3C95}"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95265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2381736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3181900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FA6D48-2E67-46C5-B049-1A4993D2477F}" type="datetimeFigureOut">
              <a:rPr lang="en-US" smtClean="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EDF5AA4-2490-4C26-AF4E-6B71C89E3C95}" type="slidenum">
              <a:rPr lang="en-US" smtClean="0"/>
              <a:t>‹#›</a:t>
            </a:fld>
            <a:endParaRPr lang="en-US" dirty="0"/>
          </a:p>
        </p:txBody>
      </p:sp>
    </p:spTree>
    <p:extLst>
      <p:ext uri="{BB962C8B-B14F-4D97-AF65-F5344CB8AC3E}">
        <p14:creationId xmlns:p14="http://schemas.microsoft.com/office/powerpoint/2010/main" val="2139513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5FA6D48-2E67-46C5-B049-1A4993D2477F}" type="datetimeFigureOut">
              <a:rPr lang="en-US" smtClean="0"/>
              <a:t>7/2/2026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EDF5AA4-2490-4C26-AF4E-6B71C89E3C95}" type="slidenum">
              <a:rPr lang="en-US" smtClean="0"/>
              <a:t>‹#›</a:t>
            </a:fld>
            <a:endParaRPr lang="en-US" dirty="0"/>
          </a:p>
        </p:txBody>
      </p:sp>
    </p:spTree>
    <p:extLst>
      <p:ext uri="{BB962C8B-B14F-4D97-AF65-F5344CB8AC3E}">
        <p14:creationId xmlns:p14="http://schemas.microsoft.com/office/powerpoint/2010/main" val="2894480555"/>
      </p:ext>
    </p:extLst>
  </p:cSld>
  <p:clrMap bg1="lt1" tx1="dk1" bg2="lt2" tx2="dk2" accent1="accent1" accent2="accent2" accent3="accent3" accent4="accent4" accent5="accent5" accent6="accent6" hlink="hlink" folHlink="folHlink"/>
  <p:sldLayoutIdLst>
    <p:sldLayoutId id="2147484027" r:id="rId1"/>
    <p:sldLayoutId id="2147484028" r:id="rId2"/>
    <p:sldLayoutId id="2147484029" r:id="rId3"/>
    <p:sldLayoutId id="2147484030" r:id="rId4"/>
    <p:sldLayoutId id="2147484031" r:id="rId5"/>
    <p:sldLayoutId id="2147484032" r:id="rId6"/>
    <p:sldLayoutId id="2147484033" r:id="rId7"/>
    <p:sldLayoutId id="2147484034" r:id="rId8"/>
    <p:sldLayoutId id="2147484035" r:id="rId9"/>
    <p:sldLayoutId id="2147484036" r:id="rId10"/>
    <p:sldLayoutId id="2147484037" r:id="rId11"/>
    <p:sldLayoutId id="2147484038" r:id="rId12"/>
    <p:sldLayoutId id="2147484039" r:id="rId13"/>
    <p:sldLayoutId id="2147484040" r:id="rId14"/>
    <p:sldLayoutId id="2147484041" r:id="rId15"/>
    <p:sldLayoutId id="2147484042"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A3775-336F-936D-B625-067291DD785C}"/>
              </a:ext>
            </a:extLst>
          </p:cNvPr>
          <p:cNvSpPr>
            <a:spLocks noGrp="1"/>
          </p:cNvSpPr>
          <p:nvPr>
            <p:ph type="ctrTitle"/>
          </p:nvPr>
        </p:nvSpPr>
        <p:spPr>
          <a:xfrm>
            <a:off x="673577" y="4336026"/>
            <a:ext cx="3822203" cy="2048108"/>
          </a:xfrm>
        </p:spPr>
        <p:txBody>
          <a:bodyPr vert="horz" lIns="91440" tIns="45720" rIns="91440" bIns="45720" rtlCol="0" anchor="ctr">
            <a:normAutofit/>
          </a:bodyPr>
          <a:lstStyle/>
          <a:p>
            <a:pPr algn="l"/>
            <a:r>
              <a:rPr lang="en-IN" sz="3600" b="1" dirty="0"/>
              <a:t>ENROLLEMENT      MANAGER</a:t>
            </a:r>
            <a:endParaRPr lang="en-US" sz="3600" b="1" dirty="0"/>
          </a:p>
        </p:txBody>
      </p:sp>
      <p:sp>
        <p:nvSpPr>
          <p:cNvPr id="3" name="Subtitle 2">
            <a:extLst>
              <a:ext uri="{FF2B5EF4-FFF2-40B4-BE49-F238E27FC236}">
                <a16:creationId xmlns:a16="http://schemas.microsoft.com/office/drawing/2014/main" id="{F1216CF9-6F34-EE14-1799-1C986E54D0C7}"/>
              </a:ext>
            </a:extLst>
          </p:cNvPr>
          <p:cNvSpPr>
            <a:spLocks noGrp="1"/>
          </p:cNvSpPr>
          <p:nvPr>
            <p:ph type="subTitle" idx="1"/>
          </p:nvPr>
        </p:nvSpPr>
        <p:spPr>
          <a:xfrm>
            <a:off x="4611329" y="4336026"/>
            <a:ext cx="6787931" cy="2048108"/>
          </a:xfrm>
        </p:spPr>
        <p:txBody>
          <a:bodyPr vert="horz" lIns="91440" tIns="45720" rIns="91440" bIns="45720" rtlCol="0" anchor="ctr">
            <a:noAutofit/>
          </a:bodyPr>
          <a:lstStyle/>
          <a:p>
            <a:pPr algn="l"/>
            <a:r>
              <a:rPr lang="en-US" b="1" dirty="0">
                <a:solidFill>
                  <a:schemeClr val="tx1"/>
                </a:solidFill>
              </a:rPr>
              <a:t>By           :  </a:t>
            </a:r>
            <a:r>
              <a:rPr lang="en-IN" b="1" dirty="0">
                <a:solidFill>
                  <a:schemeClr val="tx1"/>
                </a:solidFill>
              </a:rPr>
              <a:t>Mahalakshmi</a:t>
            </a:r>
            <a:endParaRPr lang="en-US" b="1" dirty="0">
              <a:solidFill>
                <a:schemeClr val="tx1"/>
              </a:solidFill>
            </a:endParaRPr>
          </a:p>
          <a:p>
            <a:pPr algn="l"/>
            <a:r>
              <a:rPr lang="en-US" b="1">
                <a:solidFill>
                  <a:schemeClr val="tx1"/>
                </a:solidFill>
              </a:rPr>
              <a:t>Course  </a:t>
            </a:r>
            <a:r>
              <a:rPr lang="en-US" b="1" dirty="0">
                <a:solidFill>
                  <a:schemeClr val="tx1"/>
                </a:solidFill>
              </a:rPr>
              <a:t>: </a:t>
            </a:r>
            <a:r>
              <a:rPr lang="en-IN" b="1" dirty="0">
                <a:solidFill>
                  <a:schemeClr val="tx1"/>
                </a:solidFill>
              </a:rPr>
              <a:t>Programming Using Python</a:t>
            </a:r>
            <a:endParaRPr lang="en-US" b="1" dirty="0">
              <a:solidFill>
                <a:schemeClr val="tx1"/>
              </a:solidFill>
            </a:endParaRPr>
          </a:p>
          <a:p>
            <a:pPr algn="l"/>
            <a:r>
              <a:rPr lang="en-US" b="1" dirty="0">
                <a:solidFill>
                  <a:schemeClr val="tx1"/>
                </a:solidFill>
              </a:rPr>
              <a:t>Batch Code: DA644S64 </a:t>
            </a:r>
          </a:p>
          <a:p>
            <a:pPr algn="l"/>
            <a:r>
              <a:rPr lang="en-US" b="1" dirty="0">
                <a:solidFill>
                  <a:schemeClr val="tx1"/>
                </a:solidFill>
              </a:rPr>
              <a:t>Project Guide: Priya Shanmugam</a:t>
            </a:r>
          </a:p>
        </p:txBody>
      </p:sp>
      <p:pic>
        <p:nvPicPr>
          <p:cNvPr id="4" name="Picture 3">
            <a:extLst>
              <a:ext uri="{FF2B5EF4-FFF2-40B4-BE49-F238E27FC236}">
                <a16:creationId xmlns:a16="http://schemas.microsoft.com/office/drawing/2014/main" id="{F4DFD07D-CE25-B976-421E-F53563700C87}"/>
              </a:ext>
            </a:extLst>
          </p:cNvPr>
          <p:cNvPicPr>
            <a:picLocks noChangeAspect="1"/>
          </p:cNvPicPr>
          <p:nvPr/>
        </p:nvPicPr>
        <p:blipFill>
          <a:blip r:embed="rId2"/>
          <a:srcRect/>
          <a:stretch/>
        </p:blipFill>
        <p:spPr>
          <a:xfrm>
            <a:off x="673577" y="549778"/>
            <a:ext cx="10929123" cy="3669124"/>
          </a:xfrm>
          <a:prstGeom prst="rect">
            <a:avLst/>
          </a:prstGeom>
        </p:spPr>
      </p:pic>
    </p:spTree>
    <p:extLst>
      <p:ext uri="{BB962C8B-B14F-4D97-AF65-F5344CB8AC3E}">
        <p14:creationId xmlns:p14="http://schemas.microsoft.com/office/powerpoint/2010/main" val="2775892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E3AFA-0AAA-D96B-68DA-05A95DF6DB85}"/>
              </a:ext>
            </a:extLst>
          </p:cNvPr>
          <p:cNvSpPr>
            <a:spLocks noGrp="1"/>
          </p:cNvSpPr>
          <p:nvPr>
            <p:ph type="title"/>
          </p:nvPr>
        </p:nvSpPr>
        <p:spPr>
          <a:xfrm>
            <a:off x="78658" y="294969"/>
            <a:ext cx="10907690" cy="993057"/>
          </a:xfrm>
        </p:spPr>
        <p:txBody>
          <a:bodyPr anchor="ctr">
            <a:normAutofit/>
          </a:bodyPr>
          <a:lstStyle/>
          <a:p>
            <a:r>
              <a:rPr lang="en-US" sz="4800" dirty="0"/>
              <a:t>Problem Statement</a:t>
            </a:r>
          </a:p>
        </p:txBody>
      </p:sp>
      <p:sp>
        <p:nvSpPr>
          <p:cNvPr id="4" name="Content Placeholder 3">
            <a:extLst>
              <a:ext uri="{FF2B5EF4-FFF2-40B4-BE49-F238E27FC236}">
                <a16:creationId xmlns:a16="http://schemas.microsoft.com/office/drawing/2014/main" id="{C0CBDC3C-5E58-B02C-DFEF-42725651DB85}"/>
              </a:ext>
            </a:extLst>
          </p:cNvPr>
          <p:cNvSpPr>
            <a:spLocks noGrp="1"/>
          </p:cNvSpPr>
          <p:nvPr>
            <p:ph idx="1"/>
          </p:nvPr>
        </p:nvSpPr>
        <p:spPr>
          <a:xfrm>
            <a:off x="501445" y="1573160"/>
            <a:ext cx="10208391" cy="4218039"/>
          </a:xfrm>
        </p:spPr>
        <p:txBody>
          <a:bodyPr>
            <a:noAutofit/>
          </a:bodyPr>
          <a:lstStyle/>
          <a:p>
            <a:r>
              <a:rPr lang="en-IN" sz="2000" dirty="0">
                <a:latin typeface="Times New Roman" panose="02020603050405020304" pitchFamily="18" charset="0"/>
                <a:cs typeface="Times New Roman" panose="02020603050405020304" pitchFamily="18" charset="0"/>
              </a:rPr>
              <a:t>Student enrollment in many institutions is  managed manually or using spreadsheets</a:t>
            </a:r>
          </a:p>
          <a:p>
            <a:r>
              <a:rPr lang="en-IN" sz="2000" dirty="0">
                <a:latin typeface="Times New Roman" panose="02020603050405020304" pitchFamily="18" charset="0"/>
                <a:cs typeface="Times New Roman" panose="02020603050405020304" pitchFamily="18" charset="0"/>
              </a:rPr>
              <a:t>Manual enrollment leads to data duplication and entry errors</a:t>
            </a:r>
          </a:p>
          <a:p>
            <a:r>
              <a:rPr lang="en-IN" sz="2000" dirty="0">
                <a:latin typeface="Times New Roman" panose="02020603050405020304" pitchFamily="18" charset="0"/>
                <a:cs typeface="Times New Roman" panose="02020603050405020304" pitchFamily="18" charset="0"/>
              </a:rPr>
              <a:t>Tracking enrolled students and assigned courses becomes difficult</a:t>
            </a:r>
          </a:p>
          <a:p>
            <a:r>
              <a:rPr lang="en-IN" sz="2000" dirty="0">
                <a:latin typeface="Times New Roman" panose="02020603050405020304" pitchFamily="18" charset="0"/>
                <a:cs typeface="Times New Roman" panose="02020603050405020304" pitchFamily="18" charset="0"/>
              </a:rPr>
              <a:t>Updating or modifying enrollment details is time-consuming</a:t>
            </a:r>
          </a:p>
          <a:p>
            <a:r>
              <a:rPr lang="en-IN" sz="2000" dirty="0">
                <a:latin typeface="Times New Roman" panose="02020603050405020304" pitchFamily="18" charset="0"/>
                <a:cs typeface="Times New Roman" panose="02020603050405020304" pitchFamily="18" charset="0"/>
              </a:rPr>
              <a:t>Lack of a centralized system for managing student and course data</a:t>
            </a:r>
          </a:p>
          <a:p>
            <a:r>
              <a:rPr lang="en-IN" sz="2000" dirty="0">
                <a:latin typeface="Times New Roman" panose="02020603050405020304" pitchFamily="18" charset="0"/>
                <a:cs typeface="Times New Roman" panose="02020603050405020304" pitchFamily="18" charset="0"/>
              </a:rPr>
              <a:t>Difficulty in generating enrollment reports quickly</a:t>
            </a:r>
          </a:p>
          <a:p>
            <a:r>
              <a:rPr lang="en-IN" sz="2000" dirty="0">
                <a:latin typeface="Times New Roman" panose="02020603050405020304" pitchFamily="18" charset="0"/>
                <a:cs typeface="Times New Roman" panose="02020603050405020304" pitchFamily="18" charset="0"/>
              </a:rPr>
              <a:t>Increased administrative workload due to repetitive tasks</a:t>
            </a:r>
          </a:p>
          <a:p>
            <a:r>
              <a:rPr lang="en-IN" sz="2000" dirty="0">
                <a:latin typeface="Times New Roman" panose="02020603050405020304" pitchFamily="18" charset="0"/>
                <a:cs typeface="Times New Roman" panose="02020603050405020304" pitchFamily="18" charset="0"/>
              </a:rPr>
              <a:t>Need for an automated, accurate, and user-friendly enrollment management system</a:t>
            </a:r>
          </a:p>
          <a:p>
            <a:r>
              <a:rPr lang="en-IN" sz="2000" dirty="0">
                <a:latin typeface="Times New Roman" panose="02020603050405020304" pitchFamily="18" charset="0"/>
                <a:cs typeface="Times New Roman" panose="02020603050405020304" pitchFamily="18" charset="0"/>
              </a:rPr>
              <a:t>Requirement of a Python-based solution to efficiently manage enrollment processes</a:t>
            </a:r>
            <a:br>
              <a:rPr lang="en-IN"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337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844F5-34E1-DB9E-F320-24D63181F37D}"/>
              </a:ext>
            </a:extLst>
          </p:cNvPr>
          <p:cNvSpPr>
            <a:spLocks noGrp="1"/>
          </p:cNvSpPr>
          <p:nvPr>
            <p:ph type="title"/>
          </p:nvPr>
        </p:nvSpPr>
        <p:spPr>
          <a:xfrm>
            <a:off x="276715" y="82311"/>
            <a:ext cx="8611646" cy="1294205"/>
          </a:xfrm>
        </p:spPr>
        <p:txBody>
          <a:bodyPr anchor="ctr">
            <a:normAutofit/>
          </a:bodyPr>
          <a:lstStyle/>
          <a:p>
            <a:r>
              <a:rPr lang="en-US" sz="4800" dirty="0"/>
              <a:t>Objectives</a:t>
            </a:r>
          </a:p>
        </p:txBody>
      </p:sp>
      <p:sp>
        <p:nvSpPr>
          <p:cNvPr id="5" name="Content Placeholder 4">
            <a:extLst>
              <a:ext uri="{FF2B5EF4-FFF2-40B4-BE49-F238E27FC236}">
                <a16:creationId xmlns:a16="http://schemas.microsoft.com/office/drawing/2014/main" id="{C2C2B626-D06A-02E7-6368-ED9F23B21D81}"/>
              </a:ext>
            </a:extLst>
          </p:cNvPr>
          <p:cNvSpPr>
            <a:spLocks noGrp="1"/>
          </p:cNvSpPr>
          <p:nvPr>
            <p:ph idx="1"/>
          </p:nvPr>
        </p:nvSpPr>
        <p:spPr>
          <a:xfrm>
            <a:off x="462116" y="1376516"/>
            <a:ext cx="11097115" cy="5260259"/>
          </a:xfrm>
        </p:spPr>
        <p:txBody>
          <a:bodyPr>
            <a:normAutofit fontScale="92500" lnSpcReduction="10000"/>
          </a:bodyPr>
          <a:lstStyle/>
          <a:p>
            <a:r>
              <a:rPr lang="en-IN" sz="2200" b="0" i="0" dirty="0">
                <a:solidFill>
                  <a:srgbClr val="000000"/>
                </a:solidFill>
                <a:effectLst/>
                <a:latin typeface="Times New Roman" panose="02020603050405020304" pitchFamily="18" charset="0"/>
                <a:cs typeface="Times New Roman" panose="02020603050405020304" pitchFamily="18" charset="0"/>
              </a:rPr>
              <a:t>To design and develop a Python-based system for managing student enrolments efficiently</a:t>
            </a:r>
            <a:br>
              <a:rPr lang="en-IN" sz="2200" b="0" i="0" dirty="0">
                <a:solidFill>
                  <a:srgbClr val="000000"/>
                </a:solidFill>
                <a:effectLst/>
                <a:latin typeface="Times New Roman" panose="02020603050405020304" pitchFamily="18" charset="0"/>
                <a:cs typeface="Times New Roman" panose="02020603050405020304" pitchFamily="18" charset="0"/>
              </a:rPr>
            </a:br>
            <a:endParaRPr lang="en-IN" sz="2200" b="0" i="0" dirty="0">
              <a:solidFill>
                <a:srgbClr val="000000"/>
              </a:solidFill>
              <a:effectLst/>
              <a:latin typeface="Times New Roman" panose="02020603050405020304" pitchFamily="18" charset="0"/>
              <a:cs typeface="Times New Roman" panose="02020603050405020304" pitchFamily="18" charset="0"/>
            </a:endParaRPr>
          </a:p>
          <a:p>
            <a:r>
              <a:rPr lang="en-IN" sz="2200" b="0" i="0" dirty="0">
                <a:solidFill>
                  <a:srgbClr val="000000"/>
                </a:solidFill>
                <a:effectLst/>
                <a:latin typeface="Times New Roman" panose="02020603050405020304" pitchFamily="18" charset="0"/>
                <a:cs typeface="Times New Roman" panose="02020603050405020304" pitchFamily="18" charset="0"/>
              </a:rPr>
              <a:t>To automate student registration and course enrollment processes</a:t>
            </a:r>
            <a:br>
              <a:rPr lang="en-IN" sz="2200" b="0" i="0" dirty="0">
                <a:solidFill>
                  <a:srgbClr val="000000"/>
                </a:solidFill>
                <a:effectLst/>
                <a:latin typeface="Times New Roman" panose="02020603050405020304" pitchFamily="18" charset="0"/>
                <a:cs typeface="Times New Roman" panose="02020603050405020304" pitchFamily="18" charset="0"/>
              </a:rPr>
            </a:br>
            <a:endParaRPr lang="en-IN" sz="2200" b="0" i="0" dirty="0">
              <a:solidFill>
                <a:srgbClr val="000000"/>
              </a:solidFill>
              <a:effectLst/>
              <a:latin typeface="Times New Roman" panose="02020603050405020304" pitchFamily="18" charset="0"/>
              <a:cs typeface="Times New Roman" panose="02020603050405020304" pitchFamily="18" charset="0"/>
            </a:endParaRPr>
          </a:p>
          <a:p>
            <a:r>
              <a:rPr lang="en-IN" sz="2200" b="0" i="0" dirty="0">
                <a:solidFill>
                  <a:srgbClr val="000000"/>
                </a:solidFill>
                <a:effectLst/>
                <a:latin typeface="Times New Roman" panose="02020603050405020304" pitchFamily="18" charset="0"/>
                <a:cs typeface="Times New Roman" panose="02020603050405020304" pitchFamily="18" charset="0"/>
              </a:rPr>
              <a:t>To maintain centralized records of students, courses, and enrollment status</a:t>
            </a:r>
            <a:br>
              <a:rPr lang="en-IN" sz="2200" b="0" i="0" dirty="0">
                <a:solidFill>
                  <a:srgbClr val="000000"/>
                </a:solidFill>
                <a:effectLst/>
                <a:latin typeface="Times New Roman" panose="02020603050405020304" pitchFamily="18" charset="0"/>
                <a:cs typeface="Times New Roman" panose="02020603050405020304" pitchFamily="18" charset="0"/>
              </a:rPr>
            </a:br>
            <a:endParaRPr lang="en-IN" sz="2200" b="0" i="0" dirty="0">
              <a:solidFill>
                <a:srgbClr val="000000"/>
              </a:solidFill>
              <a:effectLst/>
              <a:latin typeface="Times New Roman" panose="02020603050405020304" pitchFamily="18" charset="0"/>
              <a:cs typeface="Times New Roman" panose="02020603050405020304" pitchFamily="18" charset="0"/>
            </a:endParaRPr>
          </a:p>
          <a:p>
            <a:r>
              <a:rPr lang="en-IN" sz="2200" b="0" i="0" dirty="0">
                <a:solidFill>
                  <a:srgbClr val="000000"/>
                </a:solidFill>
                <a:effectLst/>
                <a:latin typeface="Times New Roman" panose="02020603050405020304" pitchFamily="18" charset="0"/>
                <a:cs typeface="Times New Roman" panose="02020603050405020304" pitchFamily="18" charset="0"/>
              </a:rPr>
              <a:t>To reduce manual effort and minimize data entry errors</a:t>
            </a:r>
            <a:br>
              <a:rPr lang="en-IN" sz="2200" b="0" i="0" dirty="0">
                <a:solidFill>
                  <a:srgbClr val="000000"/>
                </a:solidFill>
                <a:effectLst/>
                <a:latin typeface="Times New Roman" panose="02020603050405020304" pitchFamily="18" charset="0"/>
                <a:cs typeface="Times New Roman" panose="02020603050405020304" pitchFamily="18" charset="0"/>
              </a:rPr>
            </a:br>
            <a:endParaRPr lang="en-IN" sz="2200" b="0" i="0" dirty="0">
              <a:solidFill>
                <a:srgbClr val="000000"/>
              </a:solidFill>
              <a:effectLst/>
              <a:latin typeface="Times New Roman" panose="02020603050405020304" pitchFamily="18" charset="0"/>
              <a:cs typeface="Times New Roman" panose="02020603050405020304" pitchFamily="18" charset="0"/>
            </a:endParaRPr>
          </a:p>
          <a:p>
            <a:r>
              <a:rPr lang="en-IN" sz="2200" b="0" i="0" dirty="0">
                <a:solidFill>
                  <a:srgbClr val="000000"/>
                </a:solidFill>
                <a:effectLst/>
                <a:latin typeface="Times New Roman" panose="02020603050405020304" pitchFamily="18" charset="0"/>
                <a:cs typeface="Times New Roman" panose="02020603050405020304" pitchFamily="18" charset="0"/>
              </a:rPr>
              <a:t>To provide easy search, update, and deletion of enrollment records</a:t>
            </a:r>
            <a:br>
              <a:rPr lang="en-IN" sz="2200" b="0" i="0" dirty="0">
                <a:solidFill>
                  <a:srgbClr val="000000"/>
                </a:solidFill>
                <a:effectLst/>
                <a:latin typeface="Times New Roman" panose="02020603050405020304" pitchFamily="18" charset="0"/>
                <a:cs typeface="Times New Roman" panose="02020603050405020304" pitchFamily="18" charset="0"/>
              </a:rPr>
            </a:br>
            <a:endParaRPr lang="en-IN" sz="2200" b="0" i="0" dirty="0">
              <a:solidFill>
                <a:srgbClr val="000000"/>
              </a:solidFill>
              <a:effectLst/>
              <a:latin typeface="Times New Roman" panose="02020603050405020304" pitchFamily="18" charset="0"/>
              <a:cs typeface="Times New Roman" panose="02020603050405020304" pitchFamily="18" charset="0"/>
            </a:endParaRPr>
          </a:p>
          <a:p>
            <a:r>
              <a:rPr lang="en-IN" sz="2200" b="0" i="0" dirty="0">
                <a:solidFill>
                  <a:srgbClr val="000000"/>
                </a:solidFill>
                <a:effectLst/>
                <a:latin typeface="Times New Roman" panose="02020603050405020304" pitchFamily="18" charset="0"/>
                <a:cs typeface="Times New Roman" panose="02020603050405020304" pitchFamily="18" charset="0"/>
              </a:rPr>
              <a:t>To generate basic reports such as enrolled students per course</a:t>
            </a:r>
            <a:br>
              <a:rPr lang="en-IN" sz="2200" b="0" i="0" dirty="0">
                <a:solidFill>
                  <a:srgbClr val="000000"/>
                </a:solidFill>
                <a:effectLst/>
                <a:latin typeface="Times New Roman" panose="02020603050405020304" pitchFamily="18" charset="0"/>
                <a:cs typeface="Times New Roman" panose="02020603050405020304" pitchFamily="18" charset="0"/>
              </a:rPr>
            </a:br>
            <a:endParaRPr lang="en-IN" sz="2200" b="0" i="0" dirty="0">
              <a:solidFill>
                <a:srgbClr val="000000"/>
              </a:solidFill>
              <a:effectLst/>
              <a:latin typeface="Times New Roman" panose="02020603050405020304" pitchFamily="18" charset="0"/>
              <a:cs typeface="Times New Roman" panose="02020603050405020304" pitchFamily="18" charset="0"/>
            </a:endParaRPr>
          </a:p>
          <a:p>
            <a:r>
              <a:rPr lang="en-IN" sz="2200" b="0" i="0" dirty="0">
                <a:solidFill>
                  <a:srgbClr val="000000"/>
                </a:solidFill>
                <a:effectLst/>
                <a:latin typeface="Times New Roman" panose="02020603050405020304" pitchFamily="18" charset="0"/>
                <a:cs typeface="Times New Roman" panose="02020603050405020304" pitchFamily="18" charset="0"/>
              </a:rPr>
              <a:t>To ensure data consistency and proper validation during enrollment</a:t>
            </a:r>
            <a:br>
              <a:rPr lang="en-IN" sz="2200" b="0" i="0" dirty="0">
                <a:solidFill>
                  <a:srgbClr val="000000"/>
                </a:solidFill>
                <a:effectLst/>
                <a:latin typeface="Times New Roman" panose="02020603050405020304" pitchFamily="18" charset="0"/>
                <a:cs typeface="Times New Roman" panose="02020603050405020304" pitchFamily="18" charset="0"/>
              </a:rPr>
            </a:br>
            <a:endParaRPr lang="en-IN" sz="2200" b="0" i="0" dirty="0">
              <a:solidFill>
                <a:srgbClr val="000000"/>
              </a:solidFill>
              <a:effectLst/>
              <a:latin typeface="Times New Roman" panose="02020603050405020304" pitchFamily="18" charset="0"/>
              <a:cs typeface="Times New Roman" panose="02020603050405020304" pitchFamily="18" charset="0"/>
            </a:endParaRPr>
          </a:p>
          <a:p>
            <a:r>
              <a:rPr lang="en-IN" sz="2200" b="0" i="0" dirty="0">
                <a:solidFill>
                  <a:srgbClr val="000000"/>
                </a:solidFill>
                <a:effectLst/>
                <a:latin typeface="Times New Roman" panose="02020603050405020304" pitchFamily="18" charset="0"/>
                <a:cs typeface="Times New Roman" panose="02020603050405020304" pitchFamily="18" charset="0"/>
              </a:rPr>
              <a:t>To improve administrative productivity through automation</a:t>
            </a:r>
          </a:p>
          <a:p>
            <a:pPr marL="0" indent="0">
              <a:buNone/>
            </a:pPr>
            <a:endParaRPr lang="en-US" dirty="0"/>
          </a:p>
        </p:txBody>
      </p:sp>
    </p:spTree>
    <p:extLst>
      <p:ext uri="{BB962C8B-B14F-4D97-AF65-F5344CB8AC3E}">
        <p14:creationId xmlns:p14="http://schemas.microsoft.com/office/powerpoint/2010/main" val="238920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07A9B-DE0C-DD9C-DE10-1B06CC3253CA}"/>
              </a:ext>
            </a:extLst>
          </p:cNvPr>
          <p:cNvSpPr>
            <a:spLocks noGrp="1"/>
          </p:cNvSpPr>
          <p:nvPr>
            <p:ph type="title"/>
          </p:nvPr>
        </p:nvSpPr>
        <p:spPr>
          <a:xfrm>
            <a:off x="306212" y="269124"/>
            <a:ext cx="9942716" cy="1554480"/>
          </a:xfrm>
        </p:spPr>
        <p:txBody>
          <a:bodyPr anchor="ctr">
            <a:normAutofit/>
          </a:bodyPr>
          <a:lstStyle/>
          <a:p>
            <a:r>
              <a:rPr lang="en-US" sz="4800" dirty="0"/>
              <a:t>Database Overview</a:t>
            </a:r>
          </a:p>
        </p:txBody>
      </p:sp>
      <p:sp>
        <p:nvSpPr>
          <p:cNvPr id="5" name="Content Placeholder 4">
            <a:extLst>
              <a:ext uri="{FF2B5EF4-FFF2-40B4-BE49-F238E27FC236}">
                <a16:creationId xmlns:a16="http://schemas.microsoft.com/office/drawing/2014/main" id="{0B124961-3A94-4E48-13DE-A28766470C1F}"/>
              </a:ext>
            </a:extLst>
          </p:cNvPr>
          <p:cNvSpPr>
            <a:spLocks noGrp="1"/>
          </p:cNvSpPr>
          <p:nvPr>
            <p:ph idx="1"/>
          </p:nvPr>
        </p:nvSpPr>
        <p:spPr>
          <a:xfrm>
            <a:off x="442453" y="1514169"/>
            <a:ext cx="7207430" cy="4283008"/>
          </a:xfrm>
        </p:spPr>
        <p:txBody>
          <a:bodyPr vert="horz" lIns="91440" tIns="45720" rIns="91440" bIns="45720" rtlCol="0">
            <a:normAutofit fontScale="92500" lnSpcReduction="20000"/>
          </a:bodyPr>
          <a:lstStyle/>
          <a:p>
            <a:r>
              <a:rPr lang="en-IN" sz="3200" baseline="-25000" dirty="0">
                <a:solidFill>
                  <a:srgbClr val="000000"/>
                </a:solidFill>
                <a:latin typeface="Times New Roman" panose="02020603050405020304" pitchFamily="18" charset="0"/>
                <a:cs typeface="Times New Roman" panose="02020603050405020304" pitchFamily="18" charset="0"/>
              </a:rPr>
              <a:t>The Enrollment Manager System uses a Python-based in-memory database structure to manage student admissions efficiently</a:t>
            </a:r>
          </a:p>
          <a:p>
            <a:r>
              <a:rPr lang="en-IN" sz="3200" baseline="-25000" dirty="0">
                <a:solidFill>
                  <a:srgbClr val="000000"/>
                </a:solidFill>
                <a:latin typeface="Times New Roman" panose="02020603050405020304" pitchFamily="18" charset="0"/>
                <a:cs typeface="Times New Roman" panose="02020603050405020304" pitchFamily="18" charset="0"/>
              </a:rPr>
              <a:t>Data is organized using Python classes and objects, simulating real-world database tables</a:t>
            </a:r>
          </a:p>
          <a:p>
            <a:r>
              <a:rPr lang="en-IN" sz="3200" baseline="-25000" dirty="0">
                <a:solidFill>
                  <a:srgbClr val="000000"/>
                </a:solidFill>
                <a:latin typeface="Times New Roman" panose="02020603050405020304" pitchFamily="18" charset="0"/>
                <a:cs typeface="Times New Roman" panose="02020603050405020304" pitchFamily="18" charset="0"/>
              </a:rPr>
              <a:t>The system maintains student admission records, course details, fee status, and enrollment history</a:t>
            </a:r>
          </a:p>
          <a:p>
            <a:r>
              <a:rPr lang="en-IN" sz="3200" baseline="-25000" dirty="0">
                <a:solidFill>
                  <a:srgbClr val="000000"/>
                </a:solidFill>
                <a:latin typeface="Times New Roman" panose="02020603050405020304" pitchFamily="18" charset="0"/>
                <a:cs typeface="Times New Roman" panose="02020603050405020304" pitchFamily="18" charset="0"/>
              </a:rPr>
              <a:t>Each student record includes personal details such as roll number, name, age, mobile number, and email</a:t>
            </a:r>
          </a:p>
          <a:p>
            <a:r>
              <a:rPr lang="en-IN" sz="3200" baseline="-25000" dirty="0">
                <a:solidFill>
                  <a:srgbClr val="000000"/>
                </a:solidFill>
                <a:latin typeface="Times New Roman" panose="02020603050405020304" pitchFamily="18" charset="0"/>
                <a:cs typeface="Times New Roman" panose="02020603050405020304" pitchFamily="18" charset="0"/>
              </a:rPr>
              <a:t>Enrollment data tracks courses assigned, teachers, fees paid, total fees, and course status</a:t>
            </a:r>
          </a:p>
          <a:p>
            <a:r>
              <a:rPr lang="en-IN" sz="3200" baseline="-25000" dirty="0">
                <a:solidFill>
                  <a:srgbClr val="000000"/>
                </a:solidFill>
                <a:latin typeface="Times New Roman" panose="02020603050405020304" pitchFamily="18" charset="0"/>
                <a:cs typeface="Times New Roman" panose="02020603050405020304" pitchFamily="18" charset="0"/>
              </a:rPr>
              <a:t>Admission status is dynamically updated as Enquiry, Pending, or Enrolled based on fee confirmation</a:t>
            </a:r>
          </a:p>
        </p:txBody>
      </p:sp>
      <p:pic>
        <p:nvPicPr>
          <p:cNvPr id="3" name="Picture 2">
            <a:extLst>
              <a:ext uri="{FF2B5EF4-FFF2-40B4-BE49-F238E27FC236}">
                <a16:creationId xmlns:a16="http://schemas.microsoft.com/office/drawing/2014/main" id="{BB55CBB4-3F12-06C8-0665-32B7F2D249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1808" y="1142270"/>
            <a:ext cx="4574609" cy="5026805"/>
          </a:xfrm>
          <a:prstGeom prst="rect">
            <a:avLst/>
          </a:prstGeom>
        </p:spPr>
      </p:pic>
    </p:spTree>
    <p:extLst>
      <p:ext uri="{BB962C8B-B14F-4D97-AF65-F5344CB8AC3E}">
        <p14:creationId xmlns:p14="http://schemas.microsoft.com/office/powerpoint/2010/main" val="865954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EA5E02B-068F-1BE3-8E90-C5ACB37ED3D5}"/>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800" dirty="0">
                <a:solidFill>
                  <a:srgbClr val="92D050"/>
                </a:solidFill>
              </a:rPr>
              <a:t>Contd..</a:t>
            </a:r>
            <a:r>
              <a:rPr lang="en-US" sz="4800" dirty="0">
                <a:solidFill>
                  <a:srgbClr val="92D050"/>
                </a:solidFill>
              </a:rPr>
              <a:t>Database Overview</a:t>
            </a:r>
          </a:p>
        </p:txBody>
      </p:sp>
      <p:sp>
        <p:nvSpPr>
          <p:cNvPr id="3" name="Content Placeholder 2">
            <a:extLst>
              <a:ext uri="{FF2B5EF4-FFF2-40B4-BE49-F238E27FC236}">
                <a16:creationId xmlns:a16="http://schemas.microsoft.com/office/drawing/2014/main" id="{83307929-3600-9D77-753D-7A643C74097F}"/>
              </a:ext>
            </a:extLst>
          </p:cNvPr>
          <p:cNvSpPr>
            <a:spLocks noGrp="1"/>
          </p:cNvSpPr>
          <p:nvPr>
            <p:ph idx="1"/>
          </p:nvPr>
        </p:nvSpPr>
        <p:spPr>
          <a:xfrm>
            <a:off x="631209" y="1884826"/>
            <a:ext cx="10515600" cy="4351338"/>
          </a:xfrm>
        </p:spPr>
        <p:txBody>
          <a:bodyPr vert="horz" lIns="91440" tIns="45720" rIns="91440" bIns="45720" rtlCol="0">
            <a:normAutofit/>
          </a:bodyPr>
          <a:lstStyle/>
          <a:p>
            <a:r>
              <a:rPr lang="en-IN" sz="3200" baseline="-25000" dirty="0">
                <a:solidFill>
                  <a:srgbClr val="000000"/>
                </a:solidFill>
                <a:latin typeface="Times New Roman" panose="02020603050405020304" pitchFamily="18" charset="0"/>
                <a:cs typeface="Times New Roman" panose="02020603050405020304" pitchFamily="18" charset="0"/>
              </a:rPr>
              <a:t>Enrollment dates are automatically generated to simulate real admission timelines
The system supports CRUD operations (Create, Read, Update, Delete) for admission records
Multiple views are provided to Analyse confirmed admissions, pending fees, and enquiry students
The structure is designed to be scalable, allowing future integration with files or databases like SQLite
AI integration (Groq) enables intelligent analysis and insights from enrolment data</a:t>
            </a:r>
            <a:endParaRPr lang="en-US" sz="3200" baseline="-250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4874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CC33AADF-8C9F-F33E-284E-5A0486FAE548}"/>
              </a:ext>
            </a:extLst>
          </p:cNvPr>
          <p:cNvSpPr>
            <a:spLocks noGrp="1"/>
          </p:cNvSpPr>
          <p:nvPr>
            <p:ph type="title"/>
          </p:nvPr>
        </p:nvSpPr>
        <p:spPr/>
        <p:txBody>
          <a:bodyPr/>
          <a:lstStyle/>
          <a:p>
            <a:r>
              <a:rPr lang="en-IN" dirty="0"/>
              <a:t>Add / update Admission:</a:t>
            </a:r>
            <a:endParaRPr lang="en-US" dirty="0"/>
          </a:p>
        </p:txBody>
      </p:sp>
      <p:sp>
        <p:nvSpPr>
          <p:cNvPr id="15" name="TextBox 14">
            <a:extLst>
              <a:ext uri="{FF2B5EF4-FFF2-40B4-BE49-F238E27FC236}">
                <a16:creationId xmlns:a16="http://schemas.microsoft.com/office/drawing/2014/main" id="{80B50A21-4B8F-9096-14FF-C26C6A788416}"/>
              </a:ext>
            </a:extLst>
          </p:cNvPr>
          <p:cNvSpPr txBox="1"/>
          <p:nvPr/>
        </p:nvSpPr>
        <p:spPr>
          <a:xfrm>
            <a:off x="363940" y="1699567"/>
            <a:ext cx="4994641" cy="2380819"/>
          </a:xfrm>
          <a:prstGeom prst="rect">
            <a:avLst/>
          </a:prstGeom>
          <a:noFill/>
        </p:spPr>
        <p:txBody>
          <a:bodyPr wrap="square">
            <a:spAutoFit/>
          </a:bodyPr>
          <a:lstStyle/>
          <a:p>
            <a:pPr marL="285750" indent="-285750">
              <a:buFont typeface="Arial" panose="020B0604020202020204" pitchFamily="34" charset="0"/>
              <a:buChar char="•"/>
            </a:pPr>
            <a:r>
              <a:rPr lang="en-US" dirty="0"/>
              <a:t> </a:t>
            </a:r>
            <a:r>
              <a:rPr lang="en-US" b="1" dirty="0"/>
              <a:t>Add / Update Admission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The system captures complete student details including personal info, course selection, teacher assignment, and fees. </a:t>
            </a:r>
          </a:p>
          <a:p>
            <a:endParaRPr lang="en-IN" dirty="0"/>
          </a:p>
          <a:p>
            <a:pPr marL="285750" indent="-285750">
              <a:buFont typeface="Arial" panose="020B0604020202020204" pitchFamily="34" charset="0"/>
              <a:buChar char="•"/>
            </a:pPr>
            <a:r>
              <a:rPr lang="en-US" dirty="0"/>
              <a:t>It simplifies the admission process by saving structured data with instant confirmation.</a:t>
            </a:r>
          </a:p>
        </p:txBody>
      </p:sp>
      <p:sp>
        <p:nvSpPr>
          <p:cNvPr id="3" name="TextBox 2">
            <a:extLst>
              <a:ext uri="{FF2B5EF4-FFF2-40B4-BE49-F238E27FC236}">
                <a16:creationId xmlns:a16="http://schemas.microsoft.com/office/drawing/2014/main" id="{9034E927-6E3A-60F4-262E-F4CF204CA37C}"/>
              </a:ext>
            </a:extLst>
          </p:cNvPr>
          <p:cNvSpPr txBox="1"/>
          <p:nvPr/>
        </p:nvSpPr>
        <p:spPr>
          <a:xfrm>
            <a:off x="677334" y="4178710"/>
            <a:ext cx="5890614" cy="921976"/>
          </a:xfrm>
          <a:prstGeom prst="rect">
            <a:avLst/>
          </a:prstGeom>
          <a:noFill/>
        </p:spPr>
        <p:txBody>
          <a:bodyPr wrap="square">
            <a:spAutoFit/>
          </a:bodyPr>
          <a:lstStyle/>
          <a:p>
            <a:pPr marL="285750" indent="-285750">
              <a:buFont typeface="Arial" panose="020B0604020202020204" pitchFamily="34" charset="0"/>
              <a:buChar char="•"/>
            </a:pPr>
            <a:r>
              <a:rPr lang="en-US" dirty="0"/>
              <a:t>Python Concepts Used:</a:t>
            </a:r>
            <a:r>
              <a:rPr lang="en-IN" dirty="0"/>
              <a:t>   </a:t>
            </a:r>
            <a:r>
              <a:rPr lang="en-US" dirty="0"/>
              <a:t> </a:t>
            </a:r>
            <a:r>
              <a:rPr lang="en-US" dirty="0">
                <a:solidFill>
                  <a:schemeClr val="tx2">
                    <a:lumMod val="40000"/>
                    <a:lumOff val="60000"/>
                  </a:schemeClr>
                </a:solidFill>
              </a:rPr>
              <a:t>Constructor (__init__)</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t>The constructor initializes student details when a new admission object is created.</a:t>
            </a:r>
          </a:p>
        </p:txBody>
      </p:sp>
      <p:sp>
        <p:nvSpPr>
          <p:cNvPr id="7" name="TextBox 6">
            <a:extLst>
              <a:ext uri="{FF2B5EF4-FFF2-40B4-BE49-F238E27FC236}">
                <a16:creationId xmlns:a16="http://schemas.microsoft.com/office/drawing/2014/main" id="{83CF001A-FFA7-8154-6752-E0598E79E569}"/>
              </a:ext>
            </a:extLst>
          </p:cNvPr>
          <p:cNvSpPr txBox="1"/>
          <p:nvPr/>
        </p:nvSpPr>
        <p:spPr>
          <a:xfrm>
            <a:off x="1130709" y="5158432"/>
            <a:ext cx="6474037" cy="1477328"/>
          </a:xfrm>
          <a:prstGeom prst="rect">
            <a:avLst/>
          </a:prstGeom>
          <a:noFill/>
        </p:spPr>
        <p:txBody>
          <a:bodyPr wrap="square">
            <a:spAutoFit/>
          </a:bodyPr>
          <a:lstStyle/>
          <a:p>
            <a:pPr marL="285750" indent="-285750">
              <a:buFont typeface="Arial" panose="020B0604020202020204" pitchFamily="34" charset="0"/>
              <a:buChar char="•"/>
            </a:pPr>
            <a:r>
              <a:rPr lang="en-US" dirty="0"/>
              <a:t>Python Concepts Used:</a:t>
            </a:r>
            <a:endParaRPr lang="en-IN" dirty="0"/>
          </a:p>
          <a:p>
            <a:pPr marL="285750" indent="-285750">
              <a:buFont typeface="Arial" panose="020B0604020202020204" pitchFamily="34" charset="0"/>
              <a:buChar char="•"/>
            </a:pPr>
            <a:r>
              <a:rPr lang="en-US" dirty="0"/>
              <a:t> </a:t>
            </a:r>
            <a:r>
              <a:rPr lang="en-US" dirty="0">
                <a:solidFill>
                  <a:schemeClr val="tx2">
                    <a:lumMod val="40000"/>
                    <a:lumOff val="60000"/>
                  </a:schemeClr>
                </a:solidFill>
              </a:rPr>
              <a:t>Input &amp; Output Conditional Statements</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solidFill>
                  <a:schemeClr val="tx2">
                    <a:lumMod val="40000"/>
                    <a:lumOff val="60000"/>
                  </a:schemeClr>
                </a:solidFill>
              </a:rPr>
              <a:t> Functions</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t> Python functions capture user input and conditionally add or update admission records.</a:t>
            </a:r>
          </a:p>
        </p:txBody>
      </p:sp>
      <p:pic>
        <p:nvPicPr>
          <p:cNvPr id="18" name="Content Placeholder 17">
            <a:extLst>
              <a:ext uri="{FF2B5EF4-FFF2-40B4-BE49-F238E27FC236}">
                <a16:creationId xmlns:a16="http://schemas.microsoft.com/office/drawing/2014/main" id="{E1914665-16BD-EFCB-900B-47C60D4AB6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06441" y="890322"/>
            <a:ext cx="2985559" cy="5077355"/>
          </a:xfrm>
        </p:spPr>
      </p:pic>
      <p:pic>
        <p:nvPicPr>
          <p:cNvPr id="26" name="Picture 25">
            <a:extLst>
              <a:ext uri="{FF2B5EF4-FFF2-40B4-BE49-F238E27FC236}">
                <a16:creationId xmlns:a16="http://schemas.microsoft.com/office/drawing/2014/main" id="{11530973-DF9F-8A4F-DE23-0985CCAC7487}"/>
              </a:ext>
            </a:extLst>
          </p:cNvPr>
          <p:cNvPicPr>
            <a:picLocks noChangeAspect="1"/>
          </p:cNvPicPr>
          <p:nvPr/>
        </p:nvPicPr>
        <p:blipFill>
          <a:blip r:embed="rId3"/>
          <a:stretch>
            <a:fillRect/>
          </a:stretch>
        </p:blipFill>
        <p:spPr>
          <a:xfrm>
            <a:off x="5671975" y="1369140"/>
            <a:ext cx="3391373" cy="2391109"/>
          </a:xfrm>
          <a:prstGeom prst="rect">
            <a:avLst/>
          </a:prstGeom>
        </p:spPr>
      </p:pic>
    </p:spTree>
    <p:extLst>
      <p:ext uri="{BB962C8B-B14F-4D97-AF65-F5344CB8AC3E}">
        <p14:creationId xmlns:p14="http://schemas.microsoft.com/office/powerpoint/2010/main" val="201842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83F57-22FA-F48A-08E9-63989A3834D9}"/>
              </a:ext>
            </a:extLst>
          </p:cNvPr>
          <p:cNvSpPr>
            <a:spLocks noGrp="1"/>
          </p:cNvSpPr>
          <p:nvPr>
            <p:ph type="title"/>
          </p:nvPr>
        </p:nvSpPr>
        <p:spPr>
          <a:xfrm>
            <a:off x="1045028" y="776087"/>
            <a:ext cx="9942716" cy="1554480"/>
          </a:xfrm>
        </p:spPr>
        <p:txBody>
          <a:bodyPr anchor="ctr">
            <a:normAutofit/>
          </a:bodyPr>
          <a:lstStyle/>
          <a:p>
            <a:r>
              <a:rPr lang="en-IN" sz="4800" dirty="0"/>
              <a:t>Update fees:</a:t>
            </a:r>
            <a:endParaRPr lang="en-US" sz="4800" dirty="0"/>
          </a:p>
        </p:txBody>
      </p:sp>
      <p:sp>
        <p:nvSpPr>
          <p:cNvPr id="6" name="Content Placeholder 5">
            <a:extLst>
              <a:ext uri="{FF2B5EF4-FFF2-40B4-BE49-F238E27FC236}">
                <a16:creationId xmlns:a16="http://schemas.microsoft.com/office/drawing/2014/main" id="{5FA769BB-C28D-CEE6-3B40-0C3F97E24338}"/>
              </a:ext>
            </a:extLst>
          </p:cNvPr>
          <p:cNvSpPr>
            <a:spLocks noGrp="1"/>
          </p:cNvSpPr>
          <p:nvPr>
            <p:ph idx="1"/>
          </p:nvPr>
        </p:nvSpPr>
        <p:spPr>
          <a:xfrm>
            <a:off x="816077" y="2123769"/>
            <a:ext cx="4503175" cy="1882567"/>
          </a:xfrm>
          <a:noFill/>
        </p:spPr>
        <p:txBody>
          <a:bodyPr wrap="square">
            <a:spAutoFit/>
          </a:bodyPr>
          <a:lstStyle/>
          <a:p>
            <a:r>
              <a:rPr lang="en-US" sz="1800" dirty="0"/>
              <a:t> The fee update module allows incremental payment tracking against the total course fee.</a:t>
            </a:r>
            <a:endParaRPr lang="en-IN" sz="1800" dirty="0"/>
          </a:p>
          <a:p>
            <a:pPr marL="285750" indent="-285750"/>
            <a:r>
              <a:rPr lang="en-US" sz="1800" dirty="0"/>
              <a:t> It ensures real-time fee balance updates and confirms successful transactions instantly.</a:t>
            </a:r>
          </a:p>
        </p:txBody>
      </p:sp>
      <p:pic>
        <p:nvPicPr>
          <p:cNvPr id="4" name="Picture 3">
            <a:extLst>
              <a:ext uri="{FF2B5EF4-FFF2-40B4-BE49-F238E27FC236}">
                <a16:creationId xmlns:a16="http://schemas.microsoft.com/office/drawing/2014/main" id="{F77C1A53-2AD8-2303-A468-2F9FE5FD39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5033" y="614051"/>
            <a:ext cx="6256967" cy="5629898"/>
          </a:xfrm>
          <a:prstGeom prst="rect">
            <a:avLst/>
          </a:prstGeom>
        </p:spPr>
      </p:pic>
      <p:sp>
        <p:nvSpPr>
          <p:cNvPr id="5" name="TextBox 4">
            <a:extLst>
              <a:ext uri="{FF2B5EF4-FFF2-40B4-BE49-F238E27FC236}">
                <a16:creationId xmlns:a16="http://schemas.microsoft.com/office/drawing/2014/main" id="{E7E93593-24BF-1BDF-7B55-7FD8CB548B23}"/>
              </a:ext>
            </a:extLst>
          </p:cNvPr>
          <p:cNvSpPr txBox="1"/>
          <p:nvPr/>
        </p:nvSpPr>
        <p:spPr>
          <a:xfrm>
            <a:off x="816076" y="4065769"/>
            <a:ext cx="4765947" cy="1754326"/>
          </a:xfrm>
          <a:prstGeom prst="rect">
            <a:avLst/>
          </a:prstGeom>
          <a:noFill/>
        </p:spPr>
        <p:txBody>
          <a:bodyPr wrap="square">
            <a:spAutoFit/>
          </a:bodyPr>
          <a:lstStyle/>
          <a:p>
            <a:pPr marL="285750" indent="-285750">
              <a:buFont typeface="Arial" panose="020B0604020202020204" pitchFamily="34" charset="0"/>
              <a:buChar char="•"/>
            </a:pPr>
            <a:r>
              <a:rPr lang="en-US" dirty="0"/>
              <a:t>Python Concepts Used:</a:t>
            </a:r>
            <a:endParaRPr lang="en-IN" dirty="0"/>
          </a:p>
          <a:p>
            <a:pPr marL="285750" indent="-285750">
              <a:buFont typeface="Arial" panose="020B0604020202020204" pitchFamily="34" charset="0"/>
              <a:buChar char="•"/>
            </a:pPr>
            <a:r>
              <a:rPr lang="en-US" dirty="0"/>
              <a:t> </a:t>
            </a:r>
            <a:r>
              <a:rPr lang="en-US" dirty="0">
                <a:solidFill>
                  <a:schemeClr val="tx2">
                    <a:lumMod val="40000"/>
                    <a:lumOff val="60000"/>
                  </a:schemeClr>
                </a:solidFill>
              </a:rPr>
              <a:t>Conditional Logic </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solidFill>
                  <a:schemeClr val="tx2">
                    <a:lumMod val="40000"/>
                    <a:lumOff val="60000"/>
                  </a:schemeClr>
                </a:solidFill>
              </a:rPr>
              <a:t>Arithmetic Operations </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t>Fee payments are updated using conditions to confirm enrollment automatically.</a:t>
            </a:r>
          </a:p>
        </p:txBody>
      </p:sp>
    </p:spTree>
    <p:extLst>
      <p:ext uri="{BB962C8B-B14F-4D97-AF65-F5344CB8AC3E}">
        <p14:creationId xmlns:p14="http://schemas.microsoft.com/office/powerpoint/2010/main" val="3837887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C22D18-8C96-4B39-A77C-886E2DC2A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2748" y="851941"/>
            <a:ext cx="5078596" cy="5396459"/>
          </a:xfrm>
          <a:prstGeom prst="rect">
            <a:avLst/>
          </a:prstGeom>
        </p:spPr>
      </p:pic>
      <p:sp>
        <p:nvSpPr>
          <p:cNvPr id="18" name="Title 17">
            <a:extLst>
              <a:ext uri="{FF2B5EF4-FFF2-40B4-BE49-F238E27FC236}">
                <a16:creationId xmlns:a16="http://schemas.microsoft.com/office/drawing/2014/main" id="{26BD8F78-90F2-D31F-1519-E36D1C12C3BD}"/>
              </a:ext>
            </a:extLst>
          </p:cNvPr>
          <p:cNvSpPr>
            <a:spLocks noGrp="1"/>
          </p:cNvSpPr>
          <p:nvPr>
            <p:ph type="title"/>
          </p:nvPr>
        </p:nvSpPr>
        <p:spPr/>
        <p:txBody>
          <a:bodyPr/>
          <a:lstStyle/>
          <a:p>
            <a:r>
              <a:rPr lang="en-IN" dirty="0"/>
              <a:t>Delete Admission:</a:t>
            </a:r>
            <a:endParaRPr lang="en-US" dirty="0"/>
          </a:p>
        </p:txBody>
      </p:sp>
      <p:sp>
        <p:nvSpPr>
          <p:cNvPr id="14" name="Content Placeholder 13">
            <a:extLst>
              <a:ext uri="{FF2B5EF4-FFF2-40B4-BE49-F238E27FC236}">
                <a16:creationId xmlns:a16="http://schemas.microsoft.com/office/drawing/2014/main" id="{DF2BA417-9953-8912-F988-4C67BB274BEB}"/>
              </a:ext>
            </a:extLst>
          </p:cNvPr>
          <p:cNvSpPr>
            <a:spLocks noGrp="1"/>
          </p:cNvSpPr>
          <p:nvPr>
            <p:ph idx="1"/>
          </p:nvPr>
        </p:nvSpPr>
        <p:spPr>
          <a:xfrm>
            <a:off x="879752" y="1641987"/>
            <a:ext cx="5078596" cy="1882567"/>
          </a:xfrm>
          <a:noFill/>
        </p:spPr>
        <p:txBody>
          <a:bodyPr wrap="square">
            <a:spAutoFit/>
          </a:bodyPr>
          <a:lstStyle/>
          <a:p>
            <a:pPr marL="285750" indent="-285750"/>
            <a:r>
              <a:rPr lang="en-US" sz="1800" dirty="0"/>
              <a:t>The system successfully deleted the admission record with Roll No. 74 from the database. </a:t>
            </a:r>
            <a:endParaRPr lang="en-IN" sz="1800" dirty="0"/>
          </a:p>
          <a:p>
            <a:pPr marL="285750" indent="-285750"/>
            <a:r>
              <a:rPr lang="en-US" sz="1800" dirty="0"/>
              <a:t>This confirms effective record management and helps maintain accurate and up-to-date admission data.</a:t>
            </a:r>
          </a:p>
        </p:txBody>
      </p:sp>
      <p:sp>
        <p:nvSpPr>
          <p:cNvPr id="3" name="TextBox 2">
            <a:extLst>
              <a:ext uri="{FF2B5EF4-FFF2-40B4-BE49-F238E27FC236}">
                <a16:creationId xmlns:a16="http://schemas.microsoft.com/office/drawing/2014/main" id="{AB99C0F2-4EA8-929B-FD89-263E987D344B}"/>
              </a:ext>
            </a:extLst>
          </p:cNvPr>
          <p:cNvSpPr txBox="1"/>
          <p:nvPr/>
        </p:nvSpPr>
        <p:spPr>
          <a:xfrm rot="10800000" flipH="1" flipV="1">
            <a:off x="1033733" y="3514067"/>
            <a:ext cx="5062267" cy="1477328"/>
          </a:xfrm>
          <a:prstGeom prst="rect">
            <a:avLst/>
          </a:prstGeom>
          <a:noFill/>
        </p:spPr>
        <p:txBody>
          <a:bodyPr wrap="square">
            <a:spAutoFit/>
          </a:bodyPr>
          <a:lstStyle/>
          <a:p>
            <a:pPr marL="285750" indent="-285750">
              <a:buFont typeface="Arial" panose="020B0604020202020204" pitchFamily="34" charset="0"/>
              <a:buChar char="•"/>
            </a:pPr>
            <a:r>
              <a:rPr lang="en-US" dirty="0"/>
              <a:t>Python Concepts Used:</a:t>
            </a:r>
            <a:endParaRPr lang="en-IN" dirty="0"/>
          </a:p>
          <a:p>
            <a:pPr marL="285750" indent="-285750">
              <a:buFont typeface="Arial" panose="020B0604020202020204" pitchFamily="34" charset="0"/>
              <a:buChar char="•"/>
            </a:pPr>
            <a:r>
              <a:rPr lang="en-US" dirty="0"/>
              <a:t> </a:t>
            </a:r>
            <a:r>
              <a:rPr lang="en-US" dirty="0">
                <a:solidFill>
                  <a:schemeClr val="tx2">
                    <a:lumMod val="40000"/>
                    <a:lumOff val="60000"/>
                  </a:schemeClr>
                </a:solidFill>
              </a:rPr>
              <a:t>Conditional Statements</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solidFill>
                  <a:schemeClr val="tx2">
                    <a:lumMod val="40000"/>
                    <a:lumOff val="60000"/>
                  </a:schemeClr>
                </a:solidFill>
              </a:rPr>
              <a:t> List Operations</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t>Python removes student objects safely from the data structure.</a:t>
            </a:r>
          </a:p>
        </p:txBody>
      </p:sp>
    </p:spTree>
    <p:extLst>
      <p:ext uri="{BB962C8B-B14F-4D97-AF65-F5344CB8AC3E}">
        <p14:creationId xmlns:p14="http://schemas.microsoft.com/office/powerpoint/2010/main" val="742435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C25B9A5-E7D3-6BD7-7FAB-379477C1308B}"/>
              </a:ext>
            </a:extLst>
          </p:cNvPr>
          <p:cNvSpPr>
            <a:spLocks noGrp="1"/>
          </p:cNvSpPr>
          <p:nvPr>
            <p:ph type="title"/>
          </p:nvPr>
        </p:nvSpPr>
        <p:spPr/>
        <p:txBody>
          <a:bodyPr/>
          <a:lstStyle/>
          <a:p>
            <a:r>
              <a:rPr lang="en-IN" dirty="0"/>
              <a:t>View all Admission Details:</a:t>
            </a:r>
            <a:endParaRPr lang="en-US" dirty="0"/>
          </a:p>
        </p:txBody>
      </p:sp>
      <p:sp>
        <p:nvSpPr>
          <p:cNvPr id="20" name="TextBox 19">
            <a:extLst>
              <a:ext uri="{FF2B5EF4-FFF2-40B4-BE49-F238E27FC236}">
                <a16:creationId xmlns:a16="http://schemas.microsoft.com/office/drawing/2014/main" id="{6491A668-9902-59F1-229A-10402B3970EF}"/>
              </a:ext>
            </a:extLst>
          </p:cNvPr>
          <p:cNvSpPr txBox="1"/>
          <p:nvPr/>
        </p:nvSpPr>
        <p:spPr>
          <a:xfrm>
            <a:off x="894734" y="1700981"/>
            <a:ext cx="4113287" cy="2862322"/>
          </a:xfrm>
          <a:prstGeom prst="rect">
            <a:avLst/>
          </a:prstGeom>
          <a:noFill/>
        </p:spPr>
        <p:txBody>
          <a:bodyPr wrap="square">
            <a:spAutoFit/>
          </a:bodyPr>
          <a:lstStyle/>
          <a:p>
            <a:pPr marL="285750" indent="-285750">
              <a:buFont typeface="Arial" panose="020B0604020202020204" pitchFamily="34" charset="0"/>
              <a:buChar char="•"/>
            </a:pPr>
            <a:r>
              <a:rPr lang="en-US" dirty="0"/>
              <a:t>View All Admissions (Detailed View)</a:t>
            </a:r>
          </a:p>
          <a:p>
            <a:endParaRPr lang="en-IN" dirty="0"/>
          </a:p>
          <a:p>
            <a:pPr marL="285750" indent="-285750">
              <a:buFont typeface="Arial" panose="020B0604020202020204" pitchFamily="34" charset="0"/>
              <a:buChar char="•"/>
            </a:pPr>
            <a:r>
              <a:rPr lang="en-US" dirty="0"/>
              <a:t>The complete admission dataset is displayed with roll number, status, course, teacher, and fee details.</a:t>
            </a:r>
            <a:endParaRPr lang="en-IN" dirty="0"/>
          </a:p>
          <a:p>
            <a:endParaRPr lang="en-IN" dirty="0"/>
          </a:p>
          <a:p>
            <a:pPr marL="285750" indent="-285750">
              <a:buFont typeface="Arial" panose="020B0604020202020204" pitchFamily="34" charset="0"/>
              <a:buChar char="•"/>
            </a:pPr>
            <a:r>
              <a:rPr lang="en-US" dirty="0"/>
              <a:t> It offers a comprehensive operational view of enrolled, pending, and enquiry students in one place.</a:t>
            </a:r>
          </a:p>
        </p:txBody>
      </p:sp>
      <p:sp>
        <p:nvSpPr>
          <p:cNvPr id="3" name="TextBox 2">
            <a:extLst>
              <a:ext uri="{FF2B5EF4-FFF2-40B4-BE49-F238E27FC236}">
                <a16:creationId xmlns:a16="http://schemas.microsoft.com/office/drawing/2014/main" id="{FBB31532-7984-792F-FB68-87F319CBB7EB}"/>
              </a:ext>
            </a:extLst>
          </p:cNvPr>
          <p:cNvSpPr txBox="1"/>
          <p:nvPr/>
        </p:nvSpPr>
        <p:spPr>
          <a:xfrm>
            <a:off x="1053455" y="4556854"/>
            <a:ext cx="4797113" cy="1477328"/>
          </a:xfrm>
          <a:prstGeom prst="rect">
            <a:avLst/>
          </a:prstGeom>
          <a:noFill/>
        </p:spPr>
        <p:txBody>
          <a:bodyPr wrap="square">
            <a:spAutoFit/>
          </a:bodyPr>
          <a:lstStyle/>
          <a:p>
            <a:pPr marL="285750" indent="-285750">
              <a:buFont typeface="Arial" panose="020B0604020202020204" pitchFamily="34" charset="0"/>
              <a:buChar char="•"/>
            </a:pPr>
            <a:r>
              <a:rPr lang="en-US" dirty="0"/>
              <a:t>Python Concepts Used:</a:t>
            </a:r>
            <a:endParaRPr lang="en-IN" dirty="0"/>
          </a:p>
          <a:p>
            <a:pPr marL="285750" indent="-285750">
              <a:buFont typeface="Arial" panose="020B0604020202020204" pitchFamily="34" charset="0"/>
              <a:buChar char="•"/>
            </a:pPr>
            <a:r>
              <a:rPr lang="en-US" dirty="0">
                <a:solidFill>
                  <a:schemeClr val="tx2">
                    <a:lumMod val="40000"/>
                    <a:lumOff val="60000"/>
                  </a:schemeClr>
                </a:solidFill>
              </a:rPr>
              <a:t>Loops</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solidFill>
                  <a:schemeClr val="tx2">
                    <a:lumMod val="40000"/>
                    <a:lumOff val="60000"/>
                  </a:schemeClr>
                </a:solidFill>
              </a:rPr>
              <a:t>Formatted</a:t>
            </a:r>
            <a:r>
              <a:rPr lang="en-IN" dirty="0">
                <a:solidFill>
                  <a:schemeClr val="tx2">
                    <a:lumMod val="40000"/>
                    <a:lumOff val="60000"/>
                  </a:schemeClr>
                </a:solidFill>
              </a:rPr>
              <a:t> output</a:t>
            </a:r>
          </a:p>
          <a:p>
            <a:pPr marL="285750" indent="-285750">
              <a:buFont typeface="Arial" panose="020B0604020202020204" pitchFamily="34" charset="0"/>
              <a:buChar char="•"/>
            </a:pPr>
            <a:r>
              <a:rPr lang="en-US" dirty="0"/>
              <a:t> Loops are used to display complete admission records in a structured format.</a:t>
            </a:r>
          </a:p>
        </p:txBody>
      </p:sp>
      <p:pic>
        <p:nvPicPr>
          <p:cNvPr id="8" name="Content Placeholder 7">
            <a:extLst>
              <a:ext uri="{FF2B5EF4-FFF2-40B4-BE49-F238E27FC236}">
                <a16:creationId xmlns:a16="http://schemas.microsoft.com/office/drawing/2014/main" id="{7385C2A8-B590-2093-63FB-EDDF6F9613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1613" y="1598946"/>
            <a:ext cx="6011162" cy="4191050"/>
          </a:xfrm>
        </p:spPr>
      </p:pic>
    </p:spTree>
    <p:extLst>
      <p:ext uri="{BB962C8B-B14F-4D97-AF65-F5344CB8AC3E}">
        <p14:creationId xmlns:p14="http://schemas.microsoft.com/office/powerpoint/2010/main" val="2437899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0DB09C4E-EEB4-9598-24CD-7F61F768F62D}"/>
              </a:ext>
            </a:extLst>
          </p:cNvPr>
          <p:cNvSpPr>
            <a:spLocks noGrp="1"/>
          </p:cNvSpPr>
          <p:nvPr>
            <p:ph type="title"/>
          </p:nvPr>
        </p:nvSpPr>
        <p:spPr/>
        <p:txBody>
          <a:bodyPr/>
          <a:lstStyle/>
          <a:p>
            <a:r>
              <a:rPr lang="en-IN" dirty="0"/>
              <a:t>Confirmed admission:</a:t>
            </a:r>
            <a:endParaRPr lang="en-US" dirty="0"/>
          </a:p>
        </p:txBody>
      </p:sp>
      <p:pic>
        <p:nvPicPr>
          <p:cNvPr id="18" name="Content Placeholder 17">
            <a:extLst>
              <a:ext uri="{FF2B5EF4-FFF2-40B4-BE49-F238E27FC236}">
                <a16:creationId xmlns:a16="http://schemas.microsoft.com/office/drawing/2014/main" id="{7A9707C2-99AE-1B78-B1FA-58DD5636D0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07405" y="845574"/>
            <a:ext cx="6240161" cy="5586594"/>
          </a:xfrm>
          <a:prstGeom prst="rect">
            <a:avLst/>
          </a:prstGeom>
        </p:spPr>
      </p:pic>
      <p:sp>
        <p:nvSpPr>
          <p:cNvPr id="3" name="TextBox 2">
            <a:extLst>
              <a:ext uri="{FF2B5EF4-FFF2-40B4-BE49-F238E27FC236}">
                <a16:creationId xmlns:a16="http://schemas.microsoft.com/office/drawing/2014/main" id="{5C377428-945D-FC73-6D54-297F3FE39D45}"/>
              </a:ext>
            </a:extLst>
          </p:cNvPr>
          <p:cNvSpPr txBox="1"/>
          <p:nvPr/>
        </p:nvSpPr>
        <p:spPr>
          <a:xfrm>
            <a:off x="677334" y="1270000"/>
            <a:ext cx="4523931" cy="2031325"/>
          </a:xfrm>
          <a:prstGeom prst="rect">
            <a:avLst/>
          </a:prstGeom>
          <a:noFill/>
        </p:spPr>
        <p:txBody>
          <a:bodyPr wrap="square">
            <a:spAutoFit/>
          </a:bodyPr>
          <a:lstStyle/>
          <a:p>
            <a:pPr marL="285750" indent="-285750">
              <a:buFont typeface="Arial" panose="020B0604020202020204" pitchFamily="34" charset="0"/>
              <a:buChar char="•"/>
            </a:pPr>
            <a:r>
              <a:rPr lang="en-US" dirty="0"/>
              <a:t> This screen lists all confirmed students along with their selected course and assigned faculty. </a:t>
            </a:r>
          </a:p>
          <a:p>
            <a:endParaRPr lang="en-IN" dirty="0"/>
          </a:p>
          <a:p>
            <a:pPr marL="285750" indent="-285750">
              <a:buFont typeface="Arial" panose="020B0604020202020204" pitchFamily="34" charset="0"/>
              <a:buChar char="•"/>
            </a:pPr>
            <a:r>
              <a:rPr lang="en-US" dirty="0"/>
              <a:t>It helps management quickly track finalized admissions and instructor allocation.</a:t>
            </a:r>
          </a:p>
        </p:txBody>
      </p:sp>
      <p:sp>
        <p:nvSpPr>
          <p:cNvPr id="4" name="TextBox 3">
            <a:extLst>
              <a:ext uri="{FF2B5EF4-FFF2-40B4-BE49-F238E27FC236}">
                <a16:creationId xmlns:a16="http://schemas.microsoft.com/office/drawing/2014/main" id="{AEB5EAD6-7C05-9255-B7F1-3D0680F6CD3E}"/>
              </a:ext>
            </a:extLst>
          </p:cNvPr>
          <p:cNvSpPr txBox="1"/>
          <p:nvPr/>
        </p:nvSpPr>
        <p:spPr>
          <a:xfrm>
            <a:off x="1004177" y="3429000"/>
            <a:ext cx="3870243" cy="1754326"/>
          </a:xfrm>
          <a:prstGeom prst="rect">
            <a:avLst/>
          </a:prstGeom>
          <a:noFill/>
        </p:spPr>
        <p:txBody>
          <a:bodyPr wrap="square">
            <a:spAutoFit/>
          </a:bodyPr>
          <a:lstStyle/>
          <a:p>
            <a:pPr marL="285750" indent="-285750">
              <a:buFont typeface="Arial" panose="020B0604020202020204" pitchFamily="34" charset="0"/>
              <a:buChar char="•"/>
            </a:pPr>
            <a:r>
              <a:rPr lang="en-US" dirty="0"/>
              <a:t>Python Concepts Used: </a:t>
            </a:r>
            <a:endParaRPr lang="en-IN" dirty="0"/>
          </a:p>
          <a:p>
            <a:pPr marL="285750" indent="-285750">
              <a:buFont typeface="Arial" panose="020B0604020202020204" pitchFamily="34" charset="0"/>
              <a:buChar char="•"/>
            </a:pPr>
            <a:r>
              <a:rPr lang="en-US" dirty="0">
                <a:solidFill>
                  <a:schemeClr val="tx2">
                    <a:lumMod val="40000"/>
                    <a:lumOff val="60000"/>
                  </a:schemeClr>
                </a:solidFill>
              </a:rPr>
              <a:t>Conditional Filtering </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solidFill>
                  <a:schemeClr val="tx2">
                    <a:lumMod val="40000"/>
                    <a:lumOff val="60000"/>
                  </a:schemeClr>
                </a:solidFill>
              </a:rPr>
              <a:t>Data Validation </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t> Python filters and displays only fully paid and confirmed admissions.</a:t>
            </a:r>
          </a:p>
        </p:txBody>
      </p:sp>
    </p:spTree>
    <p:extLst>
      <p:ext uri="{BB962C8B-B14F-4D97-AF65-F5344CB8AC3E}">
        <p14:creationId xmlns:p14="http://schemas.microsoft.com/office/powerpoint/2010/main" val="1962727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1470D8A-5B51-5BB6-E4F3-EFDE37739A73}"/>
              </a:ext>
            </a:extLst>
          </p:cNvPr>
          <p:cNvSpPr>
            <a:spLocks noGrp="1"/>
          </p:cNvSpPr>
          <p:nvPr>
            <p:ph type="title"/>
          </p:nvPr>
        </p:nvSpPr>
        <p:spPr/>
        <p:txBody>
          <a:bodyPr/>
          <a:lstStyle/>
          <a:p>
            <a:r>
              <a:rPr lang="en-IN" dirty="0"/>
              <a:t>Fees analysis :</a:t>
            </a:r>
            <a:endParaRPr lang="en-US" dirty="0"/>
          </a:p>
        </p:txBody>
      </p:sp>
      <p:pic>
        <p:nvPicPr>
          <p:cNvPr id="16" name="Picture 15">
            <a:extLst>
              <a:ext uri="{FF2B5EF4-FFF2-40B4-BE49-F238E27FC236}">
                <a16:creationId xmlns:a16="http://schemas.microsoft.com/office/drawing/2014/main" id="{F37CDC5C-A8D6-E990-BF47-C0FBEE5102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0812" y="363794"/>
            <a:ext cx="5453141" cy="6040685"/>
          </a:xfrm>
          <a:prstGeom prst="rect">
            <a:avLst/>
          </a:prstGeom>
        </p:spPr>
      </p:pic>
      <p:sp>
        <p:nvSpPr>
          <p:cNvPr id="3" name="TextBox 2">
            <a:extLst>
              <a:ext uri="{FF2B5EF4-FFF2-40B4-BE49-F238E27FC236}">
                <a16:creationId xmlns:a16="http://schemas.microsoft.com/office/drawing/2014/main" id="{9E393419-34EE-D4B3-795B-FCB999677B31}"/>
              </a:ext>
            </a:extLst>
          </p:cNvPr>
          <p:cNvSpPr txBox="1"/>
          <p:nvPr/>
        </p:nvSpPr>
        <p:spPr>
          <a:xfrm>
            <a:off x="677334" y="1622323"/>
            <a:ext cx="4435440" cy="2031325"/>
          </a:xfrm>
          <a:prstGeom prst="rect">
            <a:avLst/>
          </a:prstGeom>
          <a:noFill/>
        </p:spPr>
        <p:txBody>
          <a:bodyPr wrap="square">
            <a:spAutoFit/>
          </a:bodyPr>
          <a:lstStyle/>
          <a:p>
            <a:pPr marL="285750" indent="-285750">
              <a:buFont typeface="Arial" panose="020B0604020202020204" pitchFamily="34" charset="0"/>
              <a:buChar char="•"/>
            </a:pPr>
            <a:r>
              <a:rPr lang="en-US" dirty="0"/>
              <a:t>This module summarizes total fees collected and outstanding pending amounts.</a:t>
            </a:r>
          </a:p>
          <a:p>
            <a:endParaRPr lang="en-IN" dirty="0"/>
          </a:p>
          <a:p>
            <a:pPr marL="285750" indent="-285750">
              <a:buFont typeface="Arial" panose="020B0604020202020204" pitchFamily="34" charset="0"/>
              <a:buChar char="•"/>
            </a:pPr>
            <a:r>
              <a:rPr lang="en-US" dirty="0"/>
              <a:t> It provides a quick financial overview to support revenue tracking and follow-ups.</a:t>
            </a:r>
          </a:p>
        </p:txBody>
      </p:sp>
      <p:sp>
        <p:nvSpPr>
          <p:cNvPr id="4" name="TextBox 3">
            <a:extLst>
              <a:ext uri="{FF2B5EF4-FFF2-40B4-BE49-F238E27FC236}">
                <a16:creationId xmlns:a16="http://schemas.microsoft.com/office/drawing/2014/main" id="{1CAAB129-B35E-C0FB-9BC4-8F6E253047BB}"/>
              </a:ext>
            </a:extLst>
          </p:cNvPr>
          <p:cNvSpPr txBox="1"/>
          <p:nvPr/>
        </p:nvSpPr>
        <p:spPr>
          <a:xfrm>
            <a:off x="677334" y="3758349"/>
            <a:ext cx="4656217" cy="1477328"/>
          </a:xfrm>
          <a:prstGeom prst="rect">
            <a:avLst/>
          </a:prstGeom>
          <a:noFill/>
        </p:spPr>
        <p:txBody>
          <a:bodyPr wrap="square">
            <a:spAutoFit/>
          </a:bodyPr>
          <a:lstStyle/>
          <a:p>
            <a:pPr marL="285750" indent="-285750">
              <a:buFont typeface="Arial" panose="020B0604020202020204" pitchFamily="34" charset="0"/>
              <a:buChar char="•"/>
            </a:pPr>
            <a:r>
              <a:rPr lang="en-US" dirty="0"/>
              <a:t>Python Concepts Used:</a:t>
            </a:r>
            <a:endParaRPr lang="en-IN" dirty="0"/>
          </a:p>
          <a:p>
            <a:pPr marL="285750" indent="-285750">
              <a:buFont typeface="Arial" panose="020B0604020202020204" pitchFamily="34" charset="0"/>
              <a:buChar char="•"/>
            </a:pPr>
            <a:r>
              <a:rPr lang="en-US" dirty="0">
                <a:solidFill>
                  <a:schemeClr val="tx2">
                    <a:lumMod val="40000"/>
                    <a:lumOff val="60000"/>
                  </a:schemeClr>
                </a:solidFill>
              </a:rPr>
              <a:t>NumPy</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solidFill>
                  <a:schemeClr val="tx2">
                    <a:lumMod val="40000"/>
                    <a:lumOff val="60000"/>
                  </a:schemeClr>
                </a:solidFill>
              </a:rPr>
              <a:t>Numerical Computation </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t>NumPy calculates total collected fees and pending amounts efficiently.</a:t>
            </a:r>
          </a:p>
        </p:txBody>
      </p:sp>
    </p:spTree>
    <p:extLst>
      <p:ext uri="{BB962C8B-B14F-4D97-AF65-F5344CB8AC3E}">
        <p14:creationId xmlns:p14="http://schemas.microsoft.com/office/powerpoint/2010/main" val="1352579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49ED1F7A-05FF-D87A-32AC-0DC53EE460CB}"/>
              </a:ext>
            </a:extLst>
          </p:cNvPr>
          <p:cNvSpPr>
            <a:spLocks noGrp="1"/>
          </p:cNvSpPr>
          <p:nvPr>
            <p:ph type="title"/>
          </p:nvPr>
        </p:nvSpPr>
        <p:spPr/>
        <p:txBody>
          <a:bodyPr/>
          <a:lstStyle/>
          <a:p>
            <a:r>
              <a:rPr lang="en-IN" dirty="0"/>
              <a:t>Export CSV file:</a:t>
            </a:r>
            <a:endParaRPr lang="en-US" dirty="0"/>
          </a:p>
        </p:txBody>
      </p:sp>
      <p:pic>
        <p:nvPicPr>
          <p:cNvPr id="16" name="Content Placeholder 15">
            <a:extLst>
              <a:ext uri="{FF2B5EF4-FFF2-40B4-BE49-F238E27FC236}">
                <a16:creationId xmlns:a16="http://schemas.microsoft.com/office/drawing/2014/main" id="{DCAC35AC-4551-8112-16FF-40D282EAFE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97445" y="531864"/>
            <a:ext cx="5025033" cy="6181588"/>
          </a:xfrm>
          <a:prstGeom prst="rect">
            <a:avLst/>
          </a:prstGeom>
        </p:spPr>
      </p:pic>
      <p:sp>
        <p:nvSpPr>
          <p:cNvPr id="3" name="TextBox 2">
            <a:extLst>
              <a:ext uri="{FF2B5EF4-FFF2-40B4-BE49-F238E27FC236}">
                <a16:creationId xmlns:a16="http://schemas.microsoft.com/office/drawing/2014/main" id="{923D5E3B-18EC-F4BB-ACD6-5DB6CF6F0528}"/>
              </a:ext>
            </a:extLst>
          </p:cNvPr>
          <p:cNvSpPr txBox="1"/>
          <p:nvPr/>
        </p:nvSpPr>
        <p:spPr>
          <a:xfrm>
            <a:off x="1012723" y="1930399"/>
            <a:ext cx="4699819" cy="1477328"/>
          </a:xfrm>
          <a:prstGeom prst="rect">
            <a:avLst/>
          </a:prstGeom>
          <a:noFill/>
        </p:spPr>
        <p:txBody>
          <a:bodyPr wrap="square">
            <a:spAutoFit/>
          </a:bodyPr>
          <a:lstStyle/>
          <a:p>
            <a:pPr marL="285750" indent="-285750">
              <a:buFont typeface="Arial" panose="020B0604020202020204" pitchFamily="34" charset="0"/>
              <a:buChar char="•"/>
            </a:pPr>
            <a:r>
              <a:rPr lang="en-US" dirty="0"/>
              <a:t>The system allows exporting admission data into a CSV file for external use.</a:t>
            </a:r>
          </a:p>
          <a:p>
            <a:r>
              <a:rPr lang="en-US" dirty="0"/>
              <a:t> </a:t>
            </a:r>
            <a:endParaRPr lang="en-IN" dirty="0"/>
          </a:p>
          <a:p>
            <a:pPr marL="285750" indent="-285750">
              <a:buFont typeface="Arial" panose="020B0604020202020204" pitchFamily="34" charset="0"/>
              <a:buChar char="•"/>
            </a:pPr>
            <a:r>
              <a:rPr lang="en-US" dirty="0"/>
              <a:t>This enables easy reporting, backup, and data sharing with stakeholders.</a:t>
            </a:r>
          </a:p>
        </p:txBody>
      </p:sp>
      <p:sp>
        <p:nvSpPr>
          <p:cNvPr id="4" name="TextBox 3">
            <a:extLst>
              <a:ext uri="{FF2B5EF4-FFF2-40B4-BE49-F238E27FC236}">
                <a16:creationId xmlns:a16="http://schemas.microsoft.com/office/drawing/2014/main" id="{CDC7F8FE-08B7-B457-FC43-A1FB4B837252}"/>
              </a:ext>
            </a:extLst>
          </p:cNvPr>
          <p:cNvSpPr txBox="1"/>
          <p:nvPr/>
        </p:nvSpPr>
        <p:spPr>
          <a:xfrm>
            <a:off x="1329764" y="3619670"/>
            <a:ext cx="4766236" cy="1754326"/>
          </a:xfrm>
          <a:prstGeom prst="rect">
            <a:avLst/>
          </a:prstGeom>
          <a:noFill/>
        </p:spPr>
        <p:txBody>
          <a:bodyPr wrap="square">
            <a:spAutoFit/>
          </a:bodyPr>
          <a:lstStyle/>
          <a:p>
            <a:pPr marL="285750" indent="-285750">
              <a:buFont typeface="Arial" panose="020B0604020202020204" pitchFamily="34" charset="0"/>
              <a:buChar char="•"/>
            </a:pPr>
            <a:r>
              <a:rPr lang="en-US" dirty="0"/>
              <a:t>Python Concepts Used: </a:t>
            </a:r>
            <a:endParaRPr lang="en-IN" dirty="0"/>
          </a:p>
          <a:p>
            <a:pPr marL="285750" indent="-285750">
              <a:buFont typeface="Arial" panose="020B0604020202020204" pitchFamily="34" charset="0"/>
              <a:buChar char="•"/>
            </a:pPr>
            <a:r>
              <a:rPr lang="en-US" dirty="0">
                <a:solidFill>
                  <a:schemeClr val="tx2">
                    <a:lumMod val="40000"/>
                    <a:lumOff val="60000"/>
                  </a:schemeClr>
                </a:solidFill>
              </a:rPr>
              <a:t>File Handlin</a:t>
            </a:r>
            <a:r>
              <a:rPr lang="en-IN" dirty="0">
                <a:solidFill>
                  <a:schemeClr val="tx2">
                    <a:lumMod val="40000"/>
                    <a:lumOff val="60000"/>
                  </a:schemeClr>
                </a:solidFill>
              </a:rPr>
              <a:t>g</a:t>
            </a:r>
          </a:p>
          <a:p>
            <a:pPr marL="285750" indent="-285750">
              <a:buFont typeface="Arial" panose="020B0604020202020204" pitchFamily="34" charset="0"/>
              <a:buChar char="•"/>
            </a:pPr>
            <a:r>
              <a:rPr lang="en-IN" dirty="0">
                <a:solidFill>
                  <a:schemeClr val="tx2">
                    <a:lumMod val="40000"/>
                    <a:lumOff val="60000"/>
                  </a:schemeClr>
                </a:solidFill>
              </a:rPr>
              <a:t>CSV </a:t>
            </a:r>
            <a:r>
              <a:rPr lang="en-US" dirty="0">
                <a:solidFill>
                  <a:schemeClr val="tx2">
                    <a:lumMod val="40000"/>
                    <a:lumOff val="60000"/>
                  </a:schemeClr>
                </a:solidFill>
              </a:rPr>
              <a:t>Module</a:t>
            </a:r>
            <a:endParaRPr lang="en-IN" dirty="0">
              <a:solidFill>
                <a:schemeClr val="tx2">
                  <a:lumMod val="40000"/>
                  <a:lumOff val="60000"/>
                </a:schemeClr>
              </a:solidFill>
            </a:endParaRPr>
          </a:p>
          <a:p>
            <a:endParaRPr lang="en-IN" dirty="0"/>
          </a:p>
          <a:p>
            <a:pPr marL="285750" indent="-285750">
              <a:buFont typeface="Arial" panose="020B0604020202020204" pitchFamily="34" charset="0"/>
              <a:buChar char="•"/>
            </a:pPr>
            <a:r>
              <a:rPr lang="en-US" dirty="0"/>
              <a:t> Python exports admission data into CSV files for reporting and backup.</a:t>
            </a:r>
          </a:p>
        </p:txBody>
      </p:sp>
    </p:spTree>
    <p:extLst>
      <p:ext uri="{BB962C8B-B14F-4D97-AF65-F5344CB8AC3E}">
        <p14:creationId xmlns:p14="http://schemas.microsoft.com/office/powerpoint/2010/main" val="125325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AE254-0E23-BC1A-3188-DA09D739F629}"/>
              </a:ext>
            </a:extLst>
          </p:cNvPr>
          <p:cNvSpPr>
            <a:spLocks noGrp="1"/>
          </p:cNvSpPr>
          <p:nvPr>
            <p:ph type="title"/>
          </p:nvPr>
        </p:nvSpPr>
        <p:spPr/>
        <p:txBody>
          <a:bodyPr/>
          <a:lstStyle/>
          <a:p>
            <a:r>
              <a:rPr lang="en-IN" dirty="0"/>
              <a:t>Dataset Insights:</a:t>
            </a:r>
            <a:endParaRPr lang="en-US" dirty="0"/>
          </a:p>
        </p:txBody>
      </p:sp>
      <p:pic>
        <p:nvPicPr>
          <p:cNvPr id="8" name="Content Placeholder 7">
            <a:extLst>
              <a:ext uri="{FF2B5EF4-FFF2-40B4-BE49-F238E27FC236}">
                <a16:creationId xmlns:a16="http://schemas.microsoft.com/office/drawing/2014/main" id="{FBB74CFA-E410-3E54-DAD1-F9108B8809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06300" y="1016667"/>
            <a:ext cx="5036356" cy="5325139"/>
          </a:xfrm>
          <a:prstGeom prst="rect">
            <a:avLst/>
          </a:prstGeom>
        </p:spPr>
      </p:pic>
      <p:sp>
        <p:nvSpPr>
          <p:cNvPr id="4" name="TextBox 3">
            <a:extLst>
              <a:ext uri="{FF2B5EF4-FFF2-40B4-BE49-F238E27FC236}">
                <a16:creationId xmlns:a16="http://schemas.microsoft.com/office/drawing/2014/main" id="{8A299156-F8E7-E814-FA42-EFDBB900F8A7}"/>
              </a:ext>
            </a:extLst>
          </p:cNvPr>
          <p:cNvSpPr txBox="1"/>
          <p:nvPr/>
        </p:nvSpPr>
        <p:spPr>
          <a:xfrm>
            <a:off x="580102" y="1837764"/>
            <a:ext cx="5368413" cy="2308324"/>
          </a:xfrm>
          <a:prstGeom prst="rect">
            <a:avLst/>
          </a:prstGeom>
          <a:noFill/>
        </p:spPr>
        <p:txBody>
          <a:bodyPr wrap="square">
            <a:spAutoFit/>
          </a:bodyPr>
          <a:lstStyle/>
          <a:p>
            <a:r>
              <a:rPr lang="en-US" b="1" dirty="0"/>
              <a:t>Average Fee per Course</a:t>
            </a:r>
            <a:r>
              <a:rPr lang="en-US" dirty="0"/>
              <a:t>:</a:t>
            </a:r>
          </a:p>
          <a:p>
            <a:r>
              <a:rPr lang="en-US" dirty="0"/>
              <a:t> </a:t>
            </a:r>
            <a:endParaRPr lang="en-IN" dirty="0"/>
          </a:p>
          <a:p>
            <a:pPr marL="285750" indent="-285750">
              <a:buFont typeface="Arial" panose="020B0604020202020204" pitchFamily="34" charset="0"/>
              <a:buChar char="•"/>
            </a:pPr>
            <a:r>
              <a:rPr lang="en-US" dirty="0"/>
              <a:t>Data Science and Web Development have the highest average fees at </a:t>
            </a:r>
            <a:r>
              <a:rPr lang="en-US" b="1" dirty="0"/>
              <a:t>₹50,000 </a:t>
            </a:r>
            <a:r>
              <a:rPr lang="en-US" dirty="0"/>
              <a:t>each.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AI and ML are priced moderately (</a:t>
            </a:r>
            <a:r>
              <a:rPr lang="en-US" b="1" dirty="0"/>
              <a:t>₹42,500), </a:t>
            </a:r>
            <a:r>
              <a:rPr lang="en-US" dirty="0"/>
              <a:t>while Python stands at an average of ₹</a:t>
            </a:r>
            <a:r>
              <a:rPr lang="en-US" b="1" dirty="0"/>
              <a:t>46,250</a:t>
            </a:r>
            <a:r>
              <a:rPr lang="en-US" dirty="0"/>
              <a:t>.</a:t>
            </a:r>
          </a:p>
        </p:txBody>
      </p:sp>
      <p:sp>
        <p:nvSpPr>
          <p:cNvPr id="5" name="Rectangle 4">
            <a:extLst>
              <a:ext uri="{FF2B5EF4-FFF2-40B4-BE49-F238E27FC236}">
                <a16:creationId xmlns:a16="http://schemas.microsoft.com/office/drawing/2014/main" id="{370FD600-B1D1-DBB8-0D84-AAFAD2B868A0}"/>
              </a:ext>
            </a:extLst>
          </p:cNvPr>
          <p:cNvSpPr/>
          <p:nvPr/>
        </p:nvSpPr>
        <p:spPr>
          <a:xfrm>
            <a:off x="167148" y="147484"/>
            <a:ext cx="11857704" cy="660727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6C017E80-FE19-EADD-6606-7B915DC87E1A}"/>
              </a:ext>
            </a:extLst>
          </p:cNvPr>
          <p:cNvSpPr txBox="1"/>
          <p:nvPr/>
        </p:nvSpPr>
        <p:spPr>
          <a:xfrm>
            <a:off x="580102" y="4359040"/>
            <a:ext cx="5244353" cy="1477328"/>
          </a:xfrm>
          <a:prstGeom prst="rect">
            <a:avLst/>
          </a:prstGeom>
          <a:noFill/>
        </p:spPr>
        <p:txBody>
          <a:bodyPr wrap="square">
            <a:spAutoFit/>
          </a:bodyPr>
          <a:lstStyle/>
          <a:p>
            <a:pPr marL="285750" indent="-285750">
              <a:buFont typeface="Arial" panose="020B0604020202020204" pitchFamily="34" charset="0"/>
              <a:buChar char="•"/>
            </a:pPr>
            <a:r>
              <a:rPr lang="en-US" dirty="0"/>
              <a:t>Python Concepts Used:</a:t>
            </a:r>
            <a:endParaRPr lang="en-IN" dirty="0"/>
          </a:p>
          <a:p>
            <a:pPr marL="285750" indent="-285750">
              <a:buFont typeface="Arial" panose="020B0604020202020204" pitchFamily="34" charset="0"/>
              <a:buChar char="•"/>
            </a:pPr>
            <a:r>
              <a:rPr lang="en-US" dirty="0"/>
              <a:t> </a:t>
            </a:r>
            <a:r>
              <a:rPr lang="en-US" dirty="0">
                <a:solidFill>
                  <a:schemeClr val="tx2">
                    <a:lumMod val="40000"/>
                    <a:lumOff val="60000"/>
                  </a:schemeClr>
                </a:solidFill>
              </a:rPr>
              <a:t>Pandas </a:t>
            </a:r>
            <a:endParaRPr lang="en-IN" dirty="0">
              <a:solidFill>
                <a:schemeClr val="tx2">
                  <a:lumMod val="40000"/>
                  <a:lumOff val="60000"/>
                </a:schemeClr>
              </a:solidFill>
            </a:endParaRPr>
          </a:p>
          <a:p>
            <a:pPr marL="285750" indent="-285750">
              <a:buFont typeface="Arial" panose="020B0604020202020204" pitchFamily="34" charset="0"/>
              <a:buChar char="•"/>
            </a:pPr>
            <a:r>
              <a:rPr lang="en-IN" dirty="0">
                <a:solidFill>
                  <a:schemeClr val="tx2">
                    <a:lumMod val="40000"/>
                    <a:lumOff val="60000"/>
                  </a:schemeClr>
                </a:solidFill>
              </a:rPr>
              <a:t> </a:t>
            </a:r>
            <a:r>
              <a:rPr lang="en-US" dirty="0">
                <a:solidFill>
                  <a:schemeClr val="tx2">
                    <a:lumMod val="40000"/>
                    <a:lumOff val="60000"/>
                  </a:schemeClr>
                </a:solidFill>
              </a:rPr>
              <a:t>Library Data Analysis </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t> Pandas analyzes average fees and pending payments per course.</a:t>
            </a:r>
          </a:p>
        </p:txBody>
      </p:sp>
    </p:spTree>
    <p:extLst>
      <p:ext uri="{BB962C8B-B14F-4D97-AF65-F5344CB8AC3E}">
        <p14:creationId xmlns:p14="http://schemas.microsoft.com/office/powerpoint/2010/main" val="163879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0CD23-C4F6-5D53-6269-F74218ED2E9E}"/>
              </a:ext>
            </a:extLst>
          </p:cNvPr>
          <p:cNvSpPr>
            <a:spLocks noGrp="1"/>
          </p:cNvSpPr>
          <p:nvPr>
            <p:ph type="title"/>
          </p:nvPr>
        </p:nvSpPr>
        <p:spPr/>
        <p:txBody>
          <a:bodyPr/>
          <a:lstStyle/>
          <a:p>
            <a:r>
              <a:rPr lang="en-IN" dirty="0"/>
              <a:t>Dataset Insights:</a:t>
            </a:r>
            <a:endParaRPr lang="en-US" dirty="0"/>
          </a:p>
        </p:txBody>
      </p:sp>
      <p:pic>
        <p:nvPicPr>
          <p:cNvPr id="4" name="Content Placeholder 3">
            <a:extLst>
              <a:ext uri="{FF2B5EF4-FFF2-40B4-BE49-F238E27FC236}">
                <a16:creationId xmlns:a16="http://schemas.microsoft.com/office/drawing/2014/main" id="{1A166C61-B688-1336-2FA1-9581AD8C89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59346" y="352900"/>
            <a:ext cx="5650844" cy="6196443"/>
          </a:xfrm>
          <a:prstGeom prst="rect">
            <a:avLst/>
          </a:prstGeom>
        </p:spPr>
      </p:pic>
      <p:sp>
        <p:nvSpPr>
          <p:cNvPr id="5" name="TextBox 4">
            <a:extLst>
              <a:ext uri="{FF2B5EF4-FFF2-40B4-BE49-F238E27FC236}">
                <a16:creationId xmlns:a16="http://schemas.microsoft.com/office/drawing/2014/main" id="{1E803C30-C370-860F-DF07-47D4A092903F}"/>
              </a:ext>
            </a:extLst>
          </p:cNvPr>
          <p:cNvSpPr txBox="1"/>
          <p:nvPr/>
        </p:nvSpPr>
        <p:spPr>
          <a:xfrm>
            <a:off x="688258" y="1690686"/>
            <a:ext cx="4739148" cy="2308324"/>
          </a:xfrm>
          <a:prstGeom prst="rect">
            <a:avLst/>
          </a:prstGeom>
          <a:noFill/>
        </p:spPr>
        <p:txBody>
          <a:bodyPr wrap="square">
            <a:spAutoFit/>
          </a:bodyPr>
          <a:lstStyle/>
          <a:p>
            <a:r>
              <a:rPr lang="en-US" b="1" dirty="0"/>
              <a:t>Pending Fees:</a:t>
            </a:r>
          </a:p>
          <a:p>
            <a:endParaRPr lang="en-IN" b="1" dirty="0"/>
          </a:p>
          <a:p>
            <a:pPr marL="285750" indent="-285750">
              <a:buFont typeface="Arial" panose="020B0604020202020204" pitchFamily="34" charset="0"/>
              <a:buChar char="•"/>
            </a:pPr>
            <a:r>
              <a:rPr lang="en-US" dirty="0"/>
              <a:t>The system reports total pending fees of ₹75,000, indicating outstanding payments to be collected.</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 This highlights the need for follow-ups to improve cash flow and fee closure.</a:t>
            </a:r>
          </a:p>
        </p:txBody>
      </p:sp>
      <p:sp>
        <p:nvSpPr>
          <p:cNvPr id="6" name="Rectangle 5">
            <a:extLst>
              <a:ext uri="{FF2B5EF4-FFF2-40B4-BE49-F238E27FC236}">
                <a16:creationId xmlns:a16="http://schemas.microsoft.com/office/drawing/2014/main" id="{2560E8F2-007D-2D3F-BC8B-490441D5A045}"/>
              </a:ext>
            </a:extLst>
          </p:cNvPr>
          <p:cNvSpPr/>
          <p:nvPr/>
        </p:nvSpPr>
        <p:spPr>
          <a:xfrm>
            <a:off x="167148" y="147484"/>
            <a:ext cx="11857704" cy="660727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16006559-5F8A-8A75-B7E9-881A953BED9C}"/>
              </a:ext>
            </a:extLst>
          </p:cNvPr>
          <p:cNvSpPr txBox="1"/>
          <p:nvPr/>
        </p:nvSpPr>
        <p:spPr>
          <a:xfrm rot="10800000" flipV="1">
            <a:off x="754229" y="3999010"/>
            <a:ext cx="4739147" cy="1477328"/>
          </a:xfrm>
          <a:prstGeom prst="rect">
            <a:avLst/>
          </a:prstGeom>
          <a:noFill/>
        </p:spPr>
        <p:txBody>
          <a:bodyPr wrap="square">
            <a:spAutoFit/>
          </a:bodyPr>
          <a:lstStyle/>
          <a:p>
            <a:r>
              <a:rPr lang="en-US" dirty="0"/>
              <a:t>Python Concepts Used: </a:t>
            </a:r>
            <a:endParaRPr lang="en-IN" dirty="0"/>
          </a:p>
          <a:p>
            <a:pPr marL="285750" indent="-285750">
              <a:buFont typeface="Arial" panose="020B0604020202020204" pitchFamily="34" charset="0"/>
              <a:buChar char="•"/>
            </a:pPr>
            <a:r>
              <a:rPr lang="en-IN" dirty="0"/>
              <a:t> </a:t>
            </a:r>
            <a:r>
              <a:rPr lang="en-US" dirty="0">
                <a:solidFill>
                  <a:schemeClr val="tx2">
                    <a:lumMod val="40000"/>
                    <a:lumOff val="60000"/>
                  </a:schemeClr>
                </a:solidFill>
              </a:rPr>
              <a:t>Aggregation Functions </a:t>
            </a:r>
            <a:endParaRPr lang="en-IN" dirty="0">
              <a:solidFill>
                <a:schemeClr val="tx2">
                  <a:lumMod val="40000"/>
                  <a:lumOff val="60000"/>
                </a:schemeClr>
              </a:solidFill>
            </a:endParaRPr>
          </a:p>
          <a:p>
            <a:pPr marL="285750" indent="-285750">
              <a:buFont typeface="Arial" panose="020B0604020202020204" pitchFamily="34" charset="0"/>
              <a:buChar char="•"/>
            </a:pPr>
            <a:r>
              <a:rPr lang="en-IN" dirty="0">
                <a:solidFill>
                  <a:schemeClr val="tx2">
                    <a:lumMod val="40000"/>
                    <a:lumOff val="60000"/>
                  </a:schemeClr>
                </a:solidFill>
              </a:rPr>
              <a:t> </a:t>
            </a:r>
            <a:r>
              <a:rPr lang="en-US" dirty="0">
                <a:solidFill>
                  <a:schemeClr val="tx2">
                    <a:lumMod val="40000"/>
                    <a:lumOff val="60000"/>
                  </a:schemeClr>
                </a:solidFill>
              </a:rPr>
              <a:t>Conditional Logic</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t>Python identifies outstanding fees to support follow-up actions.</a:t>
            </a:r>
          </a:p>
        </p:txBody>
      </p:sp>
    </p:spTree>
    <p:extLst>
      <p:ext uri="{BB962C8B-B14F-4D97-AF65-F5344CB8AC3E}">
        <p14:creationId xmlns:p14="http://schemas.microsoft.com/office/powerpoint/2010/main" val="23502003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767FC-2E85-9C41-A06E-DFA532084646}"/>
              </a:ext>
            </a:extLst>
          </p:cNvPr>
          <p:cNvSpPr>
            <a:spLocks noGrp="1"/>
          </p:cNvSpPr>
          <p:nvPr>
            <p:ph type="title"/>
          </p:nvPr>
        </p:nvSpPr>
        <p:spPr>
          <a:xfrm>
            <a:off x="838200" y="365126"/>
            <a:ext cx="10515600" cy="598436"/>
          </a:xfrm>
        </p:spPr>
        <p:txBody>
          <a:bodyPr>
            <a:normAutofit fontScale="90000"/>
          </a:bodyPr>
          <a:lstStyle/>
          <a:p>
            <a:r>
              <a:rPr lang="en-IN" dirty="0"/>
              <a:t>Course Advisor (AI):</a:t>
            </a:r>
            <a:endParaRPr lang="en-US" dirty="0"/>
          </a:p>
        </p:txBody>
      </p:sp>
      <p:pic>
        <p:nvPicPr>
          <p:cNvPr id="4" name="Content Placeholder 3">
            <a:extLst>
              <a:ext uri="{FF2B5EF4-FFF2-40B4-BE49-F238E27FC236}">
                <a16:creationId xmlns:a16="http://schemas.microsoft.com/office/drawing/2014/main" id="{E3E2C54F-82F2-CDA8-A5F2-BC9BB5EA5CD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 t="32712" r="1765" b="31997"/>
          <a:stretch>
            <a:fillRect/>
          </a:stretch>
        </p:blipFill>
        <p:spPr>
          <a:xfrm>
            <a:off x="4908990" y="963562"/>
            <a:ext cx="6577786" cy="5120387"/>
          </a:xfrm>
          <a:prstGeom prst="rect">
            <a:avLst/>
          </a:prstGeom>
        </p:spPr>
      </p:pic>
      <p:sp>
        <p:nvSpPr>
          <p:cNvPr id="5" name="TextBox 4">
            <a:extLst>
              <a:ext uri="{FF2B5EF4-FFF2-40B4-BE49-F238E27FC236}">
                <a16:creationId xmlns:a16="http://schemas.microsoft.com/office/drawing/2014/main" id="{4826D30A-5F9A-6F4E-98F6-29B66699909A}"/>
              </a:ext>
            </a:extLst>
          </p:cNvPr>
          <p:cNvSpPr txBox="1"/>
          <p:nvPr/>
        </p:nvSpPr>
        <p:spPr>
          <a:xfrm>
            <a:off x="711489" y="1076932"/>
            <a:ext cx="4009923" cy="2585323"/>
          </a:xfrm>
          <a:prstGeom prst="rect">
            <a:avLst/>
          </a:prstGeom>
          <a:noFill/>
        </p:spPr>
        <p:txBody>
          <a:bodyPr wrap="square">
            <a:spAutoFit/>
          </a:bodyPr>
          <a:lstStyle/>
          <a:p>
            <a:r>
              <a:rPr lang="en-US" b="1" dirty="0"/>
              <a:t>Salary Comparison</a:t>
            </a:r>
            <a:r>
              <a:rPr lang="en-US" dirty="0"/>
              <a:t>:</a:t>
            </a:r>
          </a:p>
          <a:p>
            <a:endParaRPr lang="en-IN" dirty="0"/>
          </a:p>
          <a:p>
            <a:pPr marL="285750" indent="-285750">
              <a:buFont typeface="Arial" panose="020B0604020202020204" pitchFamily="34" charset="0"/>
              <a:buChar char="•"/>
            </a:pPr>
            <a:r>
              <a:rPr lang="en-US" dirty="0"/>
              <a:t>AI and ML roles command the highest salary ranges, followed by Data Science.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dirty="0"/>
              <a:t>Python and Web Development offer comparatively lower but stable salary prospects.</a:t>
            </a:r>
          </a:p>
        </p:txBody>
      </p:sp>
      <p:sp>
        <p:nvSpPr>
          <p:cNvPr id="6" name="Rectangle 5">
            <a:extLst>
              <a:ext uri="{FF2B5EF4-FFF2-40B4-BE49-F238E27FC236}">
                <a16:creationId xmlns:a16="http://schemas.microsoft.com/office/drawing/2014/main" id="{4C918C12-EA45-AA54-A66E-3933AF74D0AD}"/>
              </a:ext>
            </a:extLst>
          </p:cNvPr>
          <p:cNvSpPr/>
          <p:nvPr/>
        </p:nvSpPr>
        <p:spPr>
          <a:xfrm>
            <a:off x="167148" y="147484"/>
            <a:ext cx="11857704" cy="660727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11ACB1DB-F247-4CBD-B0C3-17DFF04224D4}"/>
              </a:ext>
            </a:extLst>
          </p:cNvPr>
          <p:cNvSpPr txBox="1"/>
          <p:nvPr/>
        </p:nvSpPr>
        <p:spPr>
          <a:xfrm>
            <a:off x="921098" y="3775625"/>
            <a:ext cx="3710667" cy="1754326"/>
          </a:xfrm>
          <a:prstGeom prst="rect">
            <a:avLst/>
          </a:prstGeom>
          <a:noFill/>
        </p:spPr>
        <p:txBody>
          <a:bodyPr wrap="square">
            <a:spAutoFit/>
          </a:bodyPr>
          <a:lstStyle/>
          <a:p>
            <a:r>
              <a:rPr lang="en-US" dirty="0"/>
              <a:t>Python Concepts Used:</a:t>
            </a:r>
            <a:endParaRPr lang="en-IN" dirty="0"/>
          </a:p>
          <a:p>
            <a:pPr marL="285750" indent="-285750">
              <a:buFont typeface="Arial" panose="020B0604020202020204" pitchFamily="34" charset="0"/>
              <a:buChar char="•"/>
            </a:pPr>
            <a:r>
              <a:rPr lang="en-US" dirty="0">
                <a:solidFill>
                  <a:schemeClr val="tx2">
                    <a:lumMod val="40000"/>
                    <a:lumOff val="60000"/>
                  </a:schemeClr>
                </a:solidFill>
              </a:rPr>
              <a:t>AI Integration</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solidFill>
                  <a:schemeClr val="tx2">
                    <a:lumMod val="40000"/>
                    <a:lumOff val="60000"/>
                  </a:schemeClr>
                </a:solidFill>
              </a:rPr>
              <a:t>API Handling </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t>Python integrates AI to provide course and career recommendations.</a:t>
            </a:r>
          </a:p>
        </p:txBody>
      </p:sp>
    </p:spTree>
    <p:extLst>
      <p:ext uri="{BB962C8B-B14F-4D97-AF65-F5344CB8AC3E}">
        <p14:creationId xmlns:p14="http://schemas.microsoft.com/office/powerpoint/2010/main" val="972966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CBCFD-0B1C-6728-F310-CC66F54104FE}"/>
              </a:ext>
            </a:extLst>
          </p:cNvPr>
          <p:cNvSpPr>
            <a:spLocks noGrp="1"/>
          </p:cNvSpPr>
          <p:nvPr>
            <p:ph type="title"/>
          </p:nvPr>
        </p:nvSpPr>
        <p:spPr>
          <a:xfrm>
            <a:off x="310777" y="365126"/>
            <a:ext cx="11043023" cy="883572"/>
          </a:xfrm>
        </p:spPr>
        <p:txBody>
          <a:bodyPr/>
          <a:lstStyle/>
          <a:p>
            <a:r>
              <a:rPr lang="en-IN" dirty="0"/>
              <a:t>Course Advisor:</a:t>
            </a:r>
            <a:endParaRPr lang="en-US" dirty="0"/>
          </a:p>
        </p:txBody>
      </p:sp>
      <p:pic>
        <p:nvPicPr>
          <p:cNvPr id="7" name="Content Placeholder 6">
            <a:extLst>
              <a:ext uri="{FF2B5EF4-FFF2-40B4-BE49-F238E27FC236}">
                <a16:creationId xmlns:a16="http://schemas.microsoft.com/office/drawing/2014/main" id="{16F7160B-F1BD-BC17-1197-022A20A779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65867" y="958328"/>
            <a:ext cx="7449818" cy="5054001"/>
          </a:xfrm>
          <a:prstGeom prst="rect">
            <a:avLst/>
          </a:prstGeom>
        </p:spPr>
      </p:pic>
      <p:sp>
        <p:nvSpPr>
          <p:cNvPr id="4" name="TextBox 3">
            <a:extLst>
              <a:ext uri="{FF2B5EF4-FFF2-40B4-BE49-F238E27FC236}">
                <a16:creationId xmlns:a16="http://schemas.microsoft.com/office/drawing/2014/main" id="{11EF6EBB-F779-037A-0AE5-2DF49F6C9CB3}"/>
              </a:ext>
            </a:extLst>
          </p:cNvPr>
          <p:cNvSpPr txBox="1"/>
          <p:nvPr/>
        </p:nvSpPr>
        <p:spPr>
          <a:xfrm>
            <a:off x="276315" y="1248698"/>
            <a:ext cx="4080385" cy="2585323"/>
          </a:xfrm>
          <a:prstGeom prst="rect">
            <a:avLst/>
          </a:prstGeom>
          <a:noFill/>
        </p:spPr>
        <p:txBody>
          <a:bodyPr wrap="square">
            <a:spAutoFit/>
          </a:bodyPr>
          <a:lstStyle/>
          <a:p>
            <a:r>
              <a:rPr lang="en-US" b="1" dirty="0"/>
              <a:t>Demand Analysis</a:t>
            </a:r>
            <a:r>
              <a:rPr lang="en-IN" b="1" dirty="0"/>
              <a:t>:</a:t>
            </a:r>
          </a:p>
          <a:p>
            <a:endParaRPr lang="en-IN" dirty="0"/>
          </a:p>
          <a:p>
            <a:pPr marL="285750" indent="-285750">
              <a:buFont typeface="Arial" panose="020B0604020202020204" pitchFamily="34" charset="0"/>
              <a:buChar char="•"/>
            </a:pPr>
            <a:r>
              <a:rPr lang="en-US" dirty="0">
                <a:latin typeface="Aptos Narrow" panose="020B0004020202020204" pitchFamily="34" charset="0"/>
              </a:rPr>
              <a:t>AI/ML and Data Science show the highest market demand compared to Python and Web Development.</a:t>
            </a:r>
          </a:p>
          <a:p>
            <a:endParaRPr lang="en-IN" dirty="0">
              <a:latin typeface="Aptos Narrow" panose="020B0004020202020204" pitchFamily="34" charset="0"/>
            </a:endParaRPr>
          </a:p>
          <a:p>
            <a:pPr marL="285750" indent="-285750">
              <a:buFont typeface="Arial" panose="020B0604020202020204" pitchFamily="34" charset="0"/>
              <a:buChar char="•"/>
            </a:pPr>
            <a:r>
              <a:rPr lang="en-US" dirty="0">
                <a:latin typeface="Aptos Narrow" panose="020B0004020202020204" pitchFamily="34" charset="0"/>
              </a:rPr>
              <a:t> This suggests strong industry preference for data-driven and intelligent technologies</a:t>
            </a:r>
            <a:r>
              <a:rPr lang="en-US" dirty="0">
                <a:latin typeface="Aptos Display" panose="020B0004020202020204" pitchFamily="34" charset="0"/>
              </a:rPr>
              <a:t>.</a:t>
            </a:r>
          </a:p>
        </p:txBody>
      </p:sp>
      <p:sp>
        <p:nvSpPr>
          <p:cNvPr id="6" name="Rectangle 5">
            <a:extLst>
              <a:ext uri="{FF2B5EF4-FFF2-40B4-BE49-F238E27FC236}">
                <a16:creationId xmlns:a16="http://schemas.microsoft.com/office/drawing/2014/main" id="{9C6107AF-BCC7-8A2E-B9BB-BC553A0EE5AD}"/>
              </a:ext>
            </a:extLst>
          </p:cNvPr>
          <p:cNvSpPr/>
          <p:nvPr/>
        </p:nvSpPr>
        <p:spPr>
          <a:xfrm>
            <a:off x="167148" y="147484"/>
            <a:ext cx="11857704" cy="660727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A9F4C7D2-D067-27E2-6DB3-5594E58623CD}"/>
              </a:ext>
            </a:extLst>
          </p:cNvPr>
          <p:cNvSpPr txBox="1"/>
          <p:nvPr/>
        </p:nvSpPr>
        <p:spPr>
          <a:xfrm>
            <a:off x="276315" y="4147630"/>
            <a:ext cx="3702423" cy="2031325"/>
          </a:xfrm>
          <a:prstGeom prst="rect">
            <a:avLst/>
          </a:prstGeom>
          <a:noFill/>
        </p:spPr>
        <p:txBody>
          <a:bodyPr wrap="square">
            <a:spAutoFit/>
          </a:bodyPr>
          <a:lstStyle/>
          <a:p>
            <a:pPr marL="285750" indent="-285750">
              <a:buFont typeface="Arial" panose="020B0604020202020204" pitchFamily="34" charset="0"/>
              <a:buChar char="•"/>
            </a:pPr>
            <a:r>
              <a:rPr lang="en-US" dirty="0"/>
              <a:t>Python Concepts Used:</a:t>
            </a:r>
            <a:endParaRPr lang="en-IN" dirty="0"/>
          </a:p>
          <a:p>
            <a:pPr marL="285750" indent="-285750">
              <a:buFont typeface="Arial" panose="020B0604020202020204" pitchFamily="34" charset="0"/>
              <a:buChar char="•"/>
            </a:pPr>
            <a:r>
              <a:rPr lang="en-US" dirty="0">
                <a:solidFill>
                  <a:schemeClr val="tx2">
                    <a:lumMod val="40000"/>
                    <a:lumOff val="60000"/>
                  </a:schemeClr>
                </a:solidFill>
              </a:rPr>
              <a:t>Data Analysis</a:t>
            </a:r>
            <a:endParaRPr lang="en-IN" dirty="0">
              <a:solidFill>
                <a:schemeClr val="tx2">
                  <a:lumMod val="40000"/>
                  <a:lumOff val="60000"/>
                </a:schemeClr>
              </a:solidFill>
            </a:endParaRPr>
          </a:p>
          <a:p>
            <a:pPr marL="285750" indent="-285750">
              <a:buFont typeface="Arial" panose="020B0604020202020204" pitchFamily="34" charset="0"/>
              <a:buChar char="•"/>
            </a:pPr>
            <a:r>
              <a:rPr lang="en-US" dirty="0">
                <a:solidFill>
                  <a:schemeClr val="tx2">
                    <a:lumMod val="40000"/>
                    <a:lumOff val="60000"/>
                  </a:schemeClr>
                </a:solidFill>
              </a:rPr>
              <a:t>AI-Based Insights</a:t>
            </a:r>
            <a:endParaRPr lang="en-IN" dirty="0">
              <a:solidFill>
                <a:schemeClr val="tx2">
                  <a:lumMod val="40000"/>
                  <a:lumOff val="60000"/>
                </a:schemeClr>
              </a:solidFill>
            </a:endParaRPr>
          </a:p>
          <a:p>
            <a:endParaRPr lang="en-IN" dirty="0"/>
          </a:p>
          <a:p>
            <a:pPr marL="285750" indent="-285750">
              <a:buFont typeface="Arial" panose="020B0604020202020204" pitchFamily="34" charset="0"/>
              <a:buChar char="•"/>
            </a:pPr>
            <a:r>
              <a:rPr lang="en-US" dirty="0"/>
              <a:t>Python analyzes industry demand and salary trends using AI responses.</a:t>
            </a:r>
          </a:p>
        </p:txBody>
      </p:sp>
    </p:spTree>
    <p:extLst>
      <p:ext uri="{BB962C8B-B14F-4D97-AF65-F5344CB8AC3E}">
        <p14:creationId xmlns:p14="http://schemas.microsoft.com/office/powerpoint/2010/main" val="685178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48C125-2FBC-0649-C830-0A05411961C6}"/>
              </a:ext>
            </a:extLst>
          </p:cNvPr>
          <p:cNvSpPr>
            <a:spLocks noGrp="1"/>
          </p:cNvSpPr>
          <p:nvPr>
            <p:ph idx="1"/>
          </p:nvPr>
        </p:nvSpPr>
        <p:spPr>
          <a:xfrm>
            <a:off x="743636" y="1132541"/>
            <a:ext cx="5514290" cy="5115859"/>
          </a:xfrm>
        </p:spPr>
        <p:txBody>
          <a:bodyPr>
            <a:normAutofit fontScale="85000" lnSpcReduction="20000"/>
          </a:bodyPr>
          <a:lstStyle/>
          <a:p>
            <a:r>
              <a:rPr lang="en-IN" b="1" dirty="0">
                <a:solidFill>
                  <a:schemeClr val="accent1">
                    <a:lumMod val="75000"/>
                  </a:schemeClr>
                </a:solidFill>
              </a:rPr>
              <a:t>Exception Handling</a:t>
            </a:r>
          </a:p>
          <a:p>
            <a:r>
              <a:rPr lang="en-IN" b="1" dirty="0">
                <a:solidFill>
                  <a:schemeClr val="accent1">
                    <a:lumMod val="75000"/>
                  </a:schemeClr>
                </a:solidFill>
              </a:rPr>
              <a:t>Python Concept Used:</a:t>
            </a:r>
            <a:endParaRPr lang="en-IN" dirty="0">
              <a:solidFill>
                <a:schemeClr val="accent1">
                  <a:lumMod val="75000"/>
                </a:schemeClr>
              </a:solidFill>
            </a:endParaRPr>
          </a:p>
          <a:p>
            <a:pPr marL="0" indent="0">
              <a:buNone/>
            </a:pPr>
            <a:r>
              <a:rPr lang="en-IN" b="1" dirty="0"/>
              <a:t>           Try–Except Blocks</a:t>
            </a:r>
            <a:r>
              <a:rPr lang="en-IN" dirty="0"/>
              <a:t> </a:t>
            </a:r>
          </a:p>
          <a:p>
            <a:pPr marL="0" indent="0">
              <a:buNone/>
            </a:pPr>
            <a:r>
              <a:rPr lang="en-IN" dirty="0"/>
              <a:t>           Handles invalid inputs and runtime errors gracefully. </a:t>
            </a:r>
          </a:p>
          <a:p>
            <a:r>
              <a:rPr lang="en-IN" b="1" dirty="0">
                <a:solidFill>
                  <a:schemeClr val="accent1">
                    <a:lumMod val="75000"/>
                  </a:schemeClr>
                </a:solidFill>
              </a:rPr>
              <a:t>Advantages of Python</a:t>
            </a:r>
          </a:p>
          <a:p>
            <a:r>
              <a:rPr lang="en-IN" b="1" dirty="0">
                <a:solidFill>
                  <a:schemeClr val="accent1">
                    <a:lumMod val="75000"/>
                  </a:schemeClr>
                </a:solidFill>
              </a:rPr>
              <a:t>Python Concepts Used:</a:t>
            </a:r>
            <a:endParaRPr lang="en-IN" dirty="0">
              <a:solidFill>
                <a:schemeClr val="accent1">
                  <a:lumMod val="75000"/>
                </a:schemeClr>
              </a:solidFill>
            </a:endParaRPr>
          </a:p>
          <a:p>
            <a:pPr marL="0" indent="0">
              <a:buNone/>
            </a:pPr>
            <a:r>
              <a:rPr lang="en-IN" dirty="0"/>
              <a:t>           Extensive Libraries </a:t>
            </a:r>
          </a:p>
          <a:p>
            <a:pPr marL="0" indent="0">
              <a:buNone/>
            </a:pPr>
            <a:r>
              <a:rPr lang="en-IN" dirty="0"/>
              <a:t>           Simplicity </a:t>
            </a:r>
          </a:p>
          <a:p>
            <a:pPr marL="0" indent="0">
              <a:buNone/>
            </a:pPr>
            <a:r>
              <a:rPr lang="en-IN" dirty="0"/>
              <a:t>           Scalability </a:t>
            </a:r>
          </a:p>
          <a:p>
            <a:pPr marL="0" indent="0">
              <a:buNone/>
            </a:pPr>
            <a:r>
              <a:rPr lang="en-IN" dirty="0"/>
              <a:t>           Enables fast development, scalability, and easy       maintenance. </a:t>
            </a:r>
          </a:p>
          <a:p>
            <a:r>
              <a:rPr lang="en-IN" b="1" dirty="0">
                <a:solidFill>
                  <a:schemeClr val="accent1">
                    <a:lumMod val="75000"/>
                  </a:schemeClr>
                </a:solidFill>
              </a:rPr>
              <a:t>Integration of Concepts</a:t>
            </a:r>
          </a:p>
          <a:p>
            <a:r>
              <a:rPr lang="en-IN" b="1" dirty="0">
                <a:solidFill>
                  <a:schemeClr val="accent1">
                    <a:lumMod val="75000"/>
                  </a:schemeClr>
                </a:solidFill>
              </a:rPr>
              <a:t>Python Concepts Used:</a:t>
            </a:r>
            <a:endParaRPr lang="en-IN" dirty="0">
              <a:solidFill>
                <a:schemeClr val="accent1">
                  <a:lumMod val="75000"/>
                </a:schemeClr>
              </a:solidFill>
            </a:endParaRPr>
          </a:p>
          <a:p>
            <a:pPr marL="0" indent="0">
              <a:buNone/>
            </a:pPr>
            <a:r>
              <a:rPr lang="en-IN" dirty="0"/>
              <a:t>          Integration of Python, OOP, Data Analysis, and AI </a:t>
            </a:r>
          </a:p>
          <a:p>
            <a:pPr marL="0" indent="0">
              <a:buNone/>
            </a:pPr>
            <a:r>
              <a:rPr lang="en-IN" dirty="0"/>
              <a:t>           Demonstrates the real-world application of Python programming, Object-Oriented Programming (OOP), data analysis, and AI.</a:t>
            </a:r>
          </a:p>
        </p:txBody>
      </p:sp>
      <p:pic>
        <p:nvPicPr>
          <p:cNvPr id="4" name="Picture 3">
            <a:extLst>
              <a:ext uri="{FF2B5EF4-FFF2-40B4-BE49-F238E27FC236}">
                <a16:creationId xmlns:a16="http://schemas.microsoft.com/office/drawing/2014/main" id="{EE57A7A7-30B4-6198-2CB4-C51F5DFA3E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1149" y="1378347"/>
            <a:ext cx="6020851" cy="5023224"/>
          </a:xfrm>
          <a:prstGeom prst="rect">
            <a:avLst/>
          </a:prstGeom>
        </p:spPr>
      </p:pic>
      <p:sp>
        <p:nvSpPr>
          <p:cNvPr id="6" name="Title 5">
            <a:extLst>
              <a:ext uri="{FF2B5EF4-FFF2-40B4-BE49-F238E27FC236}">
                <a16:creationId xmlns:a16="http://schemas.microsoft.com/office/drawing/2014/main" id="{0FE339A5-79A6-291E-8007-BA29BFFB5C38}"/>
              </a:ext>
            </a:extLst>
          </p:cNvPr>
          <p:cNvSpPr>
            <a:spLocks noGrp="1"/>
          </p:cNvSpPr>
          <p:nvPr>
            <p:ph type="title"/>
          </p:nvPr>
        </p:nvSpPr>
        <p:spPr>
          <a:xfrm>
            <a:off x="743636" y="334297"/>
            <a:ext cx="8528183" cy="645073"/>
          </a:xfrm>
        </p:spPr>
        <p:txBody>
          <a:bodyPr>
            <a:normAutofit/>
          </a:bodyPr>
          <a:lstStyle/>
          <a:p>
            <a:r>
              <a:rPr lang="en-IN" b="1" dirty="0">
                <a:solidFill>
                  <a:schemeClr val="accent6">
                    <a:lumMod val="75000"/>
                  </a:schemeClr>
                </a:solidFill>
              </a:rPr>
              <a:t>Key Python Concepts Used</a:t>
            </a:r>
            <a:endParaRPr lang="en-US" b="1" dirty="0">
              <a:solidFill>
                <a:schemeClr val="accent6">
                  <a:lumMod val="75000"/>
                </a:schemeClr>
              </a:solidFill>
            </a:endParaRPr>
          </a:p>
        </p:txBody>
      </p:sp>
    </p:spTree>
    <p:extLst>
      <p:ext uri="{BB962C8B-B14F-4D97-AF65-F5344CB8AC3E}">
        <p14:creationId xmlns:p14="http://schemas.microsoft.com/office/powerpoint/2010/main" val="546229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CB740-6D19-A92F-9875-5D523D8676DE}"/>
              </a:ext>
            </a:extLst>
          </p:cNvPr>
          <p:cNvSpPr>
            <a:spLocks noGrp="1"/>
          </p:cNvSpPr>
          <p:nvPr>
            <p:ph type="title"/>
          </p:nvPr>
        </p:nvSpPr>
        <p:spPr>
          <a:xfrm>
            <a:off x="1043631" y="809898"/>
            <a:ext cx="9942716" cy="1554480"/>
          </a:xfrm>
        </p:spPr>
        <p:txBody>
          <a:bodyPr anchor="ctr">
            <a:normAutofit/>
          </a:bodyPr>
          <a:lstStyle/>
          <a:p>
            <a:r>
              <a:rPr lang="en-US" sz="4800" dirty="0"/>
              <a:t>Conclusion</a:t>
            </a:r>
          </a:p>
        </p:txBody>
      </p:sp>
      <p:sp>
        <p:nvSpPr>
          <p:cNvPr id="5" name="Content Placeholder 4">
            <a:extLst>
              <a:ext uri="{FF2B5EF4-FFF2-40B4-BE49-F238E27FC236}">
                <a16:creationId xmlns:a16="http://schemas.microsoft.com/office/drawing/2014/main" id="{448AA721-6191-58C4-8708-DB307C995120}"/>
              </a:ext>
            </a:extLst>
          </p:cNvPr>
          <p:cNvSpPr>
            <a:spLocks noGrp="1"/>
          </p:cNvSpPr>
          <p:nvPr>
            <p:ph idx="1"/>
          </p:nvPr>
        </p:nvSpPr>
        <p:spPr>
          <a:xfrm>
            <a:off x="924232" y="2364377"/>
            <a:ext cx="10634999" cy="3879669"/>
          </a:xfrm>
        </p:spPr>
        <p:txBody>
          <a:bodyPr>
            <a:normAutofit/>
          </a:bodyPr>
          <a:lstStyle/>
          <a:p>
            <a:r>
              <a:rPr lang="en-US" dirty="0"/>
              <a:t>Successfully developed a Python-based Enrollment Manager</a:t>
            </a:r>
            <a:r>
              <a:rPr lang="en-IN" dirty="0"/>
              <a:t> system</a:t>
            </a:r>
          </a:p>
          <a:p>
            <a:r>
              <a:rPr lang="en-US" dirty="0"/>
              <a:t> Automated student enrollment and course management process</a:t>
            </a:r>
            <a:endParaRPr lang="en-IN" dirty="0"/>
          </a:p>
          <a:p>
            <a:r>
              <a:rPr lang="en-US" dirty="0"/>
              <a:t> Reduced manual work and minimized data entry errors</a:t>
            </a:r>
            <a:endParaRPr lang="en-IN" dirty="0"/>
          </a:p>
          <a:p>
            <a:r>
              <a:rPr lang="en-US" dirty="0"/>
              <a:t> Provided centralized management of student, course, and fee details </a:t>
            </a:r>
            <a:endParaRPr lang="en-IN" dirty="0"/>
          </a:p>
          <a:p>
            <a:r>
              <a:rPr lang="en-US" dirty="0"/>
              <a:t>Implemented dynamic enrollment status tracking (Enquiry, Pending, Enrolled)</a:t>
            </a:r>
            <a:endParaRPr lang="en-IN" dirty="0"/>
          </a:p>
          <a:p>
            <a:r>
              <a:rPr lang="en-US" dirty="0"/>
              <a:t>Demonstrated effective use of Python concepts like OOP and exception handling</a:t>
            </a:r>
            <a:endParaRPr lang="en-IN" dirty="0"/>
          </a:p>
          <a:p>
            <a:r>
              <a:rPr lang="en-US" dirty="0"/>
              <a:t> Enabled multiple views and reports for better decision-making</a:t>
            </a:r>
            <a:r>
              <a:rPr lang="en-IN" dirty="0"/>
              <a:t>g</a:t>
            </a:r>
          </a:p>
          <a:p>
            <a:r>
              <a:rPr lang="en-IN" dirty="0"/>
              <a:t>Designed</a:t>
            </a:r>
            <a:r>
              <a:rPr lang="en-US" dirty="0"/>
              <a:t> the system to be scalable for future database and web integration</a:t>
            </a:r>
          </a:p>
        </p:txBody>
      </p:sp>
    </p:spTree>
    <p:extLst>
      <p:ext uri="{BB962C8B-B14F-4D97-AF65-F5344CB8AC3E}">
        <p14:creationId xmlns:p14="http://schemas.microsoft.com/office/powerpoint/2010/main" val="60944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76232-1BBE-6B11-0542-5C5A613984F3}"/>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Thank You</a:t>
            </a:r>
          </a:p>
        </p:txBody>
      </p:sp>
    </p:spTree>
    <p:extLst>
      <p:ext uri="{BB962C8B-B14F-4D97-AF65-F5344CB8AC3E}">
        <p14:creationId xmlns:p14="http://schemas.microsoft.com/office/powerpoint/2010/main" val="2952868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843</TotalTime>
  <Words>1184</Words>
  <Application>Microsoft Office PowerPoint</Application>
  <PresentationFormat>Widescreen</PresentationFormat>
  <Paragraphs>161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 Display</vt:lpstr>
      <vt:lpstr>Aptos Narrow</vt:lpstr>
      <vt:lpstr>Arial</vt:lpstr>
      <vt:lpstr>Times New Roman</vt:lpstr>
      <vt:lpstr>Trebuchet MS</vt:lpstr>
      <vt:lpstr>Wingdings 3</vt:lpstr>
      <vt:lpstr>Facet</vt:lpstr>
      <vt:lpstr>ENROLLEMENT      MANAGER</vt:lpstr>
      <vt:lpstr>Problem Statement</vt:lpstr>
      <vt:lpstr>Objectives</vt:lpstr>
      <vt:lpstr>Database Overview</vt:lpstr>
      <vt:lpstr>Contd..Database Overview</vt:lpstr>
      <vt:lpstr>Add / update Admission:</vt:lpstr>
      <vt:lpstr>Update fees:</vt:lpstr>
      <vt:lpstr>Delete Admission:</vt:lpstr>
      <vt:lpstr>View all Admission Details:</vt:lpstr>
      <vt:lpstr>Confirmed admission:</vt:lpstr>
      <vt:lpstr>Fees analysis :</vt:lpstr>
      <vt:lpstr>Export CSV file:</vt:lpstr>
      <vt:lpstr>Dataset Insights:</vt:lpstr>
      <vt:lpstr>Dataset Insights:</vt:lpstr>
      <vt:lpstr>Course Advisor (AI):</vt:lpstr>
      <vt:lpstr>Course Advisor:</vt:lpstr>
      <vt:lpstr>Key Python Concepts Used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Patient Management System</dc:title>
  <dc:creator>Abhirup Dass</dc:creator>
  <cp:lastModifiedBy>Baskar Arunachala madhan</cp:lastModifiedBy>
  <cp:revision>22</cp:revision>
  <dcterms:created xsi:type="dcterms:W3CDTF">2025-11-26T05:28:56Z</dcterms:created>
  <dcterms:modified xsi:type="dcterms:W3CDTF">2026-07-02T16:57:15Z</dcterms:modified>
</cp:coreProperties>
</file>