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5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6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7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8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9.xml" ContentType="application/vnd.openxmlformats-officedocument.themeOverride+xml"/>
  <Override PartName="/ppt/notesSlides/notesSlide3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0.xml" ContentType="application/vnd.openxmlformats-officedocument.themeOverr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21"/>
  </p:notesMasterIdLst>
  <p:sldIdLst>
    <p:sldId id="256" r:id="rId2"/>
    <p:sldId id="281" r:id="rId3"/>
    <p:sldId id="285" r:id="rId4"/>
    <p:sldId id="260" r:id="rId5"/>
    <p:sldId id="261" r:id="rId6"/>
    <p:sldId id="262" r:id="rId7"/>
    <p:sldId id="263" r:id="rId8"/>
    <p:sldId id="266" r:id="rId9"/>
    <p:sldId id="267" r:id="rId10"/>
    <p:sldId id="268" r:id="rId11"/>
    <p:sldId id="271" r:id="rId12"/>
    <p:sldId id="272" r:id="rId13"/>
    <p:sldId id="273" r:id="rId14"/>
    <p:sldId id="274" r:id="rId15"/>
    <p:sldId id="275" r:id="rId16"/>
    <p:sldId id="276" r:id="rId17"/>
    <p:sldId id="278" r:id="rId18"/>
    <p:sldId id="279" r:id="rId19"/>
    <p:sldId id="28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3969" autoAdjust="0"/>
  </p:normalViewPr>
  <p:slideViewPr>
    <p:cSldViewPr snapToGrid="0">
      <p:cViewPr varScale="1">
        <p:scale>
          <a:sx n="77" d="100"/>
          <a:sy n="77" d="100"/>
        </p:scale>
        <p:origin x="96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ta%20Science%20&amp;%20AI\Capstone%20project\BBL_2019-2020_Batting%20fina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6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7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8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Worksheet9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10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[BBL_2019-2020_Batting (1).xlsx]PLAYERS!PivotTable3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400" b="1" dirty="0"/>
              <a:t>Top</a:t>
            </a:r>
            <a:r>
              <a:rPr lang="en-IN" sz="2400" b="1" baseline="0" dirty="0"/>
              <a:t> Run Scorers</a:t>
            </a:r>
            <a:endParaRPr lang="en-IN" sz="24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FF00"/>
          </a:solidFill>
          <a:ln>
            <a:noFill/>
          </a:ln>
          <a:effectLst/>
        </c:spPr>
      </c:pivotFmt>
      <c:pivotFmt>
        <c:idx val="2"/>
        <c:spPr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</c:pivotFmt>
      <c:pivotFmt>
        <c:idx val="4"/>
        <c:spPr>
          <a:solidFill>
            <a:schemeClr val="accent5">
              <a:lumMod val="75000"/>
            </a:schemeClr>
          </a:solidFill>
          <a:ln>
            <a:noFill/>
          </a:ln>
          <a:effectLst/>
        </c:spPr>
      </c:pivotFmt>
      <c:pivotFmt>
        <c:idx val="5"/>
        <c:spPr>
          <a:solidFill>
            <a:srgbClr val="7030A0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7030A0"/>
          </a:solidFill>
          <a:ln>
            <a:noFill/>
          </a:ln>
          <a:effectLst/>
        </c:spPr>
      </c:pivotFmt>
      <c:pivotFmt>
        <c:idx val="8"/>
        <c:spPr>
          <a:solidFill>
            <a:schemeClr val="accent5">
              <a:lumMod val="75000"/>
            </a:schemeClr>
          </a:solidFill>
          <a:ln>
            <a:noFill/>
          </a:ln>
          <a:effectLst/>
        </c:spPr>
      </c:pivotFmt>
      <c:pivotFmt>
        <c:idx val="9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</c:pivotFmt>
      <c:pivotFmt>
        <c:idx val="10"/>
        <c:spPr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c:spPr>
      </c:pivotFmt>
      <c:pivotFmt>
        <c:idx val="11"/>
        <c:spPr>
          <a:solidFill>
            <a:srgbClr val="FFFF00"/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7030A0"/>
          </a:solidFill>
          <a:ln>
            <a:noFill/>
          </a:ln>
          <a:effectLst/>
        </c:spPr>
      </c:pivotFmt>
      <c:pivotFmt>
        <c:idx val="14"/>
        <c:spPr>
          <a:solidFill>
            <a:schemeClr val="accent5">
              <a:lumMod val="75000"/>
            </a:schemeClr>
          </a:solidFill>
          <a:ln>
            <a:noFill/>
          </a:ln>
          <a:effectLst/>
        </c:spPr>
      </c:pivotFmt>
      <c:pivotFmt>
        <c:idx val="15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</c:pivotFmt>
      <c:pivotFmt>
        <c:idx val="16"/>
        <c:spPr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c:spPr>
      </c:pivotFmt>
      <c:pivotFmt>
        <c:idx val="17"/>
        <c:spPr>
          <a:solidFill>
            <a:srgbClr val="FFFF00"/>
          </a:solidFill>
          <a:ln>
            <a:noFill/>
          </a:ln>
          <a:effectLst/>
        </c:spP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PLAYERS!$K$3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9BD5">
                  <a:lumMod val="40000"/>
                  <a:lumOff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324-4382-A110-DDC14ACD5352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324-4382-A110-DDC14ACD5352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324-4382-A110-DDC14ACD5352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324-4382-A110-DDC14ACD5352}"/>
              </c:ext>
            </c:extLst>
          </c:dPt>
          <c:dPt>
            <c:idx val="4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324-4382-A110-DDC14ACD5352}"/>
              </c:ext>
            </c:extLst>
          </c:dPt>
          <c:dLbls>
            <c:dLbl>
              <c:idx val="3"/>
              <c:layout>
                <c:manualLayout>
                  <c:x val="2.4436360277894649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324-4382-A110-DDC14ACD5352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5155383610235993E-2"/>
                      <c:h val="6.177101427405062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2324-4382-A110-DDC14ACD53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PLAYERS!$J$4:$J$9</c:f>
              <c:strCache>
                <c:ptCount val="5"/>
                <c:pt idx="0">
                  <c:v>SE Marsh</c:v>
                </c:pt>
                <c:pt idx="1">
                  <c:v>JW Wells</c:v>
                </c:pt>
                <c:pt idx="2">
                  <c:v>JR Philippe</c:v>
                </c:pt>
                <c:pt idx="3">
                  <c:v>AD Hales</c:v>
                </c:pt>
                <c:pt idx="4">
                  <c:v>MP Stoinis</c:v>
                </c:pt>
              </c:strCache>
            </c:strRef>
          </c:cat>
          <c:val>
            <c:numRef>
              <c:f>PLAYERS!$K$4:$K$9</c:f>
              <c:numCache>
                <c:formatCode>General</c:formatCode>
                <c:ptCount val="5"/>
                <c:pt idx="0">
                  <c:v>449</c:v>
                </c:pt>
                <c:pt idx="1">
                  <c:v>478</c:v>
                </c:pt>
                <c:pt idx="2">
                  <c:v>487</c:v>
                </c:pt>
                <c:pt idx="3">
                  <c:v>576</c:v>
                </c:pt>
                <c:pt idx="4">
                  <c:v>705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324-4382-A110-DDC14ACD535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731900831"/>
        <c:axId val="1731907551"/>
      </c:barChart>
      <c:catAx>
        <c:axId val="173190083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Players</a:t>
                </a:r>
                <a:endParaRPr lang="en-IN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731907551"/>
        <c:crosses val="autoZero"/>
        <c:auto val="1"/>
        <c:lblAlgn val="ctr"/>
        <c:lblOffset val="100"/>
        <c:noMultiLvlLbl val="0"/>
      </c:catAx>
      <c:valAx>
        <c:axId val="17319075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/>
                  <a:t>Total</a:t>
                </a:r>
                <a:r>
                  <a:rPr lang="en-US" sz="1600" b="1" baseline="0" dirty="0"/>
                  <a:t> Runs</a:t>
                </a:r>
                <a:endParaRPr lang="en-IN" sz="1600" b="1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1900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51055">
          <a:srgbClr val="DCEBD2"/>
        </a:gs>
        <a:gs pos="0">
          <a:schemeClr val="accent6">
            <a:lumMod val="0"/>
            <a:lumOff val="100000"/>
          </a:schemeClr>
        </a:gs>
        <a:gs pos="35000">
          <a:schemeClr val="accent6">
            <a:lumMod val="0"/>
            <a:lumOff val="100000"/>
          </a:schemeClr>
        </a:gs>
        <a:gs pos="100000">
          <a:schemeClr val="accent6">
            <a:lumMod val="100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[BBL_2019-2020_Batting (1).xlsx]PLAYERS!PivotTable4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IN" sz="2400" b="1" dirty="0"/>
              <a:t>The</a:t>
            </a:r>
            <a:r>
              <a:rPr lang="en-IN" sz="2400" b="1" baseline="0" dirty="0"/>
              <a:t> Unbeaten heroes of the team</a:t>
            </a:r>
            <a:endParaRPr lang="en-IN" sz="2400" b="1" dirty="0"/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en-IN" sz="2400" b="1" dirty="0"/>
          </a:p>
        </c:rich>
      </c:tx>
      <c:layout>
        <c:manualLayout>
          <c:xMode val="edge"/>
          <c:yMode val="edge"/>
          <c:x val="0.31829623680425717"/>
          <c:y val="5.654572291995237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rgbClr val="92D050"/>
          </a:solidFill>
          <a:ln>
            <a:noFill/>
          </a:ln>
          <a:effectLst/>
        </c:spPr>
      </c:pivotFmt>
      <c:pivotFmt>
        <c:idx val="4"/>
        <c:spPr>
          <a:solidFill>
            <a:srgbClr val="00B050"/>
          </a:solidFill>
          <a:ln>
            <a:noFill/>
          </a:ln>
          <a:effectLst/>
        </c:spPr>
      </c:pivotFmt>
      <c:pivotFmt>
        <c:idx val="5"/>
        <c:spPr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6"/>
        <c:spPr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7"/>
        <c:spPr>
          <a:solidFill>
            <a:srgbClr val="FF0000"/>
          </a:solidFill>
          <a:ln>
            <a:noFill/>
          </a:ln>
          <a:effectLst/>
        </c:spPr>
      </c:pivotFmt>
      <c:pivotFmt>
        <c:idx val="8"/>
        <c:spPr>
          <a:solidFill>
            <a:srgbClr val="FF0000"/>
          </a:solidFill>
          <a:ln>
            <a:noFill/>
          </a:ln>
          <a:effectLst/>
        </c:spPr>
      </c:pivotFmt>
      <c:pivotFmt>
        <c:idx val="9"/>
        <c:spPr>
          <a:solidFill>
            <a:srgbClr val="FF0000"/>
          </a:solidFill>
          <a:ln>
            <a:noFill/>
          </a:ln>
          <a:effectLst/>
        </c:spPr>
      </c:pivotFmt>
      <c:pivotFmt>
        <c:idx val="10"/>
        <c:spPr>
          <a:solidFill>
            <a:srgbClr val="FF0000"/>
          </a:solidFill>
          <a:ln>
            <a:noFill/>
          </a:ln>
          <a:effectLst/>
        </c:spPr>
      </c:pivotFmt>
      <c:pivotFmt>
        <c:idx val="11"/>
        <c:spPr>
          <a:solidFill>
            <a:srgbClr val="FF0000"/>
          </a:solidFill>
          <a:ln>
            <a:noFill/>
          </a:ln>
          <a:effectLst/>
        </c:spPr>
        <c:dLbl>
          <c:idx val="0"/>
          <c:layout>
            <c:manualLayout>
              <c:x val="2.9517782561917883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14"/>
        <c:spPr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15"/>
        <c:spPr>
          <a:solidFill>
            <a:srgbClr val="00B050"/>
          </a:solidFill>
          <a:ln>
            <a:noFill/>
          </a:ln>
          <a:effectLst/>
        </c:spPr>
      </c:pivotFmt>
      <c:pivotFmt>
        <c:idx val="16"/>
        <c:spPr>
          <a:solidFill>
            <a:srgbClr val="92D050"/>
          </a:solidFill>
          <a:ln>
            <a:noFill/>
          </a:ln>
          <a:effectLst/>
        </c:spPr>
      </c:pivotFmt>
      <c:pivotFmt>
        <c:idx val="17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18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rgbClr val="FF0000"/>
          </a:solidFill>
          <a:ln>
            <a:noFill/>
          </a:ln>
          <a:effectLst/>
        </c:spPr>
      </c:pivotFmt>
      <c:pivotFmt>
        <c:idx val="20"/>
        <c:spPr>
          <a:solidFill>
            <a:srgbClr val="FF0000"/>
          </a:solidFill>
          <a:ln>
            <a:noFill/>
          </a:ln>
          <a:effectLst/>
        </c:spPr>
      </c:pivotFmt>
      <c:pivotFmt>
        <c:idx val="21"/>
        <c:spPr>
          <a:solidFill>
            <a:srgbClr val="FF0000"/>
          </a:solidFill>
          <a:ln>
            <a:noFill/>
          </a:ln>
          <a:effectLst/>
        </c:spPr>
      </c:pivotFmt>
      <c:pivotFmt>
        <c:idx val="22"/>
        <c:spPr>
          <a:solidFill>
            <a:srgbClr val="FF0000"/>
          </a:solidFill>
          <a:ln>
            <a:noFill/>
          </a:ln>
          <a:effectLst/>
        </c:spPr>
      </c:pivotFmt>
      <c:pivotFmt>
        <c:idx val="23"/>
        <c:spPr>
          <a:solidFill>
            <a:srgbClr val="FF0000"/>
          </a:solidFill>
          <a:ln>
            <a:noFill/>
          </a:ln>
          <a:effectLst/>
        </c:spPr>
        <c:dLbl>
          <c:idx val="0"/>
          <c:layout>
            <c:manualLayout>
              <c:x val="2.9517782561917883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26"/>
        <c:spPr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c:spPr>
      </c:pivotFmt>
      <c:pivotFmt>
        <c:idx val="27"/>
        <c:spPr>
          <a:solidFill>
            <a:srgbClr val="00B050"/>
          </a:solidFill>
          <a:ln>
            <a:noFill/>
          </a:ln>
          <a:effectLst/>
        </c:spPr>
      </c:pivotFmt>
      <c:pivotFmt>
        <c:idx val="28"/>
        <c:spPr>
          <a:solidFill>
            <a:srgbClr val="92D050"/>
          </a:solidFill>
          <a:ln>
            <a:noFill/>
          </a:ln>
          <a:effectLst/>
        </c:spPr>
      </c:pivotFmt>
      <c:pivotFmt>
        <c:idx val="29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30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rgbClr val="FF0000"/>
          </a:solidFill>
          <a:ln>
            <a:noFill/>
          </a:ln>
          <a:effectLst/>
        </c:spPr>
      </c:pivotFmt>
      <c:pivotFmt>
        <c:idx val="32"/>
        <c:spPr>
          <a:solidFill>
            <a:srgbClr val="FF0000"/>
          </a:solidFill>
          <a:ln>
            <a:noFill/>
          </a:ln>
          <a:effectLst/>
        </c:spPr>
      </c:pivotFmt>
      <c:pivotFmt>
        <c:idx val="33"/>
        <c:spPr>
          <a:solidFill>
            <a:srgbClr val="FF0000"/>
          </a:solidFill>
          <a:ln>
            <a:noFill/>
          </a:ln>
          <a:effectLst/>
        </c:spPr>
      </c:pivotFmt>
      <c:pivotFmt>
        <c:idx val="34"/>
        <c:spPr>
          <a:solidFill>
            <a:srgbClr val="FF0000"/>
          </a:solidFill>
          <a:ln>
            <a:noFill/>
          </a:ln>
          <a:effectLst/>
        </c:spPr>
      </c:pivotFmt>
      <c:pivotFmt>
        <c:idx val="35"/>
        <c:spPr>
          <a:solidFill>
            <a:srgbClr val="FF0000"/>
          </a:solidFill>
          <a:ln>
            <a:noFill/>
          </a:ln>
          <a:effectLst/>
        </c:spPr>
        <c:dLbl>
          <c:idx val="0"/>
          <c:layout>
            <c:manualLayout>
              <c:x val="2.9517782561917883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7520454456272364"/>
          <c:y val="0.18376232852270161"/>
          <c:w val="0.59238192037661186"/>
          <c:h val="0.6890001597062830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PLAYERS!$Q$3</c:f>
              <c:strCache>
                <c:ptCount val="1"/>
                <c:pt idx="0">
                  <c:v> Batting Average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22E-48A6-BEEE-8B761814227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22E-48A6-BEEE-8B761814227E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22E-48A6-BEEE-8B761814227E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22E-48A6-BEEE-8B761814227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22E-48A6-BEEE-8B761814227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PLAYERS!$P$4:$P$9</c:f>
              <c:strCache>
                <c:ptCount val="5"/>
                <c:pt idx="0">
                  <c:v>M Wright</c:v>
                </c:pt>
                <c:pt idx="1">
                  <c:v>MS Wade</c:v>
                </c:pt>
                <c:pt idx="2">
                  <c:v>Mohammad Nabi</c:v>
                </c:pt>
                <c:pt idx="3">
                  <c:v>MP Stoinis</c:v>
                </c:pt>
                <c:pt idx="4">
                  <c:v>JW Wells</c:v>
                </c:pt>
              </c:strCache>
            </c:strRef>
          </c:cat>
          <c:val>
            <c:numRef>
              <c:f>PLAYERS!$Q$4:$Q$9</c:f>
              <c:numCache>
                <c:formatCode>0;[Red]0</c:formatCode>
                <c:ptCount val="5"/>
                <c:pt idx="0">
                  <c:v>49.66</c:v>
                </c:pt>
                <c:pt idx="1">
                  <c:v>50.14</c:v>
                </c:pt>
                <c:pt idx="2">
                  <c:v>53.33</c:v>
                </c:pt>
                <c:pt idx="3">
                  <c:v>54.23</c:v>
                </c:pt>
                <c:pt idx="4">
                  <c:v>68.28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22E-48A6-BEEE-8B761814227E}"/>
            </c:ext>
          </c:extLst>
        </c:ser>
        <c:ser>
          <c:idx val="1"/>
          <c:order val="1"/>
          <c:tx>
            <c:strRef>
              <c:f>PLAYERS!$R$3</c:f>
              <c:strCache>
                <c:ptCount val="1"/>
                <c:pt idx="0">
                  <c:v> Not Outs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522E-48A6-BEEE-8B761814227E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522E-48A6-BEEE-8B761814227E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522E-48A6-BEEE-8B761814227E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522E-48A6-BEEE-8B761814227E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522E-48A6-BEEE-8B761814227E}"/>
              </c:ext>
            </c:extLst>
          </c:dPt>
          <c:dLbls>
            <c:dLbl>
              <c:idx val="4"/>
              <c:layout>
                <c:manualLayout>
                  <c:x val="2.9517782561917883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522E-48A6-BEEE-8B761814227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PLAYERS!$P$4:$P$9</c:f>
              <c:strCache>
                <c:ptCount val="5"/>
                <c:pt idx="0">
                  <c:v>M Wright</c:v>
                </c:pt>
                <c:pt idx="1">
                  <c:v>MS Wade</c:v>
                </c:pt>
                <c:pt idx="2">
                  <c:v>Mohammad Nabi</c:v>
                </c:pt>
                <c:pt idx="3">
                  <c:v>MP Stoinis</c:v>
                </c:pt>
                <c:pt idx="4">
                  <c:v>JW Wells</c:v>
                </c:pt>
              </c:strCache>
            </c:strRef>
          </c:cat>
          <c:val>
            <c:numRef>
              <c:f>PLAYERS!$R$4:$R$9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4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522E-48A6-BEEE-8B761814227E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23505872"/>
        <c:axId val="1223506832"/>
      </c:barChart>
      <c:catAx>
        <c:axId val="122350587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Players</a:t>
                </a:r>
                <a:endParaRPr lang="en-IN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c:rich>
          </c:tx>
          <c:layout>
            <c:manualLayout>
              <c:xMode val="edge"/>
              <c:yMode val="edge"/>
              <c:x val="9.5341731881060612E-2"/>
              <c:y val="0.472131011078623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3506832"/>
        <c:crosses val="autoZero"/>
        <c:auto val="1"/>
        <c:lblAlgn val="ctr"/>
        <c:lblOffset val="100"/>
        <c:noMultiLvlLbl val="0"/>
      </c:catAx>
      <c:valAx>
        <c:axId val="1223506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Batting Average and Not Outs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;[Red]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3505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2">
            <a:lumMod val="5000"/>
            <a:lumOff val="95000"/>
          </a:schemeClr>
        </a:gs>
        <a:gs pos="74000">
          <a:schemeClr val="accent2">
            <a:lumMod val="45000"/>
            <a:lumOff val="55000"/>
          </a:schemeClr>
        </a:gs>
        <a:gs pos="83000">
          <a:schemeClr val="accent2">
            <a:lumMod val="45000"/>
            <a:lumOff val="55000"/>
          </a:schemeClr>
        </a:gs>
        <a:gs pos="100000">
          <a:schemeClr val="accent2">
            <a:lumMod val="30000"/>
            <a:lumOff val="70000"/>
          </a:schemeClr>
        </a:gs>
      </a:gsLst>
      <a:lin ang="5400000" scaled="1"/>
      <a:tileRect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[BBL_2019-2020_Batting (1).xlsx] Players!PivotTable1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400" b="1" dirty="0"/>
              <a:t>Top Performers: Stike Rate &amp; Average</a:t>
            </a:r>
          </a:p>
        </c:rich>
      </c:tx>
      <c:layout>
        <c:manualLayout>
          <c:xMode val="edge"/>
          <c:yMode val="edge"/>
          <c:x val="0.29303420275590553"/>
          <c:y val="1.85858874715308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0000"/>
          </a:solidFill>
          <a:ln>
            <a:noFill/>
          </a:ln>
          <a:effectLst/>
        </c:spPr>
        <c:dLbl>
          <c:idx val="0"/>
          <c:layout>
            <c:manualLayout>
              <c:x val="-1.7847769028871516E-2"/>
              <c:y val="-5.0840603293257874E-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2">
              <a:lumMod val="2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1.4437558895401766E-2"/>
              <c:y val="-1.109262340543538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30A0"/>
          </a:solidFill>
          <a:ln>
            <a:noFill/>
          </a:ln>
          <a:effectLst/>
        </c:spPr>
        <c:dLbl>
          <c:idx val="0"/>
          <c:layout>
            <c:manualLayout>
              <c:x val="-2.6540064844835697E-2"/>
              <c:y val="5.546311702717590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2.3345205581553827E-3"/>
              <c:y val="-1.0168120658651575E-1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1.5593106642602737E-2"/>
              <c:y val="-5.0840603293257874E-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2.3345205581553827E-3"/>
              <c:y val="-1.0168120658651575E-1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7030A0"/>
          </a:solidFill>
          <a:ln>
            <a:noFill/>
          </a:ln>
          <a:effectLst/>
        </c:spPr>
        <c:dLbl>
          <c:idx val="0"/>
          <c:layout>
            <c:manualLayout>
              <c:x val="-2.6540064844835697E-2"/>
              <c:y val="5.546311702717590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bg2">
              <a:lumMod val="2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1.4437558895401766E-2"/>
              <c:y val="-1.109262340543538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1.5593106642602737E-2"/>
              <c:y val="-5.0840603293257874E-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FF0000"/>
          </a:solidFill>
          <a:ln>
            <a:noFill/>
          </a:ln>
          <a:effectLst/>
        </c:spPr>
        <c:dLbl>
          <c:idx val="0"/>
          <c:layout>
            <c:manualLayout>
              <c:x val="-1.7847769028871516E-2"/>
              <c:y val="-5.0840603293257874E-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2.3345205581553827E-3"/>
              <c:y val="-1.0168120658651575E-1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rgbClr val="7030A0"/>
          </a:solidFill>
          <a:ln>
            <a:noFill/>
          </a:ln>
          <a:effectLst/>
        </c:spPr>
        <c:dLbl>
          <c:idx val="0"/>
          <c:layout>
            <c:manualLayout>
              <c:x val="-2.6540064844835697E-2"/>
              <c:y val="5.546311702717590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bg2">
              <a:lumMod val="2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-1.4437558895401766E-2"/>
              <c:y val="-1.109262340543538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dLbl>
          <c:idx val="0"/>
          <c:layout>
            <c:manualLayout>
              <c:x val="1.5593106642602737E-2"/>
              <c:y val="-5.0840603293257874E-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rgbClr val="FF0000"/>
          </a:solidFill>
          <a:ln>
            <a:noFill/>
          </a:ln>
          <a:effectLst/>
        </c:spPr>
        <c:dLbl>
          <c:idx val="0"/>
          <c:layout>
            <c:manualLayout>
              <c:x val="-1.7847769028871516E-2"/>
              <c:y val="-5.0840603293257874E-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0808907480314957"/>
          <c:y val="0.12356122271812733"/>
          <c:w val="0.57741920931758539"/>
          <c:h val="0.7623936555922095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 Players'!$C$1</c:f>
              <c:strCache>
                <c:ptCount val="1"/>
                <c:pt idx="0">
                  <c:v> Strike Rate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4E0-401E-9FC5-E04F5518C2CB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4E0-401E-9FC5-E04F5518C2CB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4E0-401E-9FC5-E04F5518C2CB}"/>
              </c:ext>
            </c:extLst>
          </c:dPt>
          <c:dPt>
            <c:idx val="3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4E0-401E-9FC5-E04F5518C2CB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4E0-401E-9FC5-E04F5518C2C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 Players'!$B$2:$B$7</c:f>
              <c:strCache>
                <c:ptCount val="5"/>
                <c:pt idx="0">
                  <c:v>M Wright</c:v>
                </c:pt>
                <c:pt idx="1">
                  <c:v>JW Wells</c:v>
                </c:pt>
                <c:pt idx="2">
                  <c:v>MP Stoinis</c:v>
                </c:pt>
                <c:pt idx="3">
                  <c:v>Mohammad Nabi</c:v>
                </c:pt>
                <c:pt idx="4">
                  <c:v>MS Wade</c:v>
                </c:pt>
              </c:strCache>
            </c:strRef>
          </c:cat>
          <c:val>
            <c:numRef>
              <c:f>' Players'!$C$2:$C$7</c:f>
              <c:numCache>
                <c:formatCode>0</c:formatCode>
                <c:ptCount val="5"/>
                <c:pt idx="0">
                  <c:v>125.21</c:v>
                </c:pt>
                <c:pt idx="1">
                  <c:v>135.41</c:v>
                </c:pt>
                <c:pt idx="2">
                  <c:v>136.62</c:v>
                </c:pt>
                <c:pt idx="3">
                  <c:v>160</c:v>
                </c:pt>
                <c:pt idx="4">
                  <c:v>171.21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4E0-401E-9FC5-E04F5518C2CB}"/>
            </c:ext>
          </c:extLst>
        </c:ser>
        <c:ser>
          <c:idx val="1"/>
          <c:order val="1"/>
          <c:tx>
            <c:strRef>
              <c:f>' Players'!$D$1</c:f>
              <c:strCache>
                <c:ptCount val="1"/>
                <c:pt idx="0">
                  <c:v> Batting Average</c:v>
                </c:pt>
              </c:strCache>
            </c:strRef>
          </c:tx>
          <c:spPr>
            <a:solidFill>
              <a:srgbClr val="4472C4">
                <a:lumMod val="40000"/>
                <a:lumOff val="6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4E0-401E-9FC5-E04F5518C2C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24E0-401E-9FC5-E04F5518C2C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24E0-401E-9FC5-E04F5518C2C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24E0-401E-9FC5-E04F5518C2C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24E0-401E-9FC5-E04F5518C2C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 Players'!$B$2:$B$7</c:f>
              <c:strCache>
                <c:ptCount val="5"/>
                <c:pt idx="0">
                  <c:v>M Wright</c:v>
                </c:pt>
                <c:pt idx="1">
                  <c:v>JW Wells</c:v>
                </c:pt>
                <c:pt idx="2">
                  <c:v>MP Stoinis</c:v>
                </c:pt>
                <c:pt idx="3">
                  <c:v>Mohammad Nabi</c:v>
                </c:pt>
                <c:pt idx="4">
                  <c:v>MS Wade</c:v>
                </c:pt>
              </c:strCache>
            </c:strRef>
          </c:cat>
          <c:val>
            <c:numRef>
              <c:f>' Players'!$D$2:$D$7</c:f>
              <c:numCache>
                <c:formatCode>0;[Red]0</c:formatCode>
                <c:ptCount val="5"/>
                <c:pt idx="0">
                  <c:v>49.66</c:v>
                </c:pt>
                <c:pt idx="1">
                  <c:v>68.28</c:v>
                </c:pt>
                <c:pt idx="2">
                  <c:v>54.23</c:v>
                </c:pt>
                <c:pt idx="3">
                  <c:v>53.33</c:v>
                </c:pt>
                <c:pt idx="4">
                  <c:v>50.14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4E0-401E-9FC5-E04F5518C2C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68684064"/>
        <c:axId val="2068693184"/>
      </c:barChart>
      <c:catAx>
        <c:axId val="206868406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b="1"/>
                  <a:t>Players</a:t>
                </a:r>
                <a:endParaRPr lang="en-IN" sz="1800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8693184"/>
        <c:crosses val="autoZero"/>
        <c:auto val="1"/>
        <c:lblAlgn val="ctr"/>
        <c:lblOffset val="100"/>
        <c:noMultiLvlLbl val="0"/>
      </c:catAx>
      <c:valAx>
        <c:axId val="20686931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/>
                  <a:t>Stike Rate And Bating Average</a:t>
                </a:r>
                <a:endParaRPr lang="en-IN" sz="1600" b="1" dirty="0"/>
              </a:p>
            </c:rich>
          </c:tx>
          <c:layout>
            <c:manualLayout>
              <c:xMode val="edge"/>
              <c:yMode val="edge"/>
              <c:x val="0.32833582820339158"/>
              <c:y val="0.9392589168925464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8684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2.6200135226504394E-2"/>
          <c:y val="0.62088120848454675"/>
          <c:w val="0.1847257936571316"/>
          <c:h val="0.362061917801040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4">
            <a:lumMod val="5000"/>
            <a:lumOff val="95000"/>
          </a:schemeClr>
        </a:gs>
        <a:gs pos="74000">
          <a:schemeClr val="accent4">
            <a:lumMod val="45000"/>
            <a:lumOff val="55000"/>
          </a:schemeClr>
        </a:gs>
        <a:gs pos="83000">
          <a:schemeClr val="accent4">
            <a:lumMod val="45000"/>
            <a:lumOff val="55000"/>
          </a:schemeClr>
        </a:gs>
        <a:gs pos="100000">
          <a:schemeClr val="accent4">
            <a:lumMod val="30000"/>
            <a:lumOff val="70000"/>
          </a:schemeClr>
        </a:gs>
      </a:gsLst>
      <a:lin ang="5400000" scaled="1"/>
      <a:tileRect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200"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[BBL_2019-2020_Batting final.xlsx] Players!PivotTable2</c:name>
    <c:fmtId val="3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400" b="1" i="0" u="none" strike="noStrike" baseline="0" dirty="0"/>
              <a:t>Most Consistent Players</a:t>
            </a:r>
            <a:endParaRPr lang="en-IN" sz="24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9444444444444445E-2"/>
              <c:y val="-8.4875562720133283E-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3.6111111111111108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3.3333333333333333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4.1666666666666664E-2"/>
              <c:y val="-8.4875562720133283E-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/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1.9444444444444445E-2"/>
              <c:y val="1.388888888888888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1.8222222222222216E-2"/>
                  <c:h val="8.3264071157771929E-2"/>
                </c:manualLayout>
              </c15:layout>
            </c:ext>
          </c:extLst>
        </c:dLbl>
      </c:pivotFmt>
      <c:pivotFmt>
        <c:idx val="11"/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</c:pivotFmt>
      <c:pivotFmt>
        <c:idx val="17"/>
        <c:spPr>
          <a:solidFill>
            <a:schemeClr val="accent6"/>
          </a:solidFill>
          <a:ln>
            <a:noFill/>
          </a:ln>
          <a:effectLst/>
        </c:spPr>
      </c:pivotFmt>
      <c:pivotFmt>
        <c:idx val="18"/>
        <c:spPr>
          <a:solidFill>
            <a:schemeClr val="accent6"/>
          </a:solidFill>
          <a:ln>
            <a:noFill/>
          </a:ln>
          <a:effectLst/>
        </c:spPr>
      </c:pivotFmt>
      <c:pivotFmt>
        <c:idx val="19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20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21"/>
        <c:spPr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22"/>
        <c:spPr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c:spPr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25"/>
        <c:spPr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c:spPr>
      </c:pivotFmt>
      <c:pivotFmt>
        <c:idx val="26"/>
        <c:spPr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27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28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2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6"/>
          </a:solidFill>
          <a:ln>
            <a:noFill/>
          </a:ln>
          <a:effectLst/>
        </c:spPr>
      </c:pivotFmt>
      <c:pivotFmt>
        <c:idx val="32"/>
        <c:spPr>
          <a:solidFill>
            <a:schemeClr val="accent6"/>
          </a:solidFill>
          <a:ln>
            <a:noFill/>
          </a:ln>
          <a:effectLst/>
        </c:spPr>
      </c:pivotFmt>
      <c:pivotFmt>
        <c:idx val="33"/>
        <c:spPr>
          <a:solidFill>
            <a:schemeClr val="accent6"/>
          </a:solidFill>
          <a:ln>
            <a:noFill/>
          </a:ln>
          <a:effectLst/>
        </c:spPr>
      </c:pivotFmt>
      <c:pivotFmt>
        <c:idx val="34"/>
        <c:spPr>
          <a:solidFill>
            <a:schemeClr val="accent6"/>
          </a:solidFill>
          <a:ln>
            <a:noFill/>
          </a:ln>
          <a:effectLst/>
        </c:spPr>
      </c:pivotFmt>
      <c:pivotFmt>
        <c:idx val="35"/>
        <c:spPr>
          <a:solidFill>
            <a:schemeClr val="accent6"/>
          </a:solidFill>
          <a:ln>
            <a:noFill/>
          </a:ln>
          <a:effectLst/>
        </c:spPr>
      </c:pivotFmt>
      <c:pivotFmt>
        <c:idx val="3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38"/>
        <c:spPr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c:spPr>
      </c:pivotFmt>
      <c:pivotFmt>
        <c:idx val="39"/>
        <c:spPr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40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41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c:spPr>
      </c:pivotFmt>
      <c:pivotFmt>
        <c:idx val="4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6"/>
          </a:solidFill>
          <a:ln>
            <a:noFill/>
          </a:ln>
          <a:effectLst/>
        </c:spPr>
      </c:pivotFmt>
      <c:pivotFmt>
        <c:idx val="45"/>
        <c:spPr>
          <a:solidFill>
            <a:schemeClr val="accent6"/>
          </a:solidFill>
          <a:ln>
            <a:noFill/>
          </a:ln>
          <a:effectLst/>
        </c:spPr>
      </c:pivotFmt>
      <c:pivotFmt>
        <c:idx val="46"/>
        <c:spPr>
          <a:solidFill>
            <a:schemeClr val="accent6"/>
          </a:solidFill>
          <a:ln>
            <a:noFill/>
          </a:ln>
          <a:effectLst/>
        </c:spPr>
      </c:pivotFmt>
      <c:pivotFmt>
        <c:idx val="47"/>
        <c:spPr>
          <a:solidFill>
            <a:schemeClr val="accent6"/>
          </a:solidFill>
          <a:ln>
            <a:noFill/>
          </a:ln>
          <a:effectLst/>
        </c:spPr>
      </c:pivotFmt>
      <c:pivotFmt>
        <c:idx val="48"/>
        <c:spPr>
          <a:solidFill>
            <a:schemeClr val="accent6"/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9900009804808882"/>
          <c:y val="0.16958747755214809"/>
          <c:w val="0.59378582526322143"/>
          <c:h val="0.564426486162913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 Players'!$K$2</c:f>
              <c:strCache>
                <c:ptCount val="1"/>
                <c:pt idx="0">
                  <c:v> Innings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C609-4B14-9B4C-47D39082200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C35-4481-8012-19DEA4B5C092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C35-4481-8012-19DEA4B5C09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C35-4481-8012-19DEA4B5C092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C35-4481-8012-19DEA4B5C092}"/>
              </c:ext>
            </c:extLst>
          </c:dPt>
          <c:dPt>
            <c:idx val="6"/>
            <c:invertIfNegative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C35-4481-8012-19DEA4B5C09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 Players'!$J$3:$J$10</c:f>
              <c:strCache>
                <c:ptCount val="7"/>
                <c:pt idx="0">
                  <c:v>AD Hales</c:v>
                </c:pt>
                <c:pt idx="1">
                  <c:v>MP Stoinis</c:v>
                </c:pt>
                <c:pt idx="2">
                  <c:v>JR Philippe</c:v>
                </c:pt>
                <c:pt idx="3">
                  <c:v>PD Salt</c:v>
                </c:pt>
                <c:pt idx="4">
                  <c:v>JP Inglis</c:v>
                </c:pt>
                <c:pt idx="5">
                  <c:v>LS Livingstone</c:v>
                </c:pt>
                <c:pt idx="6">
                  <c:v>JW Wells</c:v>
                </c:pt>
              </c:strCache>
            </c:strRef>
          </c:cat>
          <c:val>
            <c:numRef>
              <c:f>' Players'!$K$3:$K$10</c:f>
              <c:numCache>
                <c:formatCode>General</c:formatCode>
                <c:ptCount val="7"/>
                <c:pt idx="0">
                  <c:v>17</c:v>
                </c:pt>
                <c:pt idx="1">
                  <c:v>17</c:v>
                </c:pt>
                <c:pt idx="2">
                  <c:v>16</c:v>
                </c:pt>
                <c:pt idx="3">
                  <c:v>15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C35-4481-8012-19DEA4B5C092}"/>
            </c:ext>
          </c:extLst>
        </c:ser>
        <c:ser>
          <c:idx val="1"/>
          <c:order val="1"/>
          <c:tx>
            <c:strRef>
              <c:f>' Players'!$L$2</c:f>
              <c:strCache>
                <c:ptCount val="1"/>
                <c:pt idx="0">
                  <c:v> 50's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 Players'!$J$3:$J$10</c:f>
              <c:strCache>
                <c:ptCount val="7"/>
                <c:pt idx="0">
                  <c:v>AD Hales</c:v>
                </c:pt>
                <c:pt idx="1">
                  <c:v>MP Stoinis</c:v>
                </c:pt>
                <c:pt idx="2">
                  <c:v>JR Philippe</c:v>
                </c:pt>
                <c:pt idx="3">
                  <c:v>PD Salt</c:v>
                </c:pt>
                <c:pt idx="4">
                  <c:v>JP Inglis</c:v>
                </c:pt>
                <c:pt idx="5">
                  <c:v>LS Livingstone</c:v>
                </c:pt>
                <c:pt idx="6">
                  <c:v>JW Wells</c:v>
                </c:pt>
              </c:strCache>
            </c:strRef>
          </c:cat>
          <c:val>
            <c:numRef>
              <c:f>' Players'!$L$3:$L$10</c:f>
              <c:numCache>
                <c:formatCode>0;[Red]0</c:formatCode>
                <c:ptCount val="7"/>
                <c:pt idx="0">
                  <c:v>6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4C35-4481-8012-19DEA4B5C092}"/>
            </c:ext>
          </c:extLst>
        </c:ser>
        <c:ser>
          <c:idx val="2"/>
          <c:order val="2"/>
          <c:tx>
            <c:strRef>
              <c:f>' Players'!$M$2</c:f>
              <c:strCache>
                <c:ptCount val="1"/>
                <c:pt idx="0">
                  <c:v>Count of 100's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C35-4481-8012-19DEA4B5C09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C35-4481-8012-19DEA4B5C09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4C35-4481-8012-19DEA4B5C09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4C35-4481-8012-19DEA4B5C09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4C35-4481-8012-19DEA4B5C09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4C35-4481-8012-19DEA4B5C092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4C35-4481-8012-19DEA4B5C09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8-4C35-4481-8012-19DEA4B5C092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4C35-4481-8012-19DEA4B5C092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A-4C35-4481-8012-19DEA4B5C09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 Players'!$J$3:$J$10</c:f>
              <c:strCache>
                <c:ptCount val="7"/>
                <c:pt idx="0">
                  <c:v>AD Hales</c:v>
                </c:pt>
                <c:pt idx="1">
                  <c:v>MP Stoinis</c:v>
                </c:pt>
                <c:pt idx="2">
                  <c:v>JR Philippe</c:v>
                </c:pt>
                <c:pt idx="3">
                  <c:v>PD Salt</c:v>
                </c:pt>
                <c:pt idx="4">
                  <c:v>JP Inglis</c:v>
                </c:pt>
                <c:pt idx="5">
                  <c:v>LS Livingstone</c:v>
                </c:pt>
                <c:pt idx="6">
                  <c:v>JW Wells</c:v>
                </c:pt>
              </c:strCache>
            </c:strRef>
          </c:cat>
          <c:val>
            <c:numRef>
              <c:f>' Players'!$M$3:$M$10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4C35-4481-8012-19DEA4B5C09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8"/>
        <c:overlap val="100"/>
        <c:axId val="2068697984"/>
        <c:axId val="2068697024"/>
      </c:barChart>
      <c:catAx>
        <c:axId val="20686979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Players</a:t>
                </a:r>
              </a:p>
            </c:rich>
          </c:tx>
          <c:layout>
            <c:manualLayout>
              <c:xMode val="edge"/>
              <c:yMode val="edge"/>
              <c:x val="0.46151017060367455"/>
              <c:y val="0.893133264050034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8697024"/>
        <c:crosses val="autoZero"/>
        <c:auto val="1"/>
        <c:lblAlgn val="ctr"/>
        <c:lblOffset val="100"/>
        <c:noMultiLvlLbl val="0"/>
      </c:catAx>
      <c:valAx>
        <c:axId val="2068697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Innings</a:t>
                </a:r>
                <a:r>
                  <a:rPr lang="en-IN" sz="1600" b="1" baseline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50's and 100's</a:t>
                </a:r>
                <a:endParaRPr lang="en-IN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c:rich>
          </c:tx>
          <c:layout>
            <c:manualLayout>
              <c:xMode val="edge"/>
              <c:yMode val="edge"/>
              <c:x val="9.8756151574803164E-2"/>
              <c:y val="0.2120880328748150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8697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[BBL_2019-2020_Batting (1).xlsx]TEAM!PivotTable5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400" b="1" dirty="0"/>
              <a:t>Top 2 Players Contributions for</a:t>
            </a:r>
            <a:r>
              <a:rPr lang="en-IN" sz="2400" b="1" baseline="0" dirty="0"/>
              <a:t> their teams </a:t>
            </a:r>
            <a:endParaRPr lang="en-IN" sz="2400" b="1" dirty="0"/>
          </a:p>
        </c:rich>
      </c:tx>
      <c:layout>
        <c:manualLayout>
          <c:xMode val="edge"/>
          <c:yMode val="edge"/>
          <c:x val="0.20880555555555555"/>
          <c:y val="5.91644794400699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4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5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7"/>
        <c:spPr>
          <a:solidFill>
            <a:schemeClr val="bg2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8"/>
        <c:spPr>
          <a:solidFill>
            <a:schemeClr val="bg2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bg2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1"/>
        <c:spPr>
          <a:solidFill>
            <a:schemeClr val="bg2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2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3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4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5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6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7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bg2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0"/>
        <c:spPr>
          <a:solidFill>
            <a:schemeClr val="bg2">
              <a:lumMod val="5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1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2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3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4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5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6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3758576115485564"/>
          <c:y val="0.17319010520992059"/>
          <c:w val="0.45544119319525217"/>
          <c:h val="0.7240402033893248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TEAM!$J$2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E12-44DC-9A41-32F1AB9BC83F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E12-44DC-9A41-32F1AB9BC83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2E12-44DC-9A41-32F1AB9BC83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2E12-44DC-9A41-32F1AB9BC83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2E12-44DC-9A41-32F1AB9BC83F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2E12-44DC-9A41-32F1AB9BC83F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2E12-44DC-9A41-32F1AB9BC83F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2E12-44DC-9A41-32F1AB9BC83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TEAM!$I$3:$I$18</c:f>
              <c:multiLvlStrCache>
                <c:ptCount val="10"/>
                <c:lvl>
                  <c:pt idx="0">
                    <c:v>DJM Short</c:v>
                  </c:pt>
                  <c:pt idx="1">
                    <c:v>LS Livingstone</c:v>
                  </c:pt>
                  <c:pt idx="2">
                    <c:v>NCR Larkin</c:v>
                  </c:pt>
                  <c:pt idx="3">
                    <c:v>JR Philippe</c:v>
                  </c:pt>
                  <c:pt idx="4">
                    <c:v>J Weatherald</c:v>
                  </c:pt>
                  <c:pt idx="5">
                    <c:v>SE Marsh</c:v>
                  </c:pt>
                  <c:pt idx="6">
                    <c:v>JW Wells</c:v>
                  </c:pt>
                  <c:pt idx="7">
                    <c:v>AD Hales</c:v>
                  </c:pt>
                  <c:pt idx="8">
                    <c:v>AT Carey</c:v>
                  </c:pt>
                  <c:pt idx="9">
                    <c:v>MP Stoinis</c:v>
                  </c:pt>
                </c:lvl>
                <c:lvl>
                  <c:pt idx="0">
                    <c:v>Scorchers</c:v>
                  </c:pt>
                  <c:pt idx="2">
                    <c:v>Renegades</c:v>
                  </c:pt>
                  <c:pt idx="4">
                    <c:v>Heat</c:v>
                  </c:pt>
                  <c:pt idx="6">
                    <c:v>Hurricanes</c:v>
                  </c:pt>
                  <c:pt idx="8">
                    <c:v>Stars</c:v>
                  </c:pt>
                </c:lvl>
              </c:multiLvlStrCache>
            </c:multiLvlStrRef>
          </c:cat>
          <c:val>
            <c:numRef>
              <c:f>TEAM!$J$3:$J$18</c:f>
              <c:numCache>
                <c:formatCode>General</c:formatCode>
                <c:ptCount val="10"/>
                <c:pt idx="0">
                  <c:v>357</c:v>
                </c:pt>
                <c:pt idx="1">
                  <c:v>425</c:v>
                </c:pt>
                <c:pt idx="2">
                  <c:v>297</c:v>
                </c:pt>
                <c:pt idx="3">
                  <c:v>487</c:v>
                </c:pt>
                <c:pt idx="4">
                  <c:v>407</c:v>
                </c:pt>
                <c:pt idx="5">
                  <c:v>449</c:v>
                </c:pt>
                <c:pt idx="6">
                  <c:v>478</c:v>
                </c:pt>
                <c:pt idx="7">
                  <c:v>576</c:v>
                </c:pt>
                <c:pt idx="8">
                  <c:v>391</c:v>
                </c:pt>
                <c:pt idx="9">
                  <c:v>705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E12-44DC-9A41-32F1AB9BC83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057102192"/>
        <c:axId val="1057103152"/>
      </c:barChart>
      <c:catAx>
        <c:axId val="10571021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b="1" baseline="0" dirty="0">
                    <a:latin typeface="Arial" panose="020B0604020202020204" pitchFamily="34" charset="0"/>
                    <a:cs typeface="Arial" panose="020B0604020202020204" pitchFamily="34" charset="0"/>
                  </a:rPr>
                  <a:t>Players &amp; Their Teams</a:t>
                </a:r>
                <a:endParaRPr lang="en-IN" sz="2000" b="1" baseline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c:rich>
          </c:tx>
          <c:layout>
            <c:manualLayout>
              <c:xMode val="edge"/>
              <c:yMode val="edge"/>
              <c:x val="0.11714742755875068"/>
              <c:y val="0.1978301160660772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7103152"/>
        <c:crosses val="autoZero"/>
        <c:auto val="1"/>
        <c:lblAlgn val="ctr"/>
        <c:lblOffset val="100"/>
        <c:noMultiLvlLbl val="0"/>
      </c:catAx>
      <c:valAx>
        <c:axId val="1057103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Total Runs</a:t>
                </a:r>
                <a:endParaRPr lang="en-IN" b="1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7102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1">
            <a:lumMod val="0"/>
            <a:lumOff val="100000"/>
          </a:schemeClr>
        </a:gs>
        <a:gs pos="35000">
          <a:schemeClr val="accent1">
            <a:lumMod val="0"/>
            <a:lumOff val="100000"/>
          </a:schemeClr>
        </a:gs>
        <a:gs pos="100000">
          <a:schemeClr val="accent1">
            <a:lumMod val="100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[Chart in Microsoft PowerPoint]TEAM!PivotTable6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IN" sz="2400" b="1" dirty="0"/>
              <a:t>Team-wise Average Strike Rate</a:t>
            </a:r>
          </a:p>
        </c:rich>
      </c:tx>
      <c:layout>
        <c:manualLayout>
          <c:xMode val="edge"/>
          <c:yMode val="edge"/>
          <c:x val="0.19595251027607985"/>
          <c:y val="3.70810224652308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0.11784511784511785"/>
              <c:y val="-0.13819095477386931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2626262626262616"/>
              <c:y val="-1.675041876046901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0.13748597081930417"/>
              <c:y val="9.6314907872696823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3187429854096522"/>
              <c:y val="-0.14237855946398659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0381593714927038"/>
              <c:y val="9.2127303182579418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3187429854096522"/>
              <c:y val="-0.14237855946398659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2626262626262616"/>
              <c:y val="-1.675041876046901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0381593714927038"/>
              <c:y val="9.2127303182579418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0.13748597081930417"/>
              <c:y val="9.6314907872696823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0.11784511784511785"/>
              <c:y val="-0.13819095477386931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3187429854096522"/>
              <c:y val="-0.14237855946398659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2626262626262616"/>
              <c:y val="-1.675041876046901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.10381593714927038"/>
              <c:y val="9.2127303182579418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0.13748597081930417"/>
              <c:y val="9.6314907872696823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0.11784511784511785"/>
              <c:y val="-0.13819095477386931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3.1048053660421081E-2"/>
          <c:y val="0.14317851658775646"/>
          <c:w val="0.87710111497478338"/>
          <c:h val="0.699823577514652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TEAM!$N$2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BD8-46F3-86B7-7F96BB8B6522}"/>
              </c:ext>
            </c:extLst>
          </c:dPt>
          <c:dPt>
            <c:idx val="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BD8-46F3-86B7-7F96BB8B6522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BD8-46F3-86B7-7F96BB8B652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6BD8-46F3-86B7-7F96BB8B6522}"/>
              </c:ext>
            </c:extLst>
          </c:dPt>
          <c:dPt>
            <c:idx val="4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4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6BD8-46F3-86B7-7F96BB8B652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TEAM!$M$3:$M$8</c:f>
              <c:strCache>
                <c:ptCount val="5"/>
                <c:pt idx="0">
                  <c:v>Hurricanes</c:v>
                </c:pt>
                <c:pt idx="1">
                  <c:v>Scorchers</c:v>
                </c:pt>
                <c:pt idx="2">
                  <c:v>Stars</c:v>
                </c:pt>
                <c:pt idx="3">
                  <c:v>Renegades</c:v>
                </c:pt>
                <c:pt idx="4">
                  <c:v>Strikers</c:v>
                </c:pt>
              </c:strCache>
            </c:strRef>
          </c:cat>
          <c:val>
            <c:numRef>
              <c:f>TEAM!$N$3:$N$8</c:f>
              <c:numCache>
                <c:formatCode>0;[Red]0</c:formatCode>
                <c:ptCount val="5"/>
                <c:pt idx="0">
                  <c:v>135.81571428571431</c:v>
                </c:pt>
                <c:pt idx="1">
                  <c:v>136.85600000000002</c:v>
                </c:pt>
                <c:pt idx="2">
                  <c:v>141.03500000000003</c:v>
                </c:pt>
                <c:pt idx="3">
                  <c:v>142.04</c:v>
                </c:pt>
                <c:pt idx="4">
                  <c:v>145.59200000000001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BD8-46F3-86B7-7F96BB8B652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569954751"/>
        <c:axId val="569957151"/>
      </c:barChart>
      <c:catAx>
        <c:axId val="5699547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Team</a:t>
                </a:r>
                <a:endParaRPr lang="en-IN" sz="1800" dirty="0"/>
              </a:p>
            </c:rich>
          </c:tx>
          <c:layout>
            <c:manualLayout>
              <c:xMode val="edge"/>
              <c:yMode val="edge"/>
              <c:x val="0.53129391410697779"/>
              <c:y val="0.9213455333462804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9957151"/>
        <c:crosses val="autoZero"/>
        <c:auto val="1"/>
        <c:lblAlgn val="ctr"/>
        <c:lblOffset val="100"/>
        <c:noMultiLvlLbl val="0"/>
      </c:catAx>
      <c:valAx>
        <c:axId val="569957151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/>
                  <a:t>Stike Rate</a:t>
                </a:r>
                <a:endParaRPr lang="en-IN" sz="18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;[Red]0" sourceLinked="1"/>
        <c:majorTickMark val="none"/>
        <c:minorTickMark val="none"/>
        <c:tickLblPos val="nextTo"/>
        <c:crossAx val="569954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40000"/>
        <a:lumOff val="60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[BBL_2019-2020_Batting (1).xlsx]Team !PivotTable7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000" b="1" dirty="0"/>
              <a:t>Team-wise contributions of Half-Centuries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harsh" dir="t">
              <a:rot lat="0" lon="0" rev="3000000"/>
            </a:lightRig>
          </a:scene3d>
          <a:sp3d>
            <a:bevelT w="82550" h="44450" prst="angle"/>
            <a:bevelB w="82550" h="44450" prst="angle"/>
            <a:contourClr>
              <a:srgbClr val="000000"/>
            </a:contourClr>
          </a:sp3d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harsh" dir="t">
              <a:rot lat="0" lon="0" rev="3000000"/>
            </a:lightRig>
          </a:scene3d>
          <a:sp3d>
            <a:bevelT w="82550" h="44450" prst="angle"/>
            <a:bevelB w="82550" h="44450" prst="angle"/>
            <a:contourClr>
              <a:srgbClr val="000000"/>
            </a:contourClr>
          </a:sp3d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harsh" dir="t">
              <a:rot lat="0" lon="0" rev="3000000"/>
            </a:lightRig>
          </a:scene3d>
          <a:sp3d>
            <a:bevelT w="82550" h="44450" prst="angle"/>
            <a:bevelB w="82550" h="44450" prst="angle"/>
            <a:contourClr>
              <a:srgbClr val="000000"/>
            </a:contourClr>
          </a:sp3d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/>
            <a:lightRig rig="threePt" dir="t"/>
          </a:scene3d>
          <a:sp3d>
            <a:bevelT w="190500" h="38100"/>
          </a:sp3d>
        </c:spPr>
      </c:pivotFmt>
    </c:pivotFmts>
    <c:plotArea>
      <c:layout/>
      <c:pieChart>
        <c:varyColors val="1"/>
        <c:ser>
          <c:idx val="0"/>
          <c:order val="0"/>
          <c:tx>
            <c:strRef>
              <c:f>'Team '!$K$2</c:f>
              <c:strCache>
                <c:ptCount val="1"/>
                <c:pt idx="0">
                  <c:v>Total</c:v>
                </c:pt>
              </c:strCache>
            </c:strRef>
          </c:tx>
          <c:spPr>
            <a:ln>
              <a:solidFill>
                <a:schemeClr val="tx2">
                  <a:lumMod val="50000"/>
                </a:schemeClr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tx2">
                    <a:lumMod val="50000"/>
                  </a:schemeClr>
                </a:solidFill>
              </a:ln>
              <a:effectLst>
                <a:innerShdw blurRad="63500" dist="50800" dir="27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4E1B-45E7-ABDC-8117FC6A0FD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2">
                    <a:lumMod val="50000"/>
                  </a:schemeClr>
                </a:solidFill>
              </a:ln>
              <a:effectLst>
                <a:innerShdw blurRad="63500" dist="50800" dir="27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4E1B-45E7-ABDC-8117FC6A0FD5}"/>
              </c:ext>
            </c:extLst>
          </c:dPt>
          <c:dPt>
            <c:idx val="2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tx2">
                    <a:lumMod val="50000"/>
                  </a:schemeClr>
                </a:solidFill>
              </a:ln>
              <a:effectLst>
                <a:innerShdw blurRad="63500" dist="50800" dir="27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4E1B-45E7-ABDC-8117FC6A0FD5}"/>
              </c:ext>
            </c:extLst>
          </c:dPt>
          <c:dPt>
            <c:idx val="3"/>
            <c:bubble3D val="0"/>
            <c:spPr>
              <a:solidFill>
                <a:srgbClr val="FFFF00"/>
              </a:solidFill>
              <a:ln w="19050">
                <a:solidFill>
                  <a:schemeClr val="tx2">
                    <a:lumMod val="50000"/>
                  </a:schemeClr>
                </a:solidFill>
              </a:ln>
              <a:effectLst>
                <a:innerShdw blurRad="63500" dist="50800" dir="27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7-4E1B-45E7-ABDC-8117FC6A0FD5}"/>
              </c:ext>
            </c:extLst>
          </c:dPt>
          <c:dPt>
            <c:idx val="4"/>
            <c:bubble3D val="0"/>
            <c:spPr>
              <a:solidFill>
                <a:srgbClr val="C00000"/>
              </a:solidFill>
              <a:ln w="19050">
                <a:solidFill>
                  <a:schemeClr val="tx2">
                    <a:lumMod val="50000"/>
                  </a:schemeClr>
                </a:solidFill>
              </a:ln>
              <a:effectLst>
                <a:innerShdw blurRad="63500" dist="50800" dir="27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9-4E1B-45E7-ABDC-8117FC6A0FD5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tx2">
                    <a:lumMod val="50000"/>
                  </a:schemeClr>
                </a:solidFill>
              </a:ln>
              <a:effectLst>
                <a:innerShdw blurRad="63500" dist="50800" dir="27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B-4E1B-45E7-ABDC-8117FC6A0FD5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tx2">
                    <a:lumMod val="50000"/>
                  </a:schemeClr>
                </a:solidFill>
              </a:ln>
              <a:effectLst>
                <a:innerShdw blurRad="63500" dist="50800" dir="27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D-4E1B-45E7-ABDC-8117FC6A0FD5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tx2">
                    <a:lumMod val="50000"/>
                  </a:schemeClr>
                </a:solidFill>
              </a:ln>
              <a:effectLst>
                <a:innerShdw blurRad="63500" dist="50800" dir="27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F-4E1B-45E7-ABDC-8117FC6A0FD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'Team '!$J$3:$J$9</c:f>
              <c:strCache>
                <c:ptCount val="6"/>
                <c:pt idx="0">
                  <c:v>Stars</c:v>
                </c:pt>
                <c:pt idx="1">
                  <c:v>Hurricanes</c:v>
                </c:pt>
                <c:pt idx="2">
                  <c:v>Scorchers</c:v>
                </c:pt>
                <c:pt idx="3">
                  <c:v>Renegades</c:v>
                </c:pt>
                <c:pt idx="4">
                  <c:v>Thunder</c:v>
                </c:pt>
                <c:pt idx="5">
                  <c:v>Strikers</c:v>
                </c:pt>
              </c:strCache>
            </c:strRef>
          </c:cat>
          <c:val>
            <c:numRef>
              <c:f>'Team '!$K$3:$K$9</c:f>
              <c:numCache>
                <c:formatCode>General</c:formatCode>
                <c:ptCount val="6"/>
                <c:pt idx="0">
                  <c:v>24</c:v>
                </c:pt>
                <c:pt idx="1">
                  <c:v>16</c:v>
                </c:pt>
                <c:pt idx="2">
                  <c:v>14</c:v>
                </c:pt>
                <c:pt idx="3">
                  <c:v>9</c:v>
                </c:pt>
                <c:pt idx="4">
                  <c:v>8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E1B-45E7-ABDC-8117FC6A0F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25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Highest Runs scored by player against opposition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chemeClr val="accent4">
                  <a:lumMod val="7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3D4-4D79-B75C-0347B9D787D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83D4-4D79-B75C-0347B9D787D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83D4-4D79-B75C-0347B9D787D5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83D4-4D79-B75C-0347B9D787D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cat>
            <c:strLit>
              <c:ptCount val="5"/>
              <c:pt idx="0">
                <c:v>Sixers</c:v>
              </c:pt>
              <c:pt idx="1">
                <c:v>Thunder</c:v>
              </c:pt>
              <c:pt idx="2">
                <c:v>Hurricanes</c:v>
              </c:pt>
              <c:pt idx="3">
                <c:v>Strikers</c:v>
              </c:pt>
              <c:pt idx="4">
                <c:v>Heat</c:v>
              </c:pt>
            </c:strLit>
          </c:cat>
          <c:val>
            <c:numLit>
              <c:formatCode>General</c:formatCode>
              <c:ptCount val="5"/>
              <c:pt idx="0">
                <c:v>147</c:v>
              </c:pt>
              <c:pt idx="1">
                <c:v>130</c:v>
              </c:pt>
              <c:pt idx="2">
                <c:v>109</c:v>
              </c:pt>
              <c:pt idx="3">
                <c:v>103</c:v>
              </c:pt>
              <c:pt idx="4">
                <c:v>94</c:v>
              </c:pt>
            </c:numLit>
          </c:val>
          <c:extLst>
            <c:ext xmlns:c16="http://schemas.microsoft.com/office/drawing/2014/chart" uri="{C3380CC4-5D6E-409C-BE32-E72D297353CC}">
              <c16:uniqueId val="{00000009-83D4-4D79-B75C-0347B9D787D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31240655"/>
        <c:axId val="531245455"/>
      </c:barChart>
      <c:catAx>
        <c:axId val="5312406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Opponents</a:t>
                </a:r>
                <a:r>
                  <a:rPr lang="en-US" sz="1200" baseline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IN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245455"/>
        <c:crosses val="autoZero"/>
        <c:auto val="1"/>
        <c:lblAlgn val="ctr"/>
        <c:lblOffset val="100"/>
        <c:noMultiLvlLbl val="0"/>
      </c:catAx>
      <c:valAx>
        <c:axId val="53124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Highest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240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4">
        <a:lumMod val="40000"/>
        <a:lumOff val="6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/>
              <a:t>Maximum Centuries(100s)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9525" cap="flat" cmpd="sng" algn="ctr">
            <a:solidFill>
              <a:schemeClr val="accent1"/>
            </a:solidFill>
            <a:miter lim="800000"/>
          </a:ln>
          <a:effectLst>
            <a:glow rad="63500">
              <a:schemeClr val="accent1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C6C-4F1F-8C5C-D7D5AC8635E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>
                  <a:lumMod val="7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C6C-4F1F-8C5C-D7D5AC8635E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C6C-4F1F-8C5C-D7D5AC8635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4"/>
              <c:pt idx="0">
                <c:v>MS Wade</c:v>
              </c:pt>
              <c:pt idx="1">
                <c:v>MP Stoinis</c:v>
              </c:pt>
              <c:pt idx="2">
                <c:v>AJ Finch</c:v>
              </c:pt>
              <c:pt idx="3">
                <c:v>DJM Short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7-6C6C-4F1F-8C5C-D7D5AC8635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52033584"/>
        <c:axId val="1152035024"/>
      </c:barChart>
      <c:catAx>
        <c:axId val="11520335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/>
                  <a:t>Players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2035024"/>
        <c:crosses val="autoZero"/>
        <c:auto val="1"/>
        <c:lblAlgn val="ctr"/>
        <c:lblOffset val="100"/>
        <c:noMultiLvlLbl val="0"/>
      </c:catAx>
      <c:valAx>
        <c:axId val="1152035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800"/>
                  <a:t>Centuries</a:t>
                </a:r>
              </a:p>
            </c:rich>
          </c:tx>
          <c:layout>
            <c:manualLayout>
              <c:xMode val="edge"/>
              <c:yMode val="edge"/>
              <c:x val="9.5159701561770942E-3"/>
              <c:y val="0.4225959386059928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2033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40000"/>
        <a:lumOff val="6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b="1"/>
      </a:pPr>
      <a:endParaRPr lang="en-US"/>
    </a:p>
  </c:txPr>
  <c:externalData r:id="rId4">
    <c:autoUpdate val="0"/>
  </c:externalData>
  <c:extLst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Boundary hitting contribution by players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v>Sum of Total Runs</c:v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A32-4F9F-944D-9512C96B140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A32-4F9F-944D-9512C96B140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DA32-4F9F-944D-9512C96B140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DA32-4F9F-944D-9512C96B140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5"/>
              <c:pt idx="0">
                <c:v>T Banton</c:v>
              </c:pt>
              <c:pt idx="1">
                <c:v>M Bryant</c:v>
              </c:pt>
              <c:pt idx="2">
                <c:v>CA Lynn</c:v>
              </c:pt>
              <c:pt idx="3">
                <c:v>Rashid Khan</c:v>
              </c:pt>
              <c:pt idx="4">
                <c:v>PD Salt</c:v>
              </c:pt>
            </c:strLit>
          </c:cat>
          <c:val>
            <c:numLit>
              <c:formatCode>General</c:formatCode>
              <c:ptCount val="5"/>
              <c:pt idx="0">
                <c:v>223</c:v>
              </c:pt>
              <c:pt idx="1">
                <c:v>145</c:v>
              </c:pt>
              <c:pt idx="2">
                <c:v>387</c:v>
              </c:pt>
              <c:pt idx="3">
                <c:v>124</c:v>
              </c:pt>
              <c:pt idx="4">
                <c:v>361</c:v>
              </c:pt>
            </c:numLit>
          </c:val>
          <c:extLst>
            <c:ext xmlns:c16="http://schemas.microsoft.com/office/drawing/2014/chart" uri="{C3380CC4-5D6E-409C-BE32-E72D297353CC}">
              <c16:uniqueId val="{00000008-DA32-4F9F-944D-9512C96B140F}"/>
            </c:ext>
          </c:extLst>
        </c:ser>
        <c:ser>
          <c:idx val="1"/>
          <c:order val="1"/>
          <c:tx>
            <c:v>Average of Boundries%</c:v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5"/>
              <c:pt idx="0">
                <c:v>T Banton</c:v>
              </c:pt>
              <c:pt idx="1">
                <c:v>M Bryant</c:v>
              </c:pt>
              <c:pt idx="2">
                <c:v>CA Lynn</c:v>
              </c:pt>
              <c:pt idx="3">
                <c:v>Rashid Khan</c:v>
              </c:pt>
              <c:pt idx="4">
                <c:v>PD Salt</c:v>
              </c:pt>
            </c:strLit>
          </c:cat>
          <c:val>
            <c:numLit>
              <c:formatCode>General</c:formatCode>
              <c:ptCount val="5"/>
              <c:pt idx="0">
                <c:v>75.33</c:v>
              </c:pt>
              <c:pt idx="1">
                <c:v>73.099999999999994</c:v>
              </c:pt>
              <c:pt idx="2">
                <c:v>72.86</c:v>
              </c:pt>
              <c:pt idx="3">
                <c:v>70.959999999999994</c:v>
              </c:pt>
              <c:pt idx="4">
                <c:v>69.8</c:v>
              </c:pt>
            </c:numLit>
          </c:val>
          <c:extLst>
            <c:ext xmlns:c16="http://schemas.microsoft.com/office/drawing/2014/chart" uri="{C3380CC4-5D6E-409C-BE32-E72D297353CC}">
              <c16:uniqueId val="{00000009-DA32-4F9F-944D-9512C96B14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68650943"/>
        <c:axId val="1668635103"/>
      </c:barChart>
      <c:catAx>
        <c:axId val="16686509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Players</a:t>
                </a:r>
                <a:r>
                  <a:rPr lang="en-IN" sz="1600" b="1" dirty="0"/>
                  <a:t>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635103"/>
        <c:crosses val="autoZero"/>
        <c:auto val="1"/>
        <c:lblAlgn val="ctr"/>
        <c:lblOffset val="100"/>
        <c:noMultiLvlLbl val="0"/>
      </c:catAx>
      <c:valAx>
        <c:axId val="1668635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Total runs and boundary</a:t>
                </a:r>
                <a:r>
                  <a:rPr lang="en-IN" sz="1800" b="1" baseline="0" dirty="0">
                    <a:latin typeface="Arial" panose="020B0604020202020204" pitchFamily="34" charset="0"/>
                    <a:cs typeface="Arial" panose="020B0604020202020204" pitchFamily="34" charset="0"/>
                  </a:rPr>
                  <a:t> Percentage</a:t>
                </a:r>
                <a:endParaRPr lang="en-IN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650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6">
            <a:lumMod val="0"/>
            <a:lumOff val="100000"/>
          </a:schemeClr>
        </a:gs>
        <a:gs pos="35000">
          <a:schemeClr val="accent6">
            <a:lumMod val="0"/>
            <a:lumOff val="100000"/>
          </a:schemeClr>
        </a:gs>
        <a:gs pos="100000">
          <a:schemeClr val="accent6">
            <a:lumMod val="100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2400" b="1" dirty="0"/>
              <a:t>Highest Partnership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7339337599522467E-2"/>
          <c:y val="0.13644517731150271"/>
          <c:w val="0.91039756318085641"/>
          <c:h val="0.57311943355870165"/>
        </c:manualLayout>
      </c:layout>
      <c:barChart>
        <c:barDir val="col"/>
        <c:grouping val="stacked"/>
        <c:varyColors val="0"/>
        <c:ser>
          <c:idx val="0"/>
          <c:order val="0"/>
          <c:tx>
            <c:v>Total</c:v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DE9-4FED-BB56-5F63A14F0C5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8DE9-4FED-BB56-5F63A14F0C5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8DE9-4FED-BB56-5F63A14F0C5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8DE9-4FED-BB56-5F63A14F0C5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8DE9-4FED-BB56-5F63A14F0C5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5"/>
              <c:pt idx="0">
                <c:v>MP Stoinis, HWR Cartwright</c:v>
              </c:pt>
              <c:pt idx="1">
                <c:v>MS Wade, DJM Short</c:v>
              </c:pt>
              <c:pt idx="2">
                <c:v>JP Inglis, LS Livingstone</c:v>
              </c:pt>
              <c:pt idx="3">
                <c:v>PD Salt, J Weatherald</c:v>
              </c:pt>
              <c:pt idx="4">
                <c:v>UT Khawaja, AD Hales</c:v>
              </c:pt>
            </c:strLit>
          </c:cat>
          <c:val>
            <c:numLit>
              <c:formatCode>General</c:formatCode>
              <c:ptCount val="5"/>
              <c:pt idx="0">
                <c:v>207</c:v>
              </c:pt>
              <c:pt idx="1">
                <c:v>203</c:v>
              </c:pt>
              <c:pt idx="2">
                <c:v>136</c:v>
              </c:pt>
              <c:pt idx="3">
                <c:v>104</c:v>
              </c:pt>
              <c:pt idx="4">
                <c:v>103</c:v>
              </c:pt>
            </c:numLit>
          </c:val>
          <c:extLst>
            <c:ext xmlns:c16="http://schemas.microsoft.com/office/drawing/2014/chart" uri="{C3380CC4-5D6E-409C-BE32-E72D297353CC}">
              <c16:uniqueId val="{00000009-8DE9-4FED-BB56-5F63A14F0C5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18067840"/>
        <c:axId val="1718050560"/>
      </c:barChart>
      <c:catAx>
        <c:axId val="17180678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Players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8050560"/>
        <c:crosses val="autoZero"/>
        <c:auto val="1"/>
        <c:lblAlgn val="ctr"/>
        <c:lblOffset val="100"/>
        <c:noMultiLvlLbl val="0"/>
      </c:catAx>
      <c:valAx>
        <c:axId val="1718050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Top Runs</a:t>
                </a:r>
                <a:endParaRPr lang="en-IN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c:rich>
          </c:tx>
          <c:layout>
            <c:manualLayout>
              <c:xMode val="edge"/>
              <c:yMode val="edge"/>
              <c:x val="7.685460722092011E-3"/>
              <c:y val="0.3011912568496109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8067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3">
        <a:lumMod val="40000"/>
        <a:lumOff val="6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/>
              <a:t>Top 5 Rankings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AC75D5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"/>
        <c:spPr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"/>
        <c:spPr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4"/>
        <c:spPr>
          <a:solidFill>
            <a:schemeClr val="bg2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ysClr val="window" lastClr="FFFFFF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0-A78D-4E78-8F7F-D2FC0DE62755}"/>
              </c:ext>
            </c:extLst>
          </c:dPt>
          <c:dPt>
            <c:idx val="1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78D-4E78-8F7F-D2FC0DE62755}"/>
              </c:ext>
            </c:extLst>
          </c:dPt>
          <c:dPt>
            <c:idx val="2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A78D-4E78-8F7F-D2FC0DE62755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78D-4E78-8F7F-D2FC0DE62755}"/>
              </c:ext>
            </c:extLst>
          </c:dPt>
          <c:dPt>
            <c:idx val="4"/>
            <c:invertIfNegative val="0"/>
            <c:bubble3D val="0"/>
            <c:spPr>
              <a:solidFill>
                <a:srgbClr val="A5A5A5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180E-49CC-9A7E-05109DBCC7E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5"/>
              <c:pt idx="0">
                <c:v>MP Stoinis</c:v>
              </c:pt>
              <c:pt idx="1">
                <c:v>AD Hales</c:v>
              </c:pt>
              <c:pt idx="2">
                <c:v>JW Wells</c:v>
              </c:pt>
              <c:pt idx="3">
                <c:v>JR Philippe</c:v>
              </c:pt>
              <c:pt idx="4">
                <c:v>SE Marsh</c:v>
              </c:pt>
            </c:strLit>
          </c:cat>
          <c:val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val>
          <c:extLst>
            <c:ext xmlns:c16="http://schemas.microsoft.com/office/drawing/2014/chart" uri="{C3380CC4-5D6E-409C-BE32-E72D297353CC}">
              <c16:uniqueId val="{00000005-A78D-4E78-8F7F-D2FC0DE6275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718084160"/>
        <c:axId val="1718088000"/>
      </c:barChart>
      <c:catAx>
        <c:axId val="17180841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Players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8088000"/>
        <c:crosses val="autoZero"/>
        <c:auto val="1"/>
        <c:lblAlgn val="ctr"/>
        <c:lblOffset val="100"/>
        <c:noMultiLvlLbl val="0"/>
      </c:catAx>
      <c:valAx>
        <c:axId val="1718088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Ranks</a:t>
                </a:r>
              </a:p>
            </c:rich>
          </c:tx>
          <c:layout>
            <c:manualLayout>
              <c:xMode val="edge"/>
              <c:yMode val="edge"/>
              <c:x val="6.1231758340166472E-3"/>
              <c:y val="0.3783283724596136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8084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3">
        <a:lumMod val="40000"/>
        <a:lumOff val="6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BOTTOM</a:t>
            </a:r>
            <a:r>
              <a:rPr lang="en-US" sz="2400" baseline="0" dirty="0"/>
              <a:t> 5 PERFORMERS</a:t>
            </a:r>
            <a:endParaRPr lang="en-US" sz="2400" dirty="0"/>
          </a:p>
        </c:rich>
      </c:tx>
      <c:layout>
        <c:manualLayout>
          <c:xMode val="edge"/>
          <c:yMode val="edge"/>
          <c:x val="0.37024672119226554"/>
          <c:y val="7.66624643047097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7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8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FFC000">
                  <a:lumMod val="60000"/>
                  <a:lumOff val="40000"/>
                </a:srgb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0-6B87-47E3-9AF9-874C8524F571}"/>
              </c:ext>
            </c:extLst>
          </c:dPt>
          <c:dPt>
            <c:idx val="2"/>
            <c:invertIfNegative val="0"/>
            <c:bubble3D val="0"/>
            <c:spPr>
              <a:solidFill>
                <a:srgbClr val="70AD47">
                  <a:lumMod val="75000"/>
                </a:srgb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B87-47E3-9AF9-874C8524F571}"/>
              </c:ext>
            </c:extLst>
          </c:dPt>
          <c:dPt>
            <c:idx val="3"/>
            <c:invertIfNegative val="0"/>
            <c:bubble3D val="0"/>
            <c:spPr>
              <a:solidFill>
                <a:sysClr val="windowText" lastClr="000000">
                  <a:lumMod val="65000"/>
                  <a:lumOff val="35000"/>
                </a:sys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6B87-47E3-9AF9-874C8524F571}"/>
              </c:ext>
            </c:extLst>
          </c:dPt>
          <c:dPt>
            <c:idx val="4"/>
            <c:invertIfNegative val="0"/>
            <c:bubble3D val="0"/>
            <c:spPr>
              <a:solidFill>
                <a:srgbClr val="ED7D31">
                  <a:lumMod val="60000"/>
                  <a:lumOff val="40000"/>
                </a:srgb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B87-47E3-9AF9-874C8524F57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cat>
            <c:strLit>
              <c:ptCount val="5"/>
              <c:pt idx="0">
                <c:v>MS Harris</c:v>
              </c:pt>
              <c:pt idx="1">
                <c:v>NJ Maddinson</c:v>
              </c:pt>
              <c:pt idx="2">
                <c:v>DT Christian</c:v>
              </c:pt>
              <c:pt idx="3">
                <c:v>CH Morris</c:v>
              </c:pt>
              <c:pt idx="4">
                <c:v>SD Heazlett</c:v>
              </c:pt>
            </c:strLit>
          </c:cat>
          <c:val>
            <c:numLit>
              <c:formatCode>General</c:formatCode>
              <c:ptCount val="5"/>
              <c:pt idx="0">
                <c:v>50</c:v>
              </c:pt>
              <c:pt idx="1">
                <c:v>49</c:v>
              </c:pt>
              <c:pt idx="2">
                <c:v>48</c:v>
              </c:pt>
              <c:pt idx="3">
                <c:v>47</c:v>
              </c:pt>
              <c:pt idx="4">
                <c:v>46</c:v>
              </c:pt>
            </c:numLit>
          </c:val>
          <c:extLst>
            <c:ext xmlns:c16="http://schemas.microsoft.com/office/drawing/2014/chart" uri="{C3380CC4-5D6E-409C-BE32-E72D297353CC}">
              <c16:uniqueId val="{00000005-6B87-47E3-9AF9-874C8524F57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833525760"/>
        <c:axId val="1833521920"/>
      </c:barChart>
      <c:catAx>
        <c:axId val="18335257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Players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521920"/>
        <c:crosses val="autoZero"/>
        <c:auto val="1"/>
        <c:lblAlgn val="ctr"/>
        <c:lblOffset val="100"/>
        <c:noMultiLvlLbl val="0"/>
      </c:catAx>
      <c:valAx>
        <c:axId val="1833521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Rankings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525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6">
        <a:lumMod val="40000"/>
        <a:lumOff val="6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4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4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6E974C-AD6C-4BB4-B8D8-6252759D0704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F1B66-F740-4D60-842C-4424F89FB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598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F1B66-F740-4D60-842C-4424F89FBC8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760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F1B66-F740-4D60-842C-4424F89FBC8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381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F1B66-F740-4D60-842C-4424F89FBC8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8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Summary:</a:t>
            </a:r>
          </a:p>
          <a:p>
            <a:r>
              <a:rPr dirty="0"/>
              <a:t>This infographic highlights the top 3 batting insights from the 2019–2020 BBL season.</a:t>
            </a:r>
          </a:p>
          <a:p>
            <a:endParaRPr dirty="0"/>
          </a:p>
          <a:p>
            <a:r>
              <a:rPr dirty="0"/>
              <a:t>1. MP Stoinis – Top Run Scorer:</a:t>
            </a:r>
          </a:p>
          <a:p>
            <a:r>
              <a:rPr dirty="0"/>
              <a:t>Stoinis led the tournament with the highest total runs. Emphasize his consistency and match-winning contributions.</a:t>
            </a:r>
          </a:p>
          <a:p>
            <a:endParaRPr dirty="0"/>
          </a:p>
          <a:p>
            <a:r>
              <a:rPr dirty="0"/>
              <a:t>2. AD Hales &amp; JW Wells – Best Batting Averages:</a:t>
            </a:r>
          </a:p>
          <a:p>
            <a:r>
              <a:rPr dirty="0"/>
              <a:t>These players maintained high batting averages, often remaining not out. This reflects their reliability and ability to anchor innings.</a:t>
            </a:r>
          </a:p>
          <a:p>
            <a:endParaRPr dirty="0"/>
          </a:p>
          <a:p>
            <a:r>
              <a:rPr dirty="0"/>
              <a:t>3. JR Philippe – Boundary Impact:</a:t>
            </a:r>
          </a:p>
          <a:p>
            <a:r>
              <a:rPr dirty="0"/>
              <a:t>Philippe stood out for his aggressive batting style, contributing significantly through boundaries (4s and 6s). His strike rate boosted team momentum.</a:t>
            </a:r>
          </a:p>
          <a:p>
            <a:endParaRPr dirty="0"/>
          </a:p>
          <a:p>
            <a:r>
              <a:rPr dirty="0"/>
              <a:t>Use this slide to summarize the key performers and their impact on the season.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3044-D669-9A7A-7729-4AB6717B7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C1CB4-BA8D-4E8C-B280-023D7187D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EAD90-1054-210B-7A58-9D426BC6A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8C4B3-57BF-3AFD-A2DA-845033938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6323D-267A-4BC6-CE83-5E9E9A86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224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9C60-434F-F623-AAD9-55D97C1D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5BB58-E8B0-394A-B22B-AB3758FB4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76A94-B7F6-1BAB-4975-2711FFB44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71ACD-20C0-8968-6AA0-FA9CAE145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7B0FC-1F0F-7E93-8B76-F8581890C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8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456BC-20F6-D4F1-B5D9-8CAD8A311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822AF-50EF-3FD2-9B9F-4BE162B3A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78087-0E1E-FA52-DD92-1E8205007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96A79-0468-B95A-BD09-EAF25FBEF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BAA99-D69C-73D3-82AE-DC17A240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69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0ACA-0F5E-18FA-CEB4-15F9A8A5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B5697-A2B4-A803-A948-348602D4B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74602-44CD-841F-4BB1-C38ABA031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D0D2F-2948-9AFB-5B55-4E61BB2C5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FB414-E501-3EFE-5168-557EEC18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F4DED-4D7D-95A6-79F6-FFFD56B58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72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B289B-C64F-073A-5161-04689CE82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870FA-EAC9-C507-4C40-E6718B526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B29BF-D743-C151-8A99-37127B4CD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0FC7C6-8A11-A364-4261-170999B22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87486A-C393-A8A1-E97C-B23D3204DC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E62932-6939-2BE5-669D-4B4C44B2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38A021-BAC1-3ACF-0A11-985808A07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F3A5D8-BCCC-6CF3-6AB5-4B9F3C291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439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FB158-9197-E4EB-0E26-4D8F94939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7B02C6-B403-C364-B007-8E4556BB2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31B8F-3AD8-A495-63CA-2B94C439D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71B-31DB-EA71-55D6-0CFBD1D2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0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0E38F6-3A95-1929-5E08-A1B6952D9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798EF3-E76E-6FC5-731D-50FB3328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DF10E-A1BE-359D-5F96-1928C5D4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17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0F9D4-16A1-D0B3-17B2-035791943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1A4EC-62FE-C0B5-9ACB-F22208420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89492-9E41-9E74-1259-E0CCBF289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8DAE1-A8B4-7C20-3B7E-3D8ACD54F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FA8DD-CFF6-CECE-D674-F685A0E5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131CC-E3F8-9424-0EFD-975EADEFC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02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9073-9A38-5531-80AA-03011EAE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BD4AE1-CE72-BC13-BB48-7A189F1D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A5867-25F2-3C3E-76FF-F81466EBD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71E9E-EB8A-C098-04C9-128A711BC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BBE9E-5398-61E2-8D36-B630607D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D6106-2C6F-4554-7106-B50172D35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5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2906A-B4BC-C888-A2CC-B3C4CD204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ED1F3-449C-3C73-EB58-2BF77631C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70218-B691-2C24-61C0-1471FB12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90045-3B82-DA4A-7A7F-2B67B005C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E0376-2E20-5D21-B66C-BFF22528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13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7494F4-0820-CADB-7B78-6BD8AAF09B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6C867-1E3B-9B11-72F5-DD18AFD4B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B69E3-28EE-6BF4-10A9-780F044A6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D11EA-BB0F-C306-8A59-2588F5889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4E3B-FB47-C3BF-8572-1BD8AC65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46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99DF69-62AD-022B-F616-25B6613A3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C5146-7276-05C5-1CAC-33EEC1435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17AA6-A34A-413B-AB76-BA58A6D7C2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31684-E53A-9DF1-B34A-16D6994FC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49369-9446-86AA-A965-214D5B5E2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8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7916-DF5B-CF69-84E6-D6AC51C27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6687" y="713231"/>
            <a:ext cx="7252436" cy="1093799"/>
          </a:xfrm>
          <a:solidFill>
            <a:schemeClr val="accent5">
              <a:lumMod val="60000"/>
              <a:lumOff val="40000"/>
            </a:schemeClr>
          </a:solidFill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solidFill>
                  <a:srgbClr val="1B2A4A"/>
                </a:solidFill>
                <a:latin typeface="+mn-lt"/>
              </a:rPr>
              <a:t>A Data-Driven Analysis of the 2019–2020 Big Bash League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649A4-95A6-2367-521E-350FBDA3F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1514" y="3200399"/>
            <a:ext cx="7107608" cy="3058887"/>
          </a:xfr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Mentor     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Priya  Shanmugam</a:t>
            </a:r>
          </a:p>
          <a:p>
            <a:pPr lvl="1"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Project Submitted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: Mahalakshmi</a:t>
            </a:r>
          </a:p>
          <a:p>
            <a:pPr lvl="1"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Course 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    Data Science and ML with GenAI Advanced Program.</a:t>
            </a:r>
          </a:p>
          <a:p>
            <a:pPr lvl="1"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Batch Code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      DA644S64              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266" name="Picture 2" descr="A cropped shot of an ethnic young man in cricket attire isolated on black">
            <a:extLst>
              <a:ext uri="{FF2B5EF4-FFF2-40B4-BE49-F238E27FC236}">
                <a16:creationId xmlns:a16="http://schemas.microsoft.com/office/drawing/2014/main" id="{C3FD971D-94D0-2724-5932-7B865C035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98" b="1"/>
          <a:stretch>
            <a:fillRect/>
          </a:stretch>
        </p:blipFill>
        <p:spPr bwMode="auto">
          <a:xfrm>
            <a:off x="20" y="0"/>
            <a:ext cx="419525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7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3247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153B1-880E-5674-70EA-15CA84990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9742"/>
            <a:ext cx="11972545" cy="903988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1B2A4A"/>
                </a:solidFill>
                <a:latin typeface="+mn-lt"/>
              </a:rPr>
              <a:t>Problem Statement</a:t>
            </a:r>
            <a:endParaRPr lang="en-IN" sz="24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DDAD0-B22E-2EFA-DCBA-A3DBCAB94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" y="1023730"/>
            <a:ext cx="11856986" cy="5714528"/>
          </a:xfrm>
        </p:spPr>
        <p:txBody>
          <a:bodyPr>
            <a:noAutofit/>
          </a:bodyPr>
          <a:lstStyle/>
          <a:p>
            <a:r>
              <a:rPr lang="en-IN" sz="1800" b="1" dirty="0">
                <a:cs typeface="Arial" panose="020B0604020202020204" pitchFamily="34" charset="0"/>
              </a:rPr>
              <a:t>To analyse batting performance in the 2019–2020 Big Bash League (BBL) season and identify patterns, trends, and key contributors that influence team success. </a:t>
            </a:r>
            <a:r>
              <a:rPr lang="en-US" sz="1800" dirty="0">
                <a:cs typeface="Arial" panose="020B0604020202020204" pitchFamily="34" charset="0"/>
              </a:rPr>
              <a:t>The study aims to evaluate </a:t>
            </a:r>
            <a:r>
              <a:rPr lang="en-US" sz="1800" b="1" dirty="0">
                <a:cs typeface="Arial" panose="020B0604020202020204" pitchFamily="34" charset="0"/>
              </a:rPr>
              <a:t>top performers, batting consistency, strike rate balance, and boundary impact</a:t>
            </a:r>
            <a:r>
              <a:rPr lang="en-US" sz="1800" dirty="0">
                <a:cs typeface="Arial" panose="020B0604020202020204" pitchFamily="34" charset="0"/>
              </a:rPr>
              <a:t>, and to understand how </a:t>
            </a:r>
            <a:r>
              <a:rPr lang="en-US" sz="1800" b="1" dirty="0">
                <a:cs typeface="Arial" panose="020B0604020202020204" pitchFamily="34" charset="0"/>
              </a:rPr>
              <a:t>individual performances contribute to overall team outcomes</a:t>
            </a:r>
            <a:r>
              <a:rPr lang="en-US" sz="1800" dirty="0">
                <a:cs typeface="Arial" panose="020B0604020202020204" pitchFamily="34" charset="0"/>
              </a:rPr>
              <a:t>. </a:t>
            </a:r>
            <a:endParaRPr lang="en-IN" sz="1800" b="1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b="1" u="sng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Specific</a:t>
            </a:r>
            <a:r>
              <a:rPr lang="en-IN" sz="2000" b="1" u="sng" dirty="0">
                <a:cs typeface="Arial" panose="020B0604020202020204" pitchFamily="34" charset="0"/>
              </a:rPr>
              <a:t> </a:t>
            </a:r>
            <a:r>
              <a:rPr lang="en-IN" sz="2000" b="1" u="sng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Objectives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Top Run Scorer.</a:t>
            </a: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Best Batting Average &amp; Not Outs</a:t>
            </a:r>
            <a:r>
              <a:rPr lang="en-IN" sz="14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Strike Rate vs. Average Balance</a:t>
            </a:r>
            <a:r>
              <a:rPr lang="en-IN" sz="1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Big Scores Consistency</a:t>
            </a:r>
            <a:r>
              <a:rPr lang="en-IN" sz="1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Team Contributions.</a:t>
            </a: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Average Strike Rate per Team</a:t>
            </a:r>
            <a:r>
              <a:rPr lang="en-IN" sz="14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Half Centuries</a:t>
            </a:r>
            <a:r>
              <a:rPr lang="en-IN" sz="1400" dirty="0"/>
              <a:t> / </a:t>
            </a:r>
            <a:r>
              <a:rPr lang="en-IN" sz="1400" b="1" dirty="0"/>
              <a:t>Centuries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400" b="1" dirty="0"/>
              <a:t>  </a:t>
            </a:r>
            <a:r>
              <a:rPr lang="en-US" sz="1400" b="1" dirty="0">
                <a:cs typeface="Arial" panose="020B0604020202020204" pitchFamily="34" charset="0"/>
              </a:rPr>
              <a:t>Team wise batting Consistency.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cs typeface="Arial" panose="020B0604020202020204" pitchFamily="34" charset="0"/>
              </a:rPr>
              <a:t>Boundary Hitters.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cs typeface="Arial" panose="020B0604020202020204" pitchFamily="34" charset="0"/>
              </a:rPr>
              <a:t>Highest individual Score.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cs typeface="Arial" panose="020B0604020202020204" pitchFamily="34" charset="0"/>
              </a:rPr>
              <a:t>Highest Partnership.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cs typeface="Arial" panose="020B0604020202020204" pitchFamily="34" charset="0"/>
              </a:rPr>
              <a:t>Top Performers.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cs typeface="Arial" panose="020B0604020202020204" pitchFamily="34" charset="0"/>
              </a:rPr>
              <a:t>Non-Performers.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400" b="1" dirty="0"/>
          </a:p>
          <a:p>
            <a:pPr marL="457200" lvl="1" indent="0">
              <a:buNone/>
            </a:pPr>
            <a:endParaRPr lang="en-IN" sz="1400" b="1" dirty="0"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IN" sz="1400" b="1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400" b="1" dirty="0">
              <a:cs typeface="Arial" panose="020B0604020202020204" pitchFamily="34" charset="0"/>
            </a:endParaRPr>
          </a:p>
        </p:txBody>
      </p:sp>
      <p:sp>
        <p:nvSpPr>
          <p:cNvPr id="4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89778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0F988-C5D4-0E6F-52C6-744B881AA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9"/>
            <a:ext cx="11972544" cy="1281749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1B2A4A"/>
                </a:solidFill>
                <a:latin typeface="+mn-lt"/>
              </a:rPr>
              <a:t>Preprocessing Techniques Used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B49E2-052B-2D70-2282-D7AD2B690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96143"/>
            <a:ext cx="10691265" cy="4165745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collection: Kaggle.com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Checked if any duplicate values were there.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Made use of Proper Functions to Capitalized first Alphabet's of each words in columns.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Made the headings in bold letters.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Combined 15 sheets into 1, added columns and rows which were required to measure players and team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Added few columns based on data and calculation done accordingly.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 Performance Points: Sum of (Total Runs + Strike Rate + Total Boundaries + Batting Average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 Ranking was done according to the performance point.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8691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823A5-9B18-6A81-6860-D3A30AC78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31" y="108857"/>
            <a:ext cx="8484086" cy="1034143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1B2A4A"/>
                </a:solidFill>
                <a:latin typeface="+mn-lt"/>
              </a:rPr>
              <a:t>Top Run </a:t>
            </a:r>
            <a:r>
              <a:rPr lang="en-US" sz="2700" b="1" dirty="0">
                <a:solidFill>
                  <a:srgbClr val="1B2A4A"/>
                </a:solidFill>
                <a:latin typeface="+mn-lt"/>
              </a:rPr>
              <a:t>Scores</a:t>
            </a:r>
            <a:r>
              <a:rPr lang="en-US" sz="2400" b="1" dirty="0">
                <a:solidFill>
                  <a:srgbClr val="1B2A4A"/>
                </a:solidFill>
                <a:latin typeface="+mn-lt"/>
              </a:rPr>
              <a:t> Of The Tournament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FFD1DE-4E95-7CE8-0633-53432C5C6FDD}"/>
              </a:ext>
            </a:extLst>
          </p:cNvPr>
          <p:cNvSpPr txBox="1"/>
          <p:nvPr/>
        </p:nvSpPr>
        <p:spPr>
          <a:xfrm>
            <a:off x="1075266" y="4681591"/>
            <a:ext cx="848408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0" dirty="0">
                <a:latin typeface="+mj-lt"/>
                <a:cs typeface="Arial" panose="020B0604020202020204" pitchFamily="34" charset="0"/>
              </a:rPr>
              <a:t>Player:</a:t>
            </a:r>
            <a:r>
              <a:rPr lang="en-IN" sz="1600" i="0" dirty="0">
                <a:latin typeface="+mj-lt"/>
                <a:cs typeface="Arial" panose="020B0604020202020204" pitchFamily="34" charset="0"/>
              </a:rPr>
              <a:t> Marcus Stoinis</a:t>
            </a:r>
          </a:p>
          <a:p>
            <a:r>
              <a:rPr lang="en-IN" sz="1600" b="1" i="0" dirty="0">
                <a:latin typeface="+mj-lt"/>
                <a:cs typeface="Arial" panose="020B0604020202020204" pitchFamily="34" charset="0"/>
              </a:rPr>
              <a:t>Team:</a:t>
            </a:r>
            <a:r>
              <a:rPr lang="en-IN" sz="1600" i="0" dirty="0">
                <a:latin typeface="+mj-lt"/>
                <a:cs typeface="Arial" panose="020B0604020202020204" pitchFamily="34" charset="0"/>
              </a:rPr>
              <a:t> Melbourne Stars</a:t>
            </a:r>
          </a:p>
          <a:p>
            <a:r>
              <a:rPr lang="en-IN" sz="1600" b="1" i="0" dirty="0">
                <a:latin typeface="+mj-lt"/>
                <a:cs typeface="Arial" panose="020B0604020202020204" pitchFamily="34" charset="0"/>
              </a:rPr>
              <a:t>Total Runs:</a:t>
            </a:r>
            <a:r>
              <a:rPr lang="en-IN" sz="1600" i="0" dirty="0">
                <a:latin typeface="+mj-lt"/>
                <a:cs typeface="Arial" panose="020B0604020202020204" pitchFamily="34" charset="0"/>
              </a:rPr>
              <a:t> </a:t>
            </a:r>
            <a:r>
              <a:rPr lang="en-IN" sz="1600" b="1" i="0" dirty="0">
                <a:latin typeface="+mj-lt"/>
                <a:cs typeface="Arial" panose="020B0604020202020204" pitchFamily="34" charset="0"/>
              </a:rPr>
              <a:t>705</a:t>
            </a:r>
            <a:br>
              <a:rPr lang="en-IN" sz="1600" b="1" i="0" dirty="0">
                <a:latin typeface="+mj-lt"/>
                <a:cs typeface="Arial" panose="020B0604020202020204" pitchFamily="34" charset="0"/>
              </a:rPr>
            </a:br>
            <a:endParaRPr lang="en-IN" sz="1600" i="0" dirty="0">
              <a:latin typeface="+mj-lt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i="0" baseline="0" dirty="0">
                <a:latin typeface="+mj-lt"/>
                <a:cs typeface="Arial" panose="020B0604020202020204" pitchFamily="34" charset="0"/>
              </a:rPr>
              <a:t> </a:t>
            </a:r>
            <a:r>
              <a:rPr lang="en-IN" sz="1600" i="0" dirty="0">
                <a:latin typeface="+mj-lt"/>
                <a:cs typeface="Arial" panose="020B0604020202020204" pitchFamily="34" charset="0"/>
              </a:rPr>
              <a:t>Marcus Stoinis dominated the 2019–20 BBL season, finishing well ahead of all other players in total runs.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i="0" dirty="0">
                <a:latin typeface="+mj-lt"/>
                <a:cs typeface="Arial" panose="020B0604020202020204" pitchFamily="34" charset="0"/>
              </a:rPr>
              <a:t>The bar chart above shows the </a:t>
            </a:r>
            <a:r>
              <a:rPr lang="en-IN" sz="1600" b="1" i="0" dirty="0">
                <a:latin typeface="+mj-lt"/>
                <a:cs typeface="Arial" panose="020B0604020202020204" pitchFamily="34" charset="0"/>
              </a:rPr>
              <a:t>Top 5 run-scorers</a:t>
            </a:r>
            <a:r>
              <a:rPr lang="en-IN" sz="1600" i="0" dirty="0">
                <a:latin typeface="+mj-lt"/>
                <a:cs typeface="Arial" panose="020B0604020202020204" pitchFamily="34" charset="0"/>
              </a:rPr>
              <a:t>, with Stoinis clearly leading the pack.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EA4CA287-AB08-D9C7-CA54-41B7F53DBD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275301"/>
              </p:ext>
            </p:extLst>
          </p:nvPr>
        </p:nvGraphicFramePr>
        <p:xfrm>
          <a:off x="327991" y="904462"/>
          <a:ext cx="11181522" cy="37771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4313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0463-DDC9-8671-F176-8CDF9D55D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575" y="1"/>
            <a:ext cx="11171184" cy="1197428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rgbClr val="1B2A4A"/>
                </a:solidFill>
                <a:latin typeface="+mn-lt"/>
              </a:rPr>
              <a:t>Top Batting Average And Their Total Not Out Innings.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C8FD0D-E71A-389F-7E2D-480DA0D085C7}"/>
              </a:ext>
            </a:extLst>
          </p:cNvPr>
          <p:cNvSpPr txBox="1"/>
          <p:nvPr/>
        </p:nvSpPr>
        <p:spPr>
          <a:xfrm>
            <a:off x="493642" y="4561114"/>
            <a:ext cx="1169835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400" b="1" dirty="0">
              <a:latin typeface="+mj-lt"/>
              <a:cs typeface="Arial" panose="020B0604020202020204" pitchFamily="34" charset="0"/>
            </a:endParaRPr>
          </a:p>
          <a:p>
            <a:r>
              <a:rPr lang="en-IN" sz="1600" b="1" dirty="0">
                <a:latin typeface="+mj-lt"/>
                <a:cs typeface="Arial" panose="020B0604020202020204" pitchFamily="34" charset="0"/>
              </a:rPr>
              <a:t>Player:</a:t>
            </a:r>
            <a:r>
              <a:rPr lang="en-IN" sz="1600" dirty="0">
                <a:latin typeface="+mj-lt"/>
                <a:cs typeface="Arial" panose="020B0604020202020204" pitchFamily="34" charset="0"/>
              </a:rPr>
              <a:t> Jake Wells (JW Wells)</a:t>
            </a:r>
          </a:p>
          <a:p>
            <a:r>
              <a:rPr lang="en-IN" sz="1600" b="1" dirty="0">
                <a:latin typeface="+mj-lt"/>
                <a:cs typeface="Arial" panose="020B0604020202020204" pitchFamily="34" charset="0"/>
              </a:rPr>
              <a:t>Team:</a:t>
            </a:r>
            <a:r>
              <a:rPr lang="en-IN" sz="1600" dirty="0">
                <a:latin typeface="+mj-lt"/>
                <a:cs typeface="Arial" panose="020B0604020202020204" pitchFamily="34" charset="0"/>
              </a:rPr>
              <a:t> Hobart Hurricanes</a:t>
            </a:r>
          </a:p>
          <a:p>
            <a:r>
              <a:rPr lang="en-IN" sz="1600" b="1" dirty="0">
                <a:latin typeface="+mj-lt"/>
                <a:cs typeface="Arial" panose="020B0604020202020204" pitchFamily="34" charset="0"/>
              </a:rPr>
              <a:t>Batting Average:</a:t>
            </a:r>
            <a:r>
              <a:rPr lang="en-IN" sz="1600" dirty="0">
                <a:latin typeface="+mj-lt"/>
                <a:cs typeface="Arial" panose="020B0604020202020204" pitchFamily="34" charset="0"/>
              </a:rPr>
              <a:t> </a:t>
            </a:r>
            <a:r>
              <a:rPr lang="en-IN" sz="1600" b="1" dirty="0">
                <a:latin typeface="+mj-lt"/>
                <a:cs typeface="Arial" panose="020B0604020202020204" pitchFamily="34" charset="0"/>
              </a:rPr>
              <a:t>68.28</a:t>
            </a:r>
            <a:endParaRPr lang="en-IN" sz="1600" dirty="0">
              <a:latin typeface="+mj-lt"/>
              <a:cs typeface="Arial" panose="020B0604020202020204" pitchFamily="34" charset="0"/>
            </a:endParaRPr>
          </a:p>
          <a:p>
            <a:r>
              <a:rPr lang="en-IN" sz="1600" b="1" dirty="0">
                <a:latin typeface="+mj-lt"/>
                <a:cs typeface="Arial" panose="020B0604020202020204" pitchFamily="34" charset="0"/>
              </a:rPr>
              <a:t>Not Outs:</a:t>
            </a:r>
            <a:r>
              <a:rPr lang="en-IN" sz="1600" dirty="0">
                <a:latin typeface="+mj-lt"/>
                <a:cs typeface="Arial" panose="020B0604020202020204" pitchFamily="34" charset="0"/>
              </a:rPr>
              <a:t> </a:t>
            </a:r>
            <a:r>
              <a:rPr lang="en-IN" sz="1600" b="1" dirty="0">
                <a:latin typeface="+mj-lt"/>
                <a:cs typeface="Arial" panose="020B0604020202020204" pitchFamily="34" charset="0"/>
              </a:rPr>
              <a:t>7 times</a:t>
            </a:r>
            <a:br>
              <a:rPr lang="en-IN" sz="1600" b="1" dirty="0">
                <a:latin typeface="+mj-lt"/>
                <a:cs typeface="Arial" panose="020B0604020202020204" pitchFamily="34" charset="0"/>
              </a:rPr>
            </a:br>
            <a:endParaRPr lang="en-IN" sz="1600" dirty="0">
              <a:latin typeface="+mj-lt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aseline="0" dirty="0">
                <a:latin typeface="+mj-lt"/>
                <a:cs typeface="Arial" panose="020B0604020202020204" pitchFamily="34" charset="0"/>
              </a:rPr>
              <a:t> </a:t>
            </a:r>
            <a:r>
              <a:rPr lang="en-IN" sz="1600" b="1" dirty="0">
                <a:latin typeface="+mj-lt"/>
                <a:cs typeface="Arial" panose="020B0604020202020204" pitchFamily="34" charset="0"/>
              </a:rPr>
              <a:t>JW Wells</a:t>
            </a:r>
            <a:r>
              <a:rPr lang="en-IN" sz="1600" dirty="0">
                <a:latin typeface="+mj-lt"/>
                <a:cs typeface="Arial" panose="020B0604020202020204" pitchFamily="34" charset="0"/>
              </a:rPr>
              <a:t> showed outstanding consistency — remaining not out in half of his innings and finishing with the best average in the league.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6594A2AF-263C-080B-5849-8D4589DD26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9130858"/>
              </p:ext>
            </p:extLst>
          </p:nvPr>
        </p:nvGraphicFramePr>
        <p:xfrm>
          <a:off x="639609" y="834888"/>
          <a:ext cx="10912782" cy="383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8326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0D64-B36A-AF24-997D-23FBB677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976" y="1"/>
            <a:ext cx="10981997" cy="1110342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1B2A4A"/>
                </a:solidFill>
                <a:latin typeface="+mn-lt"/>
              </a:rPr>
              <a:t>BALANCE BETWEEN STRIKE RATE AND BATTING AVERAGE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81989B9-E0E0-C015-5319-0C1FE1B8EB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4959150"/>
              </p:ext>
            </p:extLst>
          </p:nvPr>
        </p:nvGraphicFramePr>
        <p:xfrm>
          <a:off x="495027" y="860209"/>
          <a:ext cx="11092069" cy="3916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DD2A8CD-1522-97A1-136A-77DF8C00D9D7}"/>
              </a:ext>
            </a:extLst>
          </p:cNvPr>
          <p:cNvSpPr txBox="1"/>
          <p:nvPr/>
        </p:nvSpPr>
        <p:spPr>
          <a:xfrm>
            <a:off x="495027" y="5098328"/>
            <a:ext cx="9372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MS Wade</a:t>
            </a:r>
            <a:r>
              <a:rPr lang="en-IN" sz="1600" dirty="0">
                <a:latin typeface="+mj-lt"/>
              </a:rPr>
              <a:t> had the </a:t>
            </a:r>
            <a:r>
              <a:rPr lang="en-IN" sz="1600" b="1" dirty="0">
                <a:latin typeface="+mj-lt"/>
              </a:rPr>
              <a:t>highest strike rate (171)</a:t>
            </a:r>
            <a:r>
              <a:rPr lang="en-IN" sz="1600" dirty="0">
                <a:latin typeface="+mj-lt"/>
              </a:rPr>
              <a:t>, showing explosive hitting.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JW Wells</a:t>
            </a:r>
            <a:r>
              <a:rPr lang="en-IN" sz="1600" dirty="0">
                <a:latin typeface="+mj-lt"/>
              </a:rPr>
              <a:t> led with the </a:t>
            </a:r>
            <a:r>
              <a:rPr lang="en-IN" sz="1600" b="1" dirty="0">
                <a:latin typeface="+mj-lt"/>
              </a:rPr>
              <a:t>best batting average (68)</a:t>
            </a:r>
            <a:r>
              <a:rPr lang="en-IN" sz="1600" dirty="0">
                <a:latin typeface="+mj-lt"/>
              </a:rPr>
              <a:t>, proving consistent performance.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Mohammad Nabi</a:t>
            </a:r>
            <a:r>
              <a:rPr lang="en-IN" sz="1600" dirty="0">
                <a:latin typeface="+mj-lt"/>
              </a:rPr>
              <a:t> (160 SR, 53 Avg) showed a strong balance of both.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+mj-lt"/>
              </a:rPr>
              <a:t>Overall, players maintained a </a:t>
            </a:r>
            <a:r>
              <a:rPr lang="en-IN" sz="1600" b="1" dirty="0">
                <a:latin typeface="+mj-lt"/>
              </a:rPr>
              <a:t>good mix of power and reliability</a:t>
            </a:r>
            <a:r>
              <a:rPr lang="en-IN" sz="1600" dirty="0">
                <a:latin typeface="+mj-lt"/>
              </a:rPr>
              <a:t>, with an average SR of </a:t>
            </a:r>
            <a:r>
              <a:rPr lang="en-IN" sz="1600" b="1" dirty="0">
                <a:latin typeface="+mj-lt"/>
              </a:rPr>
              <a:t>146</a:t>
            </a:r>
            <a:r>
              <a:rPr lang="en-IN" sz="1600" dirty="0">
                <a:latin typeface="+mj-lt"/>
              </a:rPr>
              <a:t> and Avg of </a:t>
            </a:r>
            <a:r>
              <a:rPr lang="en-IN" sz="1600" b="1" dirty="0">
                <a:latin typeface="+mj-lt"/>
              </a:rPr>
              <a:t>55</a:t>
            </a:r>
            <a:r>
              <a:rPr lang="en-IN" sz="1600" dirty="0">
                <a:latin typeface="+mj-lt"/>
              </a:rPr>
              <a:t>.</a:t>
            </a:r>
          </a:p>
        </p:txBody>
      </p:sp>
      <p:sp>
        <p:nvSpPr>
          <p:cNvPr id="14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0324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20490-B775-415E-B871-14E7F7218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520" y="87087"/>
            <a:ext cx="11079747" cy="1037830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1B2A4A"/>
                </a:solidFill>
                <a:latin typeface="+mn-lt"/>
              </a:rPr>
              <a:t>CONSISTENT PERFORMERS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588962-4327-F9BB-642A-F11AF47E7906}"/>
              </a:ext>
            </a:extLst>
          </p:cNvPr>
          <p:cNvSpPr txBox="1"/>
          <p:nvPr/>
        </p:nvSpPr>
        <p:spPr>
          <a:xfrm>
            <a:off x="817826" y="5114291"/>
            <a:ext cx="99452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AD Hales</a:t>
            </a:r>
            <a:r>
              <a:rPr lang="en-IN" sz="1600" dirty="0">
                <a:latin typeface="+mj-lt"/>
              </a:rPr>
              <a:t> and </a:t>
            </a:r>
            <a:r>
              <a:rPr lang="en-IN" sz="1600" b="1" dirty="0">
                <a:latin typeface="+mj-lt"/>
              </a:rPr>
              <a:t>MP Stoinis</a:t>
            </a:r>
            <a:r>
              <a:rPr lang="en-IN" sz="1600" dirty="0">
                <a:latin typeface="+mj-lt"/>
              </a:rPr>
              <a:t> led the chart with </a:t>
            </a:r>
            <a:r>
              <a:rPr lang="en-IN" sz="1600" b="1" dirty="0">
                <a:latin typeface="+mj-lt"/>
              </a:rPr>
              <a:t>6 fifties each</a:t>
            </a:r>
            <a:r>
              <a:rPr lang="en-IN" sz="1600" dirty="0">
                <a:latin typeface="+mj-lt"/>
              </a:rPr>
              <a:t>, showing consistent top-order performances.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Stoinis</a:t>
            </a:r>
            <a:r>
              <a:rPr lang="en-IN" sz="1600" dirty="0">
                <a:latin typeface="+mj-lt"/>
              </a:rPr>
              <a:t> further impressed as the </a:t>
            </a:r>
            <a:r>
              <a:rPr lang="en-IN" sz="1600" b="1" dirty="0">
                <a:latin typeface="+mj-lt"/>
              </a:rPr>
              <a:t>only player to score a century</a:t>
            </a:r>
            <a:r>
              <a:rPr lang="en-IN" sz="1600" dirty="0">
                <a:latin typeface="+mj-lt"/>
              </a:rPr>
              <a:t>, proving his match-winning capability.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600" dirty="0">
                <a:latin typeface="+mj-lt"/>
              </a:rPr>
              <a:t>Others like </a:t>
            </a:r>
            <a:r>
              <a:rPr lang="en-IN" sz="1600" b="1" dirty="0">
                <a:latin typeface="+mj-lt"/>
              </a:rPr>
              <a:t>Philippe</a:t>
            </a:r>
            <a:r>
              <a:rPr lang="en-IN" sz="1600" dirty="0">
                <a:latin typeface="+mj-lt"/>
              </a:rPr>
              <a:t>, </a:t>
            </a:r>
            <a:r>
              <a:rPr lang="en-IN" sz="1600" b="1" dirty="0">
                <a:latin typeface="+mj-lt"/>
              </a:rPr>
              <a:t>Salt</a:t>
            </a:r>
            <a:r>
              <a:rPr lang="en-IN" sz="1600" dirty="0">
                <a:latin typeface="+mj-lt"/>
              </a:rPr>
              <a:t>, and </a:t>
            </a:r>
            <a:r>
              <a:rPr lang="en-IN" sz="1600" b="1" dirty="0">
                <a:latin typeface="+mj-lt"/>
              </a:rPr>
              <a:t>Wells</a:t>
            </a:r>
            <a:r>
              <a:rPr lang="en-IN" sz="1600" dirty="0">
                <a:latin typeface="+mj-lt"/>
              </a:rPr>
              <a:t> maintained steady form with </a:t>
            </a:r>
            <a:r>
              <a:rPr lang="en-IN" sz="1600" b="1" dirty="0">
                <a:latin typeface="+mj-lt"/>
              </a:rPr>
              <a:t>4–5 fifties</a:t>
            </a:r>
            <a:r>
              <a:rPr lang="en-IN" sz="1600" dirty="0">
                <a:latin typeface="+mj-lt"/>
              </a:rPr>
              <a:t> each.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600" dirty="0">
                <a:latin typeface="+mj-lt"/>
              </a:rPr>
              <a:t>Overall, players displayed </a:t>
            </a:r>
            <a:r>
              <a:rPr lang="en-IN" sz="1600" b="1" dirty="0">
                <a:latin typeface="+mj-lt"/>
              </a:rPr>
              <a:t>strong consistency</a:t>
            </a:r>
            <a:r>
              <a:rPr lang="en-IN" sz="1600" dirty="0">
                <a:latin typeface="+mj-lt"/>
              </a:rPr>
              <a:t>, averaging nearly </a:t>
            </a:r>
            <a:r>
              <a:rPr lang="en-IN" sz="1600" b="1" dirty="0">
                <a:latin typeface="+mj-lt"/>
              </a:rPr>
              <a:t>one fifty every two innings</a:t>
            </a:r>
            <a:r>
              <a:rPr lang="en-IN" sz="1600" dirty="0">
                <a:latin typeface="+mj-lt"/>
              </a:rPr>
              <a:t> — a sign of reliable and impactful batting.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907927A-21CC-A51F-16CB-8CD648CADD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4147417"/>
              </p:ext>
            </p:extLst>
          </p:nvPr>
        </p:nvGraphicFramePr>
        <p:xfrm>
          <a:off x="663519" y="892629"/>
          <a:ext cx="11173985" cy="42216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5429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BE52C-BB8B-3993-7331-9D923A4F1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599" y="0"/>
            <a:ext cx="10737516" cy="827314"/>
          </a:xfrm>
        </p:spPr>
        <p:txBody>
          <a:bodyPr>
            <a:normAutofit/>
          </a:bodyPr>
          <a:lstStyle/>
          <a:p>
            <a:pPr algn="ctr"/>
            <a:r>
              <a:rPr lang="en-US" sz="2700" b="1" dirty="0">
                <a:solidFill>
                  <a:srgbClr val="1B2A4A"/>
                </a:solidFill>
                <a:latin typeface="+mn-lt"/>
              </a:rPr>
              <a:t>EACH TEAM’S TOP 2 PLAYERS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6E80838-FF9C-8F56-728A-940E741FE3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3326806"/>
              </p:ext>
            </p:extLst>
          </p:nvPr>
        </p:nvGraphicFramePr>
        <p:xfrm>
          <a:off x="556591" y="827313"/>
          <a:ext cx="11243524" cy="415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89C773E-3E96-8F0C-19ED-6526CB76A87A}"/>
              </a:ext>
            </a:extLst>
          </p:cNvPr>
          <p:cNvSpPr txBox="1"/>
          <p:nvPr/>
        </p:nvSpPr>
        <p:spPr>
          <a:xfrm>
            <a:off x="876672" y="4983480"/>
            <a:ext cx="92361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600" b="1" dirty="0">
              <a:latin typeface="+mj-lt"/>
            </a:endParaRPr>
          </a:p>
          <a:p>
            <a:r>
              <a:rPr lang="en-IN" sz="1600" b="1" dirty="0">
                <a:latin typeface="+mj-lt"/>
              </a:rPr>
              <a:t>Stars </a:t>
            </a:r>
            <a:r>
              <a:rPr lang="en-IN" sz="1600" dirty="0">
                <a:latin typeface="+mj-lt"/>
              </a:rPr>
              <a:t>and </a:t>
            </a:r>
            <a:r>
              <a:rPr lang="en-IN" sz="1600" b="1" dirty="0">
                <a:latin typeface="+mj-lt"/>
              </a:rPr>
              <a:t>Hurricanes </a:t>
            </a:r>
            <a:r>
              <a:rPr lang="en-IN" sz="1600" dirty="0">
                <a:latin typeface="+mj-lt"/>
              </a:rPr>
              <a:t>lead with strong team contributions.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+mj-lt"/>
              </a:rPr>
              <a:t>Top performers like </a:t>
            </a:r>
            <a:r>
              <a:rPr lang="en-IN" sz="1600" b="1" dirty="0">
                <a:latin typeface="+mj-lt"/>
              </a:rPr>
              <a:t>MP Stoinis (705)</a:t>
            </a:r>
            <a:r>
              <a:rPr lang="en-IN" sz="1600" dirty="0">
                <a:latin typeface="+mj-lt"/>
              </a:rPr>
              <a:t> and </a:t>
            </a:r>
            <a:r>
              <a:rPr lang="en-IN" sz="1600" b="1" dirty="0">
                <a:latin typeface="+mj-lt"/>
              </a:rPr>
              <a:t>AD Hales (576)</a:t>
            </a:r>
            <a:r>
              <a:rPr lang="en-IN" sz="1600" dirty="0">
                <a:latin typeface="+mj-lt"/>
              </a:rPr>
              <a:t> drove their teams’ success.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+mj-lt"/>
              </a:rPr>
              <a:t>Teams with multiple consistent scorers generally dominated totals, highlighting the importance of depth over a single star.</a:t>
            </a:r>
          </a:p>
        </p:txBody>
      </p:sp>
      <p:sp>
        <p:nvSpPr>
          <p:cNvPr id="9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4468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A310-8A1E-7E2A-F78D-61B2CFF8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513" y="0"/>
            <a:ext cx="8464020" cy="903514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rgbClr val="1B2A4A"/>
                </a:solidFill>
                <a:latin typeface="+mn-lt"/>
              </a:rPr>
              <a:t>AVERAGE STRIKE RATE PER TEAM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3BAA891-738C-4805-3F23-4444AEDD16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5555796"/>
              </p:ext>
            </p:extLst>
          </p:nvPr>
        </p:nvGraphicFramePr>
        <p:xfrm>
          <a:off x="357809" y="748922"/>
          <a:ext cx="11280913" cy="4031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2AEA60C-FB72-E8B0-1E36-8DE76D013BA4}"/>
              </a:ext>
            </a:extLst>
          </p:cNvPr>
          <p:cNvSpPr txBox="1"/>
          <p:nvPr/>
        </p:nvSpPr>
        <p:spPr>
          <a:xfrm>
            <a:off x="890346" y="4896083"/>
            <a:ext cx="6097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Strikers (146)</a:t>
            </a:r>
            <a:r>
              <a:rPr lang="en-IN" sz="1600" dirty="0">
                <a:latin typeface="+mj-lt"/>
              </a:rPr>
              <a:t> and </a:t>
            </a:r>
            <a:r>
              <a:rPr lang="en-IN" sz="1600" b="1" dirty="0">
                <a:latin typeface="+mj-lt"/>
              </a:rPr>
              <a:t>Renegades (142)</a:t>
            </a:r>
            <a:r>
              <a:rPr lang="en-IN" sz="1600" dirty="0">
                <a:latin typeface="+mj-lt"/>
              </a:rPr>
              <a:t> lead with the fastest scoring rates.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Stars (141)</a:t>
            </a:r>
            <a:r>
              <a:rPr lang="en-IN" sz="1600" dirty="0">
                <a:latin typeface="+mj-lt"/>
              </a:rPr>
              <a:t> and </a:t>
            </a:r>
            <a:r>
              <a:rPr lang="en-IN" sz="1600" b="1" dirty="0">
                <a:latin typeface="+mj-lt"/>
              </a:rPr>
              <a:t>Scorchers (137)</a:t>
            </a:r>
            <a:r>
              <a:rPr lang="en-IN" sz="1600" dirty="0">
                <a:latin typeface="+mj-lt"/>
              </a:rPr>
              <a:t> maintain a strong, steady pace.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Hurricanes (136)</a:t>
            </a:r>
            <a:r>
              <a:rPr lang="en-IN" sz="1600" dirty="0">
                <a:latin typeface="+mj-lt"/>
              </a:rPr>
              <a:t> show consistent scoring but at a slightly slower tempo.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+mj-lt"/>
              </a:rPr>
              <a:t>Overall, teams balance </a:t>
            </a:r>
            <a:r>
              <a:rPr lang="en-IN" sz="1600" b="1" dirty="0">
                <a:latin typeface="+mj-lt"/>
              </a:rPr>
              <a:t>speed and stability</a:t>
            </a:r>
            <a:r>
              <a:rPr lang="en-IN" sz="1600" dirty="0">
                <a:latin typeface="+mj-lt"/>
              </a:rPr>
              <a:t> to optimize their totals.</a:t>
            </a:r>
          </a:p>
        </p:txBody>
      </p:sp>
      <p:sp>
        <p:nvSpPr>
          <p:cNvPr id="13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2511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5653A-006A-65B0-7086-0CCDCE875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90" y="0"/>
            <a:ext cx="8961744" cy="849086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1B2A4A"/>
                </a:solidFill>
                <a:latin typeface="+mn-lt"/>
              </a:rPr>
              <a:t>Highest NUMBER OF 50’S BY TEAM?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F5EBDD8-21AD-4D6B-B303-2777026D58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6218130"/>
              </p:ext>
            </p:extLst>
          </p:nvPr>
        </p:nvGraphicFramePr>
        <p:xfrm>
          <a:off x="1" y="849087"/>
          <a:ext cx="11155604" cy="3803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8C93C2F-1809-BA8B-F87A-78830863B98D}"/>
              </a:ext>
            </a:extLst>
          </p:cNvPr>
          <p:cNvSpPr txBox="1"/>
          <p:nvPr/>
        </p:nvSpPr>
        <p:spPr>
          <a:xfrm>
            <a:off x="859590" y="4980557"/>
            <a:ext cx="830134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Stars lead with the most half-centuries 30% the total, followed by Hurricanes 20 % and Scorchers 18%.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+mj-lt"/>
              </a:rPr>
              <a:t>Teams like Renegades, Thunder, and Strikers contributed fewer 50s, highlighting reliance on key players.</a:t>
            </a:r>
          </a:p>
        </p:txBody>
      </p:sp>
      <p:sp>
        <p:nvSpPr>
          <p:cNvPr id="14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3852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0046-3D74-D008-8C61-CB339A2DE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900" y="0"/>
            <a:ext cx="11142518" cy="1262743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1B2A4A"/>
                </a:solidFill>
                <a:latin typeface="+mn-lt"/>
              </a:rPr>
              <a:t>INDIVIDUAL HIGHEST SCORE AND THEIR OPPONENTS 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87CBF99-6737-41A4-8631-D239249EA6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5915495"/>
              </p:ext>
            </p:extLst>
          </p:nvPr>
        </p:nvGraphicFramePr>
        <p:xfrm>
          <a:off x="477078" y="1415143"/>
          <a:ext cx="10867801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9F031E0-D877-04A4-32A3-B16FDABAFE99}"/>
              </a:ext>
            </a:extLst>
          </p:cNvPr>
          <p:cNvSpPr txBox="1"/>
          <p:nvPr/>
        </p:nvSpPr>
        <p:spPr>
          <a:xfrm>
            <a:off x="1077686" y="5072743"/>
            <a:ext cx="60415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The highest individual score of 147 was scored against sixers.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+mj-lt"/>
              </a:rPr>
              <a:t>Strikers (103) and Heat (94) restricted opponents well, indicating strong bowling and fielding control.</a:t>
            </a:r>
            <a:br>
              <a:rPr lang="en-IN" sz="1600" b="1" dirty="0">
                <a:latin typeface="+mj-lt"/>
              </a:rPr>
            </a:br>
            <a:endParaRPr lang="en-IN" sz="1600" b="1" dirty="0">
              <a:latin typeface="+mj-lt"/>
            </a:endParaRPr>
          </a:p>
        </p:txBody>
      </p:sp>
      <p:sp>
        <p:nvSpPr>
          <p:cNvPr id="14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3816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C5FE0-E127-807D-9A6E-644B1848D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38" y="0"/>
            <a:ext cx="10909762" cy="1023257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1B2A4A"/>
                </a:solidFill>
                <a:latin typeface="+mn-lt"/>
              </a:rPr>
              <a:t>TOTAL 100’S SCORED IN THE TOURNAMENT</a:t>
            </a:r>
            <a:endParaRPr lang="en-US" sz="2400" b="1" dirty="0">
              <a:solidFill>
                <a:srgbClr val="00B050"/>
              </a:solidFill>
              <a:latin typeface="+mn-lt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7DF02BC-3BA2-40E1-88C5-9BAE825D4E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1247542"/>
              </p:ext>
            </p:extLst>
          </p:nvPr>
        </p:nvGraphicFramePr>
        <p:xfrm>
          <a:off x="839148" y="1023257"/>
          <a:ext cx="10833652" cy="3753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582BC0F-BA23-4FDE-C175-0D3EB7C13D75}"/>
              </a:ext>
            </a:extLst>
          </p:cNvPr>
          <p:cNvSpPr txBox="1"/>
          <p:nvPr/>
        </p:nvSpPr>
        <p:spPr>
          <a:xfrm>
            <a:off x="763038" y="5453742"/>
            <a:ext cx="92754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Only </a:t>
            </a:r>
            <a:r>
              <a:rPr lang="en-IN" sz="2000" b="1" dirty="0">
                <a:latin typeface="+mj-lt"/>
              </a:rPr>
              <a:t>four players </a:t>
            </a:r>
            <a:r>
              <a:rPr lang="en-IN" sz="2000" dirty="0">
                <a:latin typeface="+mj-lt"/>
              </a:rPr>
              <a:t>scored centuries,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+mj-lt"/>
              </a:rPr>
              <a:t>These innings by </a:t>
            </a:r>
            <a:r>
              <a:rPr lang="en-IN" sz="2000" b="1" dirty="0">
                <a:latin typeface="+mj-lt"/>
              </a:rPr>
              <a:t>Wade, Stoinis, Finch, and Short </a:t>
            </a:r>
            <a:r>
              <a:rPr lang="en-IN" sz="2000" dirty="0">
                <a:latin typeface="+mj-lt"/>
              </a:rPr>
              <a:t>underline their ability to dominate and anchor matches for their teams.</a:t>
            </a:r>
            <a:endParaRPr lang="en-IN" sz="2000" u="sng" dirty="0">
              <a:latin typeface="+mj-lt"/>
            </a:endParaRPr>
          </a:p>
        </p:txBody>
      </p:sp>
      <p:sp>
        <p:nvSpPr>
          <p:cNvPr id="15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7175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B4A7-564C-3FA2-59A6-1DE3A14CD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897" y="0"/>
            <a:ext cx="11142518" cy="947057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rgbClr val="1B2A4A"/>
                </a:solidFill>
                <a:latin typeface="+mn-lt"/>
              </a:rPr>
              <a:t>Boundary Hitters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4CB2161B-B14C-4788-AFFE-D00DCE19A6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1873339"/>
              </p:ext>
            </p:extLst>
          </p:nvPr>
        </p:nvGraphicFramePr>
        <p:xfrm>
          <a:off x="522514" y="770046"/>
          <a:ext cx="10897589" cy="42236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957803A-CD17-FCC6-393F-B24FBEA673D7}"/>
              </a:ext>
            </a:extLst>
          </p:cNvPr>
          <p:cNvSpPr txBox="1"/>
          <p:nvPr/>
        </p:nvSpPr>
        <p:spPr>
          <a:xfrm>
            <a:off x="771897" y="5129089"/>
            <a:ext cx="101791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600" dirty="0">
                <a:latin typeface="+mj-lt"/>
              </a:rPr>
              <a:t>Players like </a:t>
            </a:r>
            <a:r>
              <a:rPr lang="en-IN" sz="1600" b="1" dirty="0">
                <a:latin typeface="+mj-lt"/>
              </a:rPr>
              <a:t>Banton, Bryant, and Lynn </a:t>
            </a:r>
            <a:r>
              <a:rPr lang="en-IN" sz="1600" dirty="0">
                <a:latin typeface="+mj-lt"/>
              </a:rPr>
              <a:t>are pure </a:t>
            </a:r>
            <a:r>
              <a:rPr lang="en-IN" sz="1600" b="1" dirty="0">
                <a:latin typeface="+mj-lt"/>
              </a:rPr>
              <a:t>power hitters </a:t>
            </a:r>
            <a:r>
              <a:rPr lang="en-IN" sz="1600" dirty="0">
                <a:latin typeface="+mj-lt"/>
              </a:rPr>
              <a:t>-   more than 70% of their runs come from boundaries, indicating high strike rates but limited running between wickets.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600" baseline="0" dirty="0">
                <a:latin typeface="+mj-lt"/>
              </a:rPr>
              <a:t>Players Like </a:t>
            </a:r>
            <a:r>
              <a:rPr lang="en-IN" sz="1600" b="1" baseline="0" dirty="0">
                <a:latin typeface="+mj-lt"/>
              </a:rPr>
              <a:t>PD Salt </a:t>
            </a:r>
            <a:r>
              <a:rPr lang="en-IN" sz="1600" b="1" dirty="0">
                <a:latin typeface="+mj-lt"/>
              </a:rPr>
              <a:t>maintain a strong boundary</a:t>
            </a:r>
            <a:r>
              <a:rPr lang="en-IN" sz="1600" dirty="0">
                <a:latin typeface="+mj-lt"/>
              </a:rPr>
              <a:t> contribution while still building innings - valuable for stability and consistent scoring.</a:t>
            </a:r>
          </a:p>
        </p:txBody>
      </p:sp>
      <p:sp>
        <p:nvSpPr>
          <p:cNvPr id="16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1345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FC968-7BFD-E528-E7E2-5B4E5F31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21" y="0"/>
            <a:ext cx="6559335" cy="1186543"/>
          </a:xfrm>
        </p:spPr>
        <p:txBody>
          <a:bodyPr>
            <a:noAutofit/>
          </a:bodyPr>
          <a:lstStyle/>
          <a:p>
            <a:pPr algn="r"/>
            <a:r>
              <a:rPr lang="en-US" sz="2400" b="1" dirty="0">
                <a:solidFill>
                  <a:srgbClr val="1B2A4A"/>
                </a:solidFill>
                <a:latin typeface="+mn-lt"/>
              </a:rPr>
              <a:t>BEST PARTNERS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E615D5AB-6D81-4C05-97DF-B4F32D99A7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0838958"/>
              </p:ext>
            </p:extLst>
          </p:nvPr>
        </p:nvGraphicFramePr>
        <p:xfrm>
          <a:off x="407503" y="834887"/>
          <a:ext cx="10984397" cy="42033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9AB52FD-B44B-D73A-BD72-1D7DF8BE6201}"/>
              </a:ext>
            </a:extLst>
          </p:cNvPr>
          <p:cNvSpPr txBox="1"/>
          <p:nvPr/>
        </p:nvSpPr>
        <p:spPr>
          <a:xfrm>
            <a:off x="684779" y="5038241"/>
            <a:ext cx="105166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The strongest partnerships came from </a:t>
            </a: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MP Stoinis–HWR Cartwright (207) and MS Wade–DJM Short (203), </a:t>
            </a: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both surpassing the 200-run mark.</a:t>
            </a:r>
          </a:p>
        </p:txBody>
      </p:sp>
      <p:sp>
        <p:nvSpPr>
          <p:cNvPr id="16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483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F468B-6BEB-B676-2EB5-E64F3F57D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304" y="0"/>
            <a:ext cx="10065525" cy="94112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1B2A4A"/>
                </a:solidFill>
                <a:latin typeface="+mn-lt"/>
              </a:rPr>
              <a:t>TOP PERFORMERS OF TOURNMENT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665D0C2-FC8F-4BC4-A48D-5743171F24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3720840"/>
              </p:ext>
            </p:extLst>
          </p:nvPr>
        </p:nvGraphicFramePr>
        <p:xfrm>
          <a:off x="646043" y="718457"/>
          <a:ext cx="10685986" cy="4093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B365024-7E0C-1459-BD18-2D56FFEDCD71}"/>
              </a:ext>
            </a:extLst>
          </p:cNvPr>
          <p:cNvSpPr txBox="1"/>
          <p:nvPr/>
        </p:nvSpPr>
        <p:spPr>
          <a:xfrm>
            <a:off x="809304" y="5178211"/>
            <a:ext cx="9543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MP Stoinis </a:t>
            </a: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secured the top rank, proving his all-round dominance across </a:t>
            </a: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runs, strike rate, and consistency.</a:t>
            </a:r>
            <a:endParaRPr kumimoji="0" lang="en-IN" sz="1600" b="1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AD Hales and JW Wells </a:t>
            </a:r>
            <a:r>
              <a:rPr kumimoji="0" lang="en-IN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followed closely, highlighting a competitive group of high-impact performers driving their teams’ success. </a:t>
            </a:r>
            <a:endParaRPr kumimoji="0" lang="en-IN" sz="1600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5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1845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C4552-A9E9-B3E4-9EDC-AAA24F790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36" y="1"/>
            <a:ext cx="10666019" cy="868236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1B2A4A"/>
                </a:solidFill>
                <a:latin typeface="+mn-lt"/>
              </a:rPr>
              <a:t>NON-PERFORMERS OF THE TOURNAMENT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91E355E-6CF5-4B1A-9B44-166736CA50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123098"/>
              </p:ext>
            </p:extLst>
          </p:nvPr>
        </p:nvGraphicFramePr>
        <p:xfrm>
          <a:off x="914399" y="868236"/>
          <a:ext cx="10472057" cy="4269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C473DC1-CF8D-CD8B-53CB-9EC3B3CD18AC}"/>
              </a:ext>
            </a:extLst>
          </p:cNvPr>
          <p:cNvSpPr txBox="1"/>
          <p:nvPr/>
        </p:nvSpPr>
        <p:spPr>
          <a:xfrm>
            <a:off x="914400" y="5297267"/>
            <a:ext cx="104720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MS Harris</a:t>
            </a:r>
            <a:r>
              <a:rPr kumimoji="0" lang="en-IN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is the lowest performer, indicating relatively lower overall impact compared to top performers.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Ranking from 46 to 50 suggest these players less with room for improvements </a:t>
            </a:r>
            <a:br>
              <a:rPr kumimoji="0" lang="en-IN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IN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70147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AFDB8-2EAF-4C6F-1A9B-81BBCA18F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"/>
            <a:ext cx="11972544" cy="84443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1B2A4A"/>
                </a:solidFill>
                <a:latin typeface="+mn-lt"/>
              </a:rPr>
              <a:t>      summary 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4F6B9A-61D5-6570-828A-170AB2F71DE3}"/>
              </a:ext>
            </a:extLst>
          </p:cNvPr>
          <p:cNvSpPr txBox="1"/>
          <p:nvPr/>
        </p:nvSpPr>
        <p:spPr>
          <a:xfrm>
            <a:off x="522514" y="1164770"/>
            <a:ext cx="1148442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project focused on analyzing </a:t>
            </a:r>
            <a:r>
              <a:rPr lang="en-US" b="1" dirty="0"/>
              <a:t>batting performance patterns</a:t>
            </a:r>
            <a:r>
              <a:rPr lang="en-US" dirty="0"/>
              <a:t> in the 2019–2020 Big Bash League to understand factors influencing team success.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MP Stoinis</a:t>
            </a:r>
            <a:r>
              <a:rPr lang="en-US" dirty="0"/>
              <a:t> emerged as the </a:t>
            </a:r>
            <a:r>
              <a:rPr lang="en-US" b="1" dirty="0"/>
              <a:t>top run-scorer (705 runs)</a:t>
            </a:r>
            <a:r>
              <a:rPr lang="en-US" dirty="0"/>
              <a:t>, showcasing outstanding consistency and dominance throughout the season.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JW Wells</a:t>
            </a:r>
            <a:r>
              <a:rPr lang="en-US" dirty="0"/>
              <a:t> achieved the </a:t>
            </a:r>
            <a:r>
              <a:rPr lang="en-US" b="1" dirty="0"/>
              <a:t>highest batting average (68)</a:t>
            </a:r>
            <a:r>
              <a:rPr lang="en-US" dirty="0"/>
              <a:t>, proving to be a reliable and steady performer for the Hurricanes.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Power hitters</a:t>
            </a:r>
            <a:r>
              <a:rPr lang="en-US" dirty="0"/>
              <a:t> such as </a:t>
            </a:r>
            <a:r>
              <a:rPr lang="en-US" b="1" dirty="0"/>
              <a:t>AD Hales and JR Philippe</a:t>
            </a:r>
            <a:r>
              <a:rPr lang="en-US" dirty="0"/>
              <a:t> significantly contributed to team totals through boundary-heavy innings.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Teams like </a:t>
            </a:r>
            <a:r>
              <a:rPr lang="en-US" b="1" dirty="0"/>
              <a:t>Melbourne Stars and Hobart Hurricanes</a:t>
            </a:r>
            <a:r>
              <a:rPr lang="en-US" dirty="0"/>
              <a:t> recorded the highest total runs but showed </a:t>
            </a:r>
            <a:r>
              <a:rPr lang="en-US" b="1" dirty="0"/>
              <a:t>dependence on key players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overall data revealed that </a:t>
            </a:r>
            <a:r>
              <a:rPr lang="en-US" b="1" dirty="0"/>
              <a:t>a balanced approach between strike rate and consistency</a:t>
            </a:r>
            <a:r>
              <a:rPr lang="en-US" dirty="0"/>
              <a:t> drives success in the T20 format.</a:t>
            </a:r>
          </a:p>
          <a:p>
            <a:br>
              <a:rPr lang="en-US" dirty="0"/>
            </a:br>
            <a:endParaRPr lang="en-IN" dirty="0">
              <a:latin typeface="+mj-lt"/>
            </a:endParaRPr>
          </a:p>
        </p:txBody>
      </p:sp>
      <p:sp>
        <p:nvSpPr>
          <p:cNvPr id="8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731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1D4B5-447F-CBD1-68E7-2BD37C851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"/>
            <a:ext cx="11972544" cy="102955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1B2A4A"/>
                </a:solidFill>
                <a:latin typeface="+mn-lt"/>
              </a:rPr>
              <a:t>           Conclusion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0FF8DF-40BE-5FED-812C-5C9E8C347D1F}"/>
              </a:ext>
            </a:extLst>
          </p:cNvPr>
          <p:cNvSpPr txBox="1"/>
          <p:nvPr/>
        </p:nvSpPr>
        <p:spPr>
          <a:xfrm>
            <a:off x="1007533" y="1718733"/>
            <a:ext cx="1048173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study concludes that 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 perfect balance of power-hitting and consistency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is the essential part of success in T20 cricket.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MP Stoinis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stood out as the 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most impactful player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excelling across multiple performance metrics.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Teams with 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depth in batting strength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—having more than one consistent scorer—performed better across matches.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 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high boundary percentage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was directly linked to better strike rates and quick scoring efficiency.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 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limited number of centuries (only four)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emphasizes the short-format pressure and high-intensity nature of T20 games.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These findings offer 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valuable guidance for future team strategies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focusing on player selection, batting order structure, and performance</a:t>
            </a:r>
          </a:p>
        </p:txBody>
      </p:sp>
      <p:sp>
        <p:nvSpPr>
          <p:cNvPr id="8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09503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14+ Thousand Beautiful Thank You Royalty-Free Images, Stock Photos &amp;  Pictures | Shutterstock">
            <a:extLst>
              <a:ext uri="{FF2B5EF4-FFF2-40B4-BE49-F238E27FC236}">
                <a16:creationId xmlns:a16="http://schemas.microsoft.com/office/drawing/2014/main" id="{A43F9580-317F-8D3F-73FF-462E6CA1A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5" b="9696"/>
          <a:stretch>
            <a:fillRect/>
          </a:stretch>
        </p:blipFill>
        <p:spPr bwMode="auto">
          <a:xfrm>
            <a:off x="20" y="10"/>
            <a:ext cx="12191979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SlideBorderFrame"/>
          <p:cNvSpPr/>
          <p:nvPr/>
        </p:nvSpPr>
        <p:spPr>
          <a:xfrm>
            <a:off x="109728" y="109728"/>
            <a:ext cx="11972544" cy="6638544"/>
          </a:xfrm>
          <a:prstGeom prst="roundRect">
            <a:avLst>
              <a:gd name="adj" fmla="val 1500"/>
            </a:avLst>
          </a:prstGeom>
          <a:noFill/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5122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1384</TotalTime>
  <Words>1395</Words>
  <Application>Microsoft Office PowerPoint</Application>
  <PresentationFormat>Widescreen</PresentationFormat>
  <Paragraphs>168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Wingdings</vt:lpstr>
      <vt:lpstr>Office Theme</vt:lpstr>
      <vt:lpstr>A Data-Driven Analysis of the 2019–2020 Big Bash League</vt:lpstr>
      <vt:lpstr>Problem Statement</vt:lpstr>
      <vt:lpstr>Preprocessing Techniques Used</vt:lpstr>
      <vt:lpstr>Top Run Scores Of The Tournament</vt:lpstr>
      <vt:lpstr>Top Batting Average And Their Total Not Out Innings.</vt:lpstr>
      <vt:lpstr>BALANCE BETWEEN STRIKE RATE AND BATTING AVERAGE</vt:lpstr>
      <vt:lpstr>CONSISTENT PERFORMERS</vt:lpstr>
      <vt:lpstr>EACH TEAM’S TOP 2 PLAYERS</vt:lpstr>
      <vt:lpstr>AVERAGE STRIKE RATE PER TEAM</vt:lpstr>
      <vt:lpstr>Highest NUMBER OF 50’S BY TEAM?</vt:lpstr>
      <vt:lpstr>INDIVIDUAL HIGHEST SCORE AND THEIR OPPONENTS </vt:lpstr>
      <vt:lpstr>TOTAL 100’S SCORED IN THE TOURNAMENT</vt:lpstr>
      <vt:lpstr>Boundary Hitters</vt:lpstr>
      <vt:lpstr>BEST PARTNERS</vt:lpstr>
      <vt:lpstr>TOP PERFORMERS OF TOURNMENT</vt:lpstr>
      <vt:lpstr>NON-PERFORMERS OF THE TOURNAMENT</vt:lpstr>
      <vt:lpstr>      summary  :</vt:lpstr>
      <vt:lpstr>           Conclusion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Leela J. Giddla</dc:creator>
  <cp:lastModifiedBy>Baskar Arunachala madhan</cp:lastModifiedBy>
  <cp:revision>54</cp:revision>
  <dcterms:created xsi:type="dcterms:W3CDTF">2025-10-16T06:06:11Z</dcterms:created>
  <dcterms:modified xsi:type="dcterms:W3CDTF">2026-07-02T10:28:24Z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5e2db6-eecf-4aa2-8fc3-174bf94bce19_Enabled">
    <vt:lpwstr>true</vt:lpwstr>
  </property>
  <property fmtid="{D5CDD505-2E9C-101B-9397-08002B2CF9AE}" pid="3" name="MSIP_Label_fb5e2db6-eecf-4aa2-8fc3-174bf94bce19_SetDate">
    <vt:lpwstr>2025-10-22T05:43:44Z</vt:lpwstr>
  </property>
  <property fmtid="{D5CDD505-2E9C-101B-9397-08002B2CF9AE}" pid="4" name="MSIP_Label_fb5e2db6-eecf-4aa2-8fc3-174bf94bce19_Method">
    <vt:lpwstr>Standard</vt:lpwstr>
  </property>
  <property fmtid="{D5CDD505-2E9C-101B-9397-08002B2CF9AE}" pid="5" name="MSIP_Label_fb5e2db6-eecf-4aa2-8fc3-174bf94bce19_Name">
    <vt:lpwstr>fb5e2db6-eecf-4aa2-8fc3-174bf94bce19</vt:lpwstr>
  </property>
  <property fmtid="{D5CDD505-2E9C-101B-9397-08002B2CF9AE}" pid="6" name="MSIP_Label_fb5e2db6-eecf-4aa2-8fc3-174bf94bce19_SiteId">
    <vt:lpwstr>ceb177bf-013b-49ab-8a9c-4abce32afc1e</vt:lpwstr>
  </property>
  <property fmtid="{D5CDD505-2E9C-101B-9397-08002B2CF9AE}" pid="7" name="MSIP_Label_fb5e2db6-eecf-4aa2-8fc3-174bf94bce19_ActionId">
    <vt:lpwstr>3a3abb02-15c9-4c55-a5ea-403433e3c68c</vt:lpwstr>
  </property>
  <property fmtid="{D5CDD505-2E9C-101B-9397-08002B2CF9AE}" pid="8" name="MSIP_Label_fb5e2db6-eecf-4aa2-8fc3-174bf94bce19_ContentBits">
    <vt:lpwstr>2</vt:lpwstr>
  </property>
  <property fmtid="{D5CDD505-2E9C-101B-9397-08002B2CF9AE}" pid="9" name="MSIP_Label_fb5e2db6-eecf-4aa2-8fc3-174bf94bce19_Tag">
    <vt:lpwstr>10, 3, 0, 2</vt:lpwstr>
  </property>
  <property fmtid="{D5CDD505-2E9C-101B-9397-08002B2CF9AE}" pid="10" name="ClassificationContentMarkingFooterLocations">
    <vt:lpwstr>ChronicleVTI:10</vt:lpwstr>
  </property>
  <property fmtid="{D5CDD505-2E9C-101B-9397-08002B2CF9AE}" pid="11" name="ClassificationContentMarkingFooterText">
    <vt:lpwstr>Caterpillar: Confidential Green</vt:lpwstr>
  </property>
</Properties>
</file>