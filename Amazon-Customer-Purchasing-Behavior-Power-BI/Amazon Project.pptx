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5" r:id="rId1"/>
  </p:sldMasterIdLst>
  <p:sldIdLst>
    <p:sldId id="257" r:id="rId2"/>
    <p:sldId id="258" r:id="rId3"/>
    <p:sldId id="266" r:id="rId4"/>
    <p:sldId id="265" r:id="rId5"/>
    <p:sldId id="259" r:id="rId6"/>
    <p:sldId id="261" r:id="rId7"/>
    <p:sldId id="260" r:id="rId8"/>
    <p:sldId id="270" r:id="rId9"/>
    <p:sldId id="269" r:id="rId10"/>
    <p:sldId id="271" r:id="rId11"/>
    <p:sldId id="272" r:id="rId12"/>
    <p:sldId id="274" r:id="rId13"/>
    <p:sldId id="264" r:id="rId14"/>
    <p:sldId id="273" r:id="rId15"/>
    <p:sldId id="276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57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3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17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78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56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90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6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9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78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4254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58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4845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257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47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40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7C28D-4E06-4B3A-B665-ECD7B5ED1C9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8970486-BDEB-464C-99C9-4C0BE0CB8B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52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7" r:id="rId2"/>
    <p:sldLayoutId id="2147484068" r:id="rId3"/>
    <p:sldLayoutId id="2147484069" r:id="rId4"/>
    <p:sldLayoutId id="2147484070" r:id="rId5"/>
    <p:sldLayoutId id="2147484071" r:id="rId6"/>
    <p:sldLayoutId id="2147484072" r:id="rId7"/>
    <p:sldLayoutId id="2147484073" r:id="rId8"/>
    <p:sldLayoutId id="2147484074" r:id="rId9"/>
    <p:sldLayoutId id="2147484075" r:id="rId10"/>
    <p:sldLayoutId id="2147484076" r:id="rId11"/>
    <p:sldLayoutId id="2147484077" r:id="rId12"/>
    <p:sldLayoutId id="2147484078" r:id="rId13"/>
    <p:sldLayoutId id="2147484079" r:id="rId14"/>
    <p:sldLayoutId id="2147484080" r:id="rId15"/>
    <p:sldLayoutId id="21474840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B205F5-8534-0E7A-8B57-EE872EB22B11}"/>
              </a:ext>
            </a:extLst>
          </p:cNvPr>
          <p:cNvSpPr txBox="1"/>
          <p:nvPr/>
        </p:nvSpPr>
        <p:spPr>
          <a:xfrm>
            <a:off x="393291" y="1339335"/>
            <a:ext cx="9134167" cy="158344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 defTabSz="45720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Amazon Customer Purchase Behaviour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2467E-33D1-EF79-9A40-BE89444472D9}"/>
              </a:ext>
            </a:extLst>
          </p:cNvPr>
          <p:cNvSpPr txBox="1"/>
          <p:nvPr/>
        </p:nvSpPr>
        <p:spPr>
          <a:xfrm>
            <a:off x="516193" y="3802626"/>
            <a:ext cx="5702710" cy="2970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Course                : Exploratory Data  Analysis Using </a:t>
            </a:r>
            <a:br>
              <a:rPr lang="en-US" sz="16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</a:br>
            <a:r>
              <a:rPr lang="en-US" sz="16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                             Power BI  </a:t>
            </a:r>
          </a:p>
          <a:p>
            <a:pPr lvl="0"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6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By                        : L. Mahalakshmi</a:t>
            </a:r>
          </a:p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6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Project Guide     : Priya Shanmugam                                                                                                               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Batch Code         : DA644S64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6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15202E-F83A-A347-BB94-FC4F85EAA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134" y="3056195"/>
            <a:ext cx="5574891" cy="3716594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11" name="AutoShape 4" descr="Generated image">
            <a:extLst>
              <a:ext uri="{FF2B5EF4-FFF2-40B4-BE49-F238E27FC236}">
                <a16:creationId xmlns:a16="http://schemas.microsoft.com/office/drawing/2014/main" id="{C226E8B7-10EC-E525-6612-5E7355175C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61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FDE708-B8A6-7867-9E35-FA5F22D57861}"/>
              </a:ext>
            </a:extLst>
          </p:cNvPr>
          <p:cNvSpPr txBox="1"/>
          <p:nvPr/>
        </p:nvSpPr>
        <p:spPr>
          <a:xfrm>
            <a:off x="393290" y="1197620"/>
            <a:ext cx="6489291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goal of this project is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analyze customer purchasing behavior on Amazon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focus is on understanding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revenue patterns, customer preferences, and promotion effectiveness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Special attention is given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non-Prime customers to understand their buying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insights can help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improve marketing strategies and increase sales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Crafting Problem Statements | Business ...">
            <a:extLst>
              <a:ext uri="{FF2B5EF4-FFF2-40B4-BE49-F238E27FC236}">
                <a16:creationId xmlns:a16="http://schemas.microsoft.com/office/drawing/2014/main" id="{C3F3EF72-9BCA-8B8F-CBCC-4C2F7301E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581" y="706205"/>
            <a:ext cx="5034115" cy="534623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8340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E602E7-AE42-21E1-3CC9-9FDE1C0B98A1}"/>
              </a:ext>
            </a:extLst>
          </p:cNvPr>
          <p:cNvSpPr txBox="1"/>
          <p:nvPr/>
        </p:nvSpPr>
        <p:spPr>
          <a:xfrm>
            <a:off x="850489" y="412955"/>
            <a:ext cx="9886337" cy="10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erriweather"/>
              </a:rPr>
              <a:t>Objectives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EA249-9081-1C0A-24BD-EB91341C195C}"/>
              </a:ext>
            </a:extLst>
          </p:cNvPr>
          <p:cNvSpPr txBox="1"/>
          <p:nvPr/>
        </p:nvSpPr>
        <p:spPr>
          <a:xfrm>
            <a:off x="904568" y="865239"/>
            <a:ext cx="7787148" cy="2262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22C01-93A3-AC7C-C209-3FC8A5D02B00}"/>
              </a:ext>
            </a:extLst>
          </p:cNvPr>
          <p:cNvSpPr txBox="1"/>
          <p:nvPr/>
        </p:nvSpPr>
        <p:spPr>
          <a:xfrm>
            <a:off x="698089" y="10531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50103-B2EC-24E7-2B51-FD4A3CA60ADA}"/>
              </a:ext>
            </a:extLst>
          </p:cNvPr>
          <p:cNvSpPr txBox="1"/>
          <p:nvPr/>
        </p:nvSpPr>
        <p:spPr>
          <a:xfrm>
            <a:off x="850489" y="1205519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Analyze customer purchase behavior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understand the difference between Prime and Non-Prime customers.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 high-performing categories, subcategories, and brands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generate the most revenue from delivered orders.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Evaluate the impact of promotions and seasonal trends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 customer purchases and revenue.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Identify active Non-Prime customers with high purchase activity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who can be targeted for Prime membership conversion.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Provide data-driven recommendations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encourage Non-Prime customers to upgrade to Prime and increase overall revenue.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296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05662A-4F47-4828-ED87-515452E5299D}"/>
              </a:ext>
            </a:extLst>
          </p:cNvPr>
          <p:cNvSpPr txBox="1"/>
          <p:nvPr/>
        </p:nvSpPr>
        <p:spPr>
          <a:xfrm>
            <a:off x="648929" y="1815868"/>
            <a:ext cx="4208206" cy="2295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Period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2025-2026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Categories: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product categories, 10+ subCategories,20+ brands</a:t>
            </a:r>
          </a:p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</a:pPr>
            <a:endParaRPr lang="en-US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Orders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: 5000</a:t>
            </a:r>
          </a:p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</a:pPr>
            <a:endParaRPr lang="en-US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759C5-A8BD-A8E9-1685-B81A6BFFBAD7}"/>
              </a:ext>
            </a:extLst>
          </p:cNvPr>
          <p:cNvSpPr txBox="1"/>
          <p:nvPr/>
        </p:nvSpPr>
        <p:spPr>
          <a:xfrm>
            <a:off x="2753032" y="93651"/>
            <a:ext cx="61549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u="none" strike="noStrike" cap="none" dirty="0">
                <a:solidFill>
                  <a:srgbClr val="286B97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Dataset</a:t>
            </a:r>
            <a:r>
              <a:rPr lang="en-US" sz="2400" b="1" i="0" u="none" strike="noStrike" cap="none" dirty="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200" b="1" i="0" u="none" strike="noStrike" cap="none" dirty="0">
                <a:solidFill>
                  <a:srgbClr val="286B97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954C2-CB1E-7C67-33FB-FBE967321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805998"/>
            <a:ext cx="5869857" cy="595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4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EB02E4-9DEA-C363-DD37-0A7B043213E7}"/>
              </a:ext>
            </a:extLst>
          </p:cNvPr>
          <p:cNvSpPr txBox="1"/>
          <p:nvPr/>
        </p:nvSpPr>
        <p:spPr>
          <a:xfrm>
            <a:off x="1002890" y="206478"/>
            <a:ext cx="6479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Pre-Processing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6B11FF-7C01-97DD-8EBF-E30A7650B040}"/>
              </a:ext>
            </a:extLst>
          </p:cNvPr>
          <p:cNvSpPr txBox="1"/>
          <p:nvPr/>
        </p:nvSpPr>
        <p:spPr>
          <a:xfrm>
            <a:off x="1199535" y="1268361"/>
            <a:ext cx="6705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unnecessary columns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dataset and kept only relevant fields such as Order ID, Customer ID, Category, Subcategory, Brand, Promotion Type, Order Status, and Revenue.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Filtered the dataset to include only Delivered orders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 that the analysis reflects actual completed sales and accurate revenue.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Checked and corrected data types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important columns like dates, revenue, and categorical fields to ensure consistency.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Handled missing or inconsistent values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improve data quality and reliability.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calculated measures in Power BI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such as Total Revenue, Prime Revenue, Non-Prime Revenue, Total Orders, and Revenue per Customer to support further analysis in the dashboard.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398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C1C6D1-7D29-574A-56A1-EA3425E78F08}"/>
              </a:ext>
            </a:extLst>
          </p:cNvPr>
          <p:cNvSpPr txBox="1"/>
          <p:nvPr/>
        </p:nvSpPr>
        <p:spPr>
          <a:xfrm>
            <a:off x="304800" y="644649"/>
            <a:ext cx="6041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Category-wise Preference</a:t>
            </a:r>
            <a:endParaRPr lang="en-IN" sz="2800" b="1" dirty="0">
              <a:solidFill>
                <a:srgbClr val="005088"/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C5650-EB09-8E5B-7F4D-8D4FBAADD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701" y="1506155"/>
            <a:ext cx="6992326" cy="28769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8EB5E4-D715-ADCA-F0C2-8F1436499A7C}"/>
              </a:ext>
            </a:extLst>
          </p:cNvPr>
          <p:cNvSpPr txBox="1"/>
          <p:nvPr/>
        </p:nvSpPr>
        <p:spPr>
          <a:xfrm>
            <a:off x="1111045" y="4314280"/>
            <a:ext cx="93996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Prime customers contribute the majority of purchases in all categories, around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70–76%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Home &amp; Kitchen (76%)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Beauty &amp; Personal Care (76%)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have the highest Prime purchase share.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contribute around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24–30%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with the highest share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Fashion (30%)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Offering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Prime trials or discounts in Fashion and Electronics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help convert more Non-Prime customers.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79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7FF653-68E6-AAD3-BE44-12B2EEC0298A}"/>
              </a:ext>
            </a:extLst>
          </p:cNvPr>
          <p:cNvSpPr txBox="1"/>
          <p:nvPr/>
        </p:nvSpPr>
        <p:spPr>
          <a:xfrm>
            <a:off x="471949" y="549251"/>
            <a:ext cx="66564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Contribution by Category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973073-D132-6A13-67FF-D391E87BE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1190462"/>
            <a:ext cx="6823588" cy="2392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F7FAB6-3A5C-FDBE-34CB-52F8B6D18756}"/>
              </a:ext>
            </a:extLst>
          </p:cNvPr>
          <p:cNvSpPr txBox="1"/>
          <p:nvPr/>
        </p:nvSpPr>
        <p:spPr>
          <a:xfrm>
            <a:off x="914400" y="3755923"/>
            <a:ext cx="957661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Prime customers generate the highest revenue across all categories, contributing around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34M–44M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much higher than Non-Prime customers.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Beauty &amp; Personal Care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Home &amp; Kitchen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generate the highest revenue 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44M from Prime customers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 each category.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Non-Prime revenue is highest 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Fashion (19M)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compared to other categories.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Promoting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Prime membership benefits in Fashion and Electronics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could increase overall revenue from Non-Prime customers.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98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7E8A55-6BD0-5FBC-2570-C974F430EE7C}"/>
              </a:ext>
            </a:extLst>
          </p:cNvPr>
          <p:cNvSpPr txBox="1"/>
          <p:nvPr/>
        </p:nvSpPr>
        <p:spPr>
          <a:xfrm>
            <a:off x="550606" y="312116"/>
            <a:ext cx="7639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Customer Buying Trends by Subcategory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40FEC-89CA-F5CF-5CF6-AC3935023116}"/>
              </a:ext>
            </a:extLst>
          </p:cNvPr>
          <p:cNvSpPr txBox="1"/>
          <p:nvPr/>
        </p:nvSpPr>
        <p:spPr>
          <a:xfrm>
            <a:off x="924232" y="4041058"/>
            <a:ext cx="97634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Prime customers purchase more products overall, especially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Kitchen (510)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Furniture (457)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buy the most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Kids (196)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Skin Care (186)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categories.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Sub Categories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Mobiles and Skin Care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perform well for both Prime and Non-Prime customers.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The business can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promote Prime membership to Non-Prime buyers in Kids and Skin Care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increase sales.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30295-EEAD-24E5-9DF5-718CC62C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941793"/>
            <a:ext cx="9851923" cy="299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2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A96312-6CCA-B482-B6B6-D748663AC91D}"/>
              </a:ext>
            </a:extLst>
          </p:cNvPr>
          <p:cNvSpPr txBox="1"/>
          <p:nvPr/>
        </p:nvSpPr>
        <p:spPr>
          <a:xfrm>
            <a:off x="416404" y="232041"/>
            <a:ext cx="7773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Subcategory Revenue Comparison: Prime vs Non-Prime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66E2E-0787-2595-59A7-5610F4C0F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22" y="923836"/>
            <a:ext cx="9998269" cy="3323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BD4AD-C50B-C649-D257-E5B759E0B7AF}"/>
              </a:ext>
            </a:extLst>
          </p:cNvPr>
          <p:cNvSpPr txBox="1"/>
          <p:nvPr/>
        </p:nvSpPr>
        <p:spPr>
          <a:xfrm>
            <a:off x="837466" y="4419998"/>
            <a:ext cx="96142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● Prime customers generate the highest revenue in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Home Decor (9.1M)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Kitchen (9.1M)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showing strong demand in home-related products.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spend the most on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Kids products (5.0M)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Smart Watches (3.5M)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compared to other subcategories.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● Beauty-related items like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Skin Care (7.1M Prime)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Hair Care (8.0M Prime)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show strong revenue from Prime customers.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● The company can target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Non-Prime customers in Kids and Smart Watches with Prime membership offers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increase conversions and revenue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21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512C99-AFCE-E045-81A0-9C28B84F69E6}"/>
              </a:ext>
            </a:extLst>
          </p:cNvPr>
          <p:cNvSpPr txBox="1"/>
          <p:nvPr/>
        </p:nvSpPr>
        <p:spPr>
          <a:xfrm>
            <a:off x="842208" y="158320"/>
            <a:ext cx="8793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Brand Purchases by Prime and Non-Prime Customers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19399-0DFE-5EA0-57BA-84D3F6FA8636}"/>
              </a:ext>
            </a:extLst>
          </p:cNvPr>
          <p:cNvSpPr txBox="1"/>
          <p:nvPr/>
        </p:nvSpPr>
        <p:spPr>
          <a:xfrm>
            <a:off x="953729" y="4001729"/>
            <a:ext cx="101075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Prime customers purchase more from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Nivea (1256)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Sony (1254)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showing strong demand for these brands among Prime members.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Brands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Prestige (1124)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Philips (1058)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are also highly preferred by Prime customers.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show higher interest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L'Oréal (136)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Samsung (123)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compared to other brands.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Offering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Prime deals on popular Non-Prime brands like L'Oréal and Samsung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could encourage customers to upgrade to Prime.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09575E-6308-FB56-30D5-8089FAA8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9" y="808072"/>
            <a:ext cx="9225653" cy="300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32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24F997-0327-03E0-EE80-623916E09255}"/>
              </a:ext>
            </a:extLst>
          </p:cNvPr>
          <p:cNvSpPr txBox="1"/>
          <p:nvPr/>
        </p:nvSpPr>
        <p:spPr>
          <a:xfrm>
            <a:off x="281354" y="389912"/>
            <a:ext cx="7606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 vs Non-Prime Revenue by Brand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69BEF7-8221-E713-50C9-0B29D3526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1041113"/>
            <a:ext cx="9116127" cy="3146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FD5F07-F7B0-6145-38AF-E53836BDD58F}"/>
              </a:ext>
            </a:extLst>
          </p:cNvPr>
          <p:cNvSpPr txBox="1"/>
          <p:nvPr/>
        </p:nvSpPr>
        <p:spPr>
          <a:xfrm>
            <a:off x="1012723" y="4355690"/>
            <a:ext cx="104025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Prime customers generate the highest revenue from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Philips (13.6M)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Nivea (12.4M)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showing strong loyalty to these brands.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Other brands like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Havells (10.3M)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Sony (9.4M)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also perform well among Prime customers.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generate the most revenue from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Samsung (5.7M)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OnePlus (4.9M)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Offering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Prime-exclusive deals on Samsung and OnePlus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could encourage Non-Prime customers to upgrade to Prime.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90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645DE-C0E5-EC0F-0122-3F0007173B4E}"/>
              </a:ext>
            </a:extLst>
          </p:cNvPr>
          <p:cNvSpPr txBox="1"/>
          <p:nvPr/>
        </p:nvSpPr>
        <p:spPr>
          <a:xfrm>
            <a:off x="-432619" y="411710"/>
            <a:ext cx="8455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Contribution by Category and Top Brands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4D0838-5DE4-112D-924D-C344B768C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2" y="1621495"/>
            <a:ext cx="6496171" cy="4524315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B45C8AAD-48B3-C5E6-3D83-BE080E9A30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63147" y="1336137"/>
            <a:ext cx="564911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Fashion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Mobile &amp; Electronics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generate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highest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12.6M each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Fashion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brands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Nike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Levi's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contribute the most revenue.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Mobile &amp; Electronics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brands such as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Samsung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OnePlus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drive most of the sales.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Beauty &amp; Personal Care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generates steady revenue from brands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L'Oréal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Mamaearth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Home &amp; Kitchen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also shows consistent demand with brands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Philips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Prestige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64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FF2F31-C1B3-FC27-B4C1-313E4E947552}"/>
              </a:ext>
            </a:extLst>
          </p:cNvPr>
          <p:cNvSpPr txBox="1"/>
          <p:nvPr/>
        </p:nvSpPr>
        <p:spPr>
          <a:xfrm>
            <a:off x="521110" y="383459"/>
            <a:ext cx="9802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Revenue Trend: Prime vs Non-Prime Customers</a:t>
            </a:r>
            <a:endParaRPr lang="en-IN" sz="24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7AE68-3866-4386-39A1-212ECC622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53" y="1001443"/>
            <a:ext cx="8841804" cy="31695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8C6603-B6AD-DD92-1A02-098B6A70AAC4}"/>
              </a:ext>
            </a:extLst>
          </p:cNvPr>
          <p:cNvSpPr txBox="1"/>
          <p:nvPr/>
        </p:nvSpPr>
        <p:spPr>
          <a:xfrm>
            <a:off x="776748" y="4519370"/>
            <a:ext cx="92914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Prime customers consistently generate higher revenue each month, peaking 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17.4M in Oct 2025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Non-Prime revenue remains lower, with the highest value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6.8M in Apr 2025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6.3M in Jan 2026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Revenue increases during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mid-year and festive months (Jul, Sep, Oct,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Dec,Jan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showing seasonal demand.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Running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Prime membership campaigns during high-demand months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could convert more Non-Prime customers to Prime.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87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DFABB0-CACA-0810-CA20-5A70BFCDE975}"/>
              </a:ext>
            </a:extLst>
          </p:cNvPr>
          <p:cNvSpPr txBox="1"/>
          <p:nvPr/>
        </p:nvSpPr>
        <p:spPr>
          <a:xfrm>
            <a:off x="775985" y="234189"/>
            <a:ext cx="7512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and Orders by Promotion Type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463D7-77EE-65A8-B6FC-57A87C0C3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43" y="929995"/>
            <a:ext cx="10364749" cy="3091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5D0C39-0BFD-38E1-B394-A25D7A770DDF}"/>
              </a:ext>
            </a:extLst>
          </p:cNvPr>
          <p:cNvSpPr txBox="1"/>
          <p:nvPr/>
        </p:nvSpPr>
        <p:spPr>
          <a:xfrm>
            <a:off x="775985" y="4021394"/>
            <a:ext cx="98920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Clearance promotions generate the highest revenue (61M) and orders (312)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mainly from Prime customers.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Seasonal and New User promotions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also contribute strong revenue, around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51M–52M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participate in all promotions but generate lower revenue than Prime customers.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Offering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Prime-exclusive discounts during clearance and festival promotions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help convert more Non-Prime customers to Prime.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760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33192-55DE-29D3-D353-9EFFEE73FFB1}"/>
              </a:ext>
            </a:extLst>
          </p:cNvPr>
          <p:cNvSpPr txBox="1"/>
          <p:nvPr/>
        </p:nvSpPr>
        <p:spPr>
          <a:xfrm>
            <a:off x="855406" y="108155"/>
            <a:ext cx="8249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 Trial Target Customer Count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5A05D-9F6D-50CD-0AFF-6C4F295D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99" y="1466576"/>
            <a:ext cx="4477375" cy="3924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4B7D3B-12B5-F671-325D-1803C5CBB319}"/>
              </a:ext>
            </a:extLst>
          </p:cNvPr>
          <p:cNvSpPr txBox="1"/>
          <p:nvPr/>
        </p:nvSpPr>
        <p:spPr>
          <a:xfrm>
            <a:off x="5948516" y="1466576"/>
            <a:ext cx="46113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A total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529 active Non-Prime customers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were identified as potential targets for a Prime trial.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The highest number of customers are in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Women (113)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Skin Care (108)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categories.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Categories like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Men (104), Kids (102), and Smart Watches (102)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also show strong Non-Prime customer activity.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● Offering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category-based Prime trial benefits or discounts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can encourage these active customers to upgrade to Prime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479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D7CD78-A9DE-0ADD-6B90-C32AC497424E}"/>
              </a:ext>
            </a:extLst>
          </p:cNvPr>
          <p:cNvSpPr txBox="1"/>
          <p:nvPr/>
        </p:nvSpPr>
        <p:spPr>
          <a:xfrm>
            <a:off x="422787" y="317774"/>
            <a:ext cx="1176921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Summary:</a:t>
            </a:r>
          </a:p>
          <a:p>
            <a:pPr>
              <a:buNone/>
            </a:pPr>
            <a:endParaRPr lang="en-US" sz="3600" b="1" dirty="0">
              <a:solidFill>
                <a:srgbClr val="005088"/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Prime customers contribute the majority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revenue and purchase quantity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across most categories, brands, and promotions.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Categories like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Fashion, Mobile &amp; Electronics, and Beauty &amp; Personal Care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generate strong revenue and customer engagement.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Non-Prime customers are active in subcategories such as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Women, Skin Care, Men, Kids, and Smart Watches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529 potential customers identified for Prime trial targeting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● By offering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Prime-exclusive discounts, seasonal promotions, and trial memberships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business can convert active Non-Prime customers into Prime members and increase overall revenue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9616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75387-0BF5-9A76-B396-DC715798EC81}"/>
              </a:ext>
            </a:extLst>
          </p:cNvPr>
          <p:cNvSpPr txBox="1"/>
          <p:nvPr/>
        </p:nvSpPr>
        <p:spPr>
          <a:xfrm>
            <a:off x="383457" y="1271566"/>
            <a:ext cx="12015020" cy="521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Increase Prime Conversion: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Target high-value Non-Prime customers with exclusive Prime offers, free trials, and personalized promotions.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Category Focus: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Promote high-demand categories and subcategories that attract more Non-Prime customers to increase engagement.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Brand Collaboration: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Partner with top-performing brands to provide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exclusive deals and bundles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Prime members.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Optimized Discount Strategy: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targeted discounts and promotional campaigns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encourage frequent purchases and Prime upgrades.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Customer Personalization: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purchase history and behavior data to deliver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personalized product recommendations and marketing offers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Regional &amp; Customer Segmentation: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Customize marketing strategies based on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region, customer type, and buying patterns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improve conversion rates.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Improve Customer Loyalty: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Strengthen loyalty programs and enhance customer experience to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increase retention and long-term revenue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D0BEE-5063-5CC7-CAB9-DF2345288A3E}"/>
              </a:ext>
            </a:extLst>
          </p:cNvPr>
          <p:cNvSpPr txBox="1"/>
          <p:nvPr/>
        </p:nvSpPr>
        <p:spPr>
          <a:xfrm>
            <a:off x="3315927" y="370391"/>
            <a:ext cx="7086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Strategic Recommendations:</a:t>
            </a:r>
          </a:p>
        </p:txBody>
      </p:sp>
    </p:spTree>
    <p:extLst>
      <p:ext uri="{BB962C8B-B14F-4D97-AF65-F5344CB8AC3E}">
        <p14:creationId xmlns:p14="http://schemas.microsoft.com/office/powerpoint/2010/main" val="869899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B13C65-8388-F45E-706B-DD0060D3B59D}"/>
              </a:ext>
            </a:extLst>
          </p:cNvPr>
          <p:cNvSpPr txBox="1"/>
          <p:nvPr/>
        </p:nvSpPr>
        <p:spPr>
          <a:xfrm>
            <a:off x="1504334" y="1762628"/>
            <a:ext cx="10461523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4572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 (0–30 days): 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Launch Prime trial offers and targeted promotions for high-value Non-Prime customers</a:t>
            </a:r>
          </a:p>
          <a:p>
            <a:pPr marL="342900" indent="-342900" defTabSz="4572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Short-term (1–3 months): 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category-focused marketing campaigns and promote top-performing brands</a:t>
            </a:r>
          </a:p>
          <a:p>
            <a:pPr marL="342900" indent="-342900" defTabSz="4572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Medium-term (3–6 months): 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personalized recommendations and strengthen promotional strategies</a:t>
            </a:r>
          </a:p>
          <a:p>
            <a:pPr marL="342900" indent="-342900" defTabSz="4572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Long-term (6–12 months): 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customer loyalty programs and expand Prime membership benefits</a:t>
            </a:r>
          </a:p>
          <a:p>
            <a:pPr marL="342900" indent="-342900" defTabSz="4572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Monitoring: 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monthly KPIs such as revenue, orders, and Prime conversion rate</a:t>
            </a:r>
          </a:p>
          <a:p>
            <a:pPr marL="342900" indent="-342900" defTabSz="4572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Review: 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 quarterly analysis to evaluate performance and refine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53CE9-D250-9568-C4D0-BF2641D8EDBB}"/>
              </a:ext>
            </a:extLst>
          </p:cNvPr>
          <p:cNvSpPr txBox="1"/>
          <p:nvPr/>
        </p:nvSpPr>
        <p:spPr>
          <a:xfrm>
            <a:off x="3048000" y="57618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  <a:sym typeface="Merriweather"/>
              </a:rPr>
              <a:t>Next Steps &amp; Action Plan </a:t>
            </a:r>
            <a:endParaRPr lang="en-US" sz="3600" b="1" dirty="0">
              <a:solidFill>
                <a:srgbClr val="005088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532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hoto Card Template: Thank You - Flowers - Black on White Template -  PrestoPhoto">
            <a:extLst>
              <a:ext uri="{FF2B5EF4-FFF2-40B4-BE49-F238E27FC236}">
                <a16:creationId xmlns:a16="http://schemas.microsoft.com/office/drawing/2014/main" id="{CF89DDDE-7480-8767-6DC9-378E1B613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283" y="294746"/>
            <a:ext cx="7059561" cy="626850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176515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</TotalTime>
  <Words>1471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Merriweather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A</dc:creator>
  <cp:lastModifiedBy>Baskar Arunachala madhan</cp:lastModifiedBy>
  <cp:revision>72</cp:revision>
  <dcterms:created xsi:type="dcterms:W3CDTF">2026-03-07T06:17:00Z</dcterms:created>
  <dcterms:modified xsi:type="dcterms:W3CDTF">2026-07-02T17:33:04Z</dcterms:modified>
</cp:coreProperties>
</file>